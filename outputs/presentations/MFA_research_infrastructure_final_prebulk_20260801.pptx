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8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722071-0E4E-4346-B89F-5D1CF6F9C096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758144-D535-4834-B96C-AC1D7ABFAF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22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- C:\Users\ari30\research\2026_summer_research\docs\environment\linguistics-research-environment-master-notes.md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9557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27254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C:\Users\ari30\Downloads\WorkshopLecture1-v4.pdf (pp.3, 10)</a:t>
            </a:r>
          </a:p>
          <a:p>
            <a:r>
              <a:rPr lang="en-US" altLang="ko-KR"/>
              <a:t>- C:\Users\ari30\Downloads\KCI_FI002007633.pdf (pp.3–4, 6–7)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28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52234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42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- C:\Users\ari30\research\2026_summer_research\outputs\reports\RESULT_research_6tier_candidate_60_20260801.md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533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- C:\Users\ari30\research\2026_summer_research\config\research_companion_tables_schema_v2.json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7524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318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- C:\Users\ari30\Downloads\KCI_FI002007633.pdf (pp.4–6; </a:t>
            </a:r>
            <a:r>
              <a:rPr lang="ko-KR" altLang="en-US"/>
              <a:t>자동 경계 후 수동 교정 절차의 비교 참고</a:t>
            </a:r>
            <a:r>
              <a:rPr lang="en-US" altLang="ko-KR"/>
              <a:t>)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4631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- C:\Users\ari30\research\2026_summer_research\docs\environment\linguistics-research-environment-master-notes.md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9581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- C:\Users\ari30\Downloads\WorkshopLecture1-v4.pdf (pp.10, 21; </a:t>
            </a:r>
            <a:r>
              <a:rPr lang="ko-KR" altLang="en-US"/>
              <a:t>경계 양쪽 </a:t>
            </a:r>
            <a:r>
              <a:rPr lang="en-US" altLang="ko-KR"/>
              <a:t>target </a:t>
            </a:r>
            <a:r>
              <a:rPr lang="ko-KR" altLang="en-US"/>
              <a:t>검색 사례</a:t>
            </a:r>
            <a:r>
              <a:rPr lang="en-US" altLang="ko-KR"/>
              <a:t>)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724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C:\Users\ari30\research\2026_summer_research\docs\decisions\DECISION_incremental_unattended_year_MFA_20260801.md</a:t>
            </a:r>
          </a:p>
          <a:p>
            <a:r>
              <a:rPr lang="en-US" altLang="ko-KR"/>
              <a:t>- C:\Users\ari30\research\2026_summer_research\scripts\run_mfa_year_queue_safe.ps1</a:t>
            </a:r>
          </a:p>
          <a:p>
            <a:r>
              <a:rPr lang="en-US" altLang="ko-KR"/>
              <a:t>- C:\Users\ari30\research\2026_summer_research\scripts\run_eojeol_realign.ps1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62760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C:\Users\ari30\research\2026_summer_research\outputs\reports\PREFLIGHT_mfa_year_queue_mfa_r2_full6y_20260801.json</a:t>
            </a:r>
          </a:p>
          <a:p>
            <a:r>
              <a:rPr lang="en-US" altLang="ko-KR"/>
              <a:t>- C:\Users\ari30\research\2026_summer_research\outputs\reports\PREFLIGHT_mfa_adoption_mfa_r2_full6y_20260801.json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853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C:\Users\ari30\research\2026_summer_research\scripts\prepare_full_mfa_approval_reviews.ps1</a:t>
            </a:r>
          </a:p>
          <a:p>
            <a:r>
              <a:rPr lang="en-US" altLang="ko-KR"/>
              <a:t>- C:\Users\ari30\research\2026_summer_research\scripts\start_full_mfa_after_review.ps1</a:t>
            </a:r>
          </a:p>
          <a:p>
            <a:r>
              <a:rPr lang="en-US" altLang="ko-KR"/>
              <a:t>- C:\Users\ari30\research\2026_summer_research\docs\decisions\DECISION_incremental_unattended_year_MFA_20260801.md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05466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[Sources]</a:t>
            </a:r>
          </a:p>
          <a:p>
            <a:r>
              <a:rPr lang="en-US" altLang="ko-KR"/>
              <a:t>- C:\Users\ari30\research\2026_summer_research\docs\decisions\PROPOSAL_full_production_TextGrid_CSV_contract_20260801.md</a:t>
            </a:r>
          </a:p>
          <a:p>
            <a:r>
              <a:rPr lang="en-US" altLang="ko-KR"/>
              <a:t>- C:\Users\ari30\research\2026_summer_research\docs\decisions\DECISION_incremental_unattended_year_MFA_20260801.md</a:t>
            </a:r>
          </a:p>
          <a:p>
            <a:r>
              <a:rPr lang="en-US" altLang="ko-KR"/>
              <a:t>[/Sources]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758144-D535-4834-B96C-AC1D7ABFAF6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18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396D5B-CCC0-755D-2BBC-1D639A047F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E8F0240-08B1-23F7-2853-2AC244B2C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A38C1A-D6F8-9455-6CA6-4FB33A695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AF93B4-2112-B48E-37A4-218A63CC9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39D8DF-5AAE-0E89-2EA7-2EED61F81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047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FA602E-49D1-7E8C-747B-06C04A555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D958AA-782B-2994-34EF-08D5F1A1A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A8F1BF-A486-5E96-FFE9-D5F836E89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B837EB-18A9-8217-7B93-4CD9AEE76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B79D7-B527-511D-910C-7AA18862C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5659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CB67BE-EAAD-91C9-1C7F-A36E1EBD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FE141D0-839E-62A4-D482-92A14E87C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F14D7D-0B39-811E-9114-91A31B8A5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A43D79-B2D2-3987-20E1-7CEE0B0D4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C15EF3-D75C-3980-6035-747134D85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2037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DB2D2-87B1-3FE4-B414-41076FCD3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5F1F77-5692-7FCA-A3D7-5E953BAC8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DA047E0-49A2-AD23-5B8D-FF1A1BF95F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65C5C9-A49F-8674-7662-B72D57FA8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524501-48D1-E0E8-D678-9ADE373AB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E3AEDC-32AB-D3EE-7802-C828A7046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994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703010-FE95-1E58-D603-466C50B0E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249F12-9E0D-B461-F130-C3CDA8F9D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0DF64B-AA97-3EF1-4E62-F436C2B5D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E802DD3-7806-7448-D4DA-E29F7ADB01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6619D6B-1931-EA3E-7128-5A7592811C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EABA815-AA2B-5725-15E0-F1C6222E9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41AB5F-E374-2C76-ECCE-D9766A435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761FEC8-8553-7452-7549-550D25E25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8183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FBFDF0-4E66-5360-D173-881F1CA18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CE9872C-D04D-93B4-AE1C-BA9EB4391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55A82A-E294-9402-E497-551EEA0BF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AC77A8-D2BF-01D2-6E04-E6EF73ADF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571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F280644-3890-8071-1C6E-048DE167C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D7F5E67-D1D0-5037-C49B-8C50C7B04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D16F65-0009-867C-5618-B64110E57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494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F2E18-6022-AD80-BCE3-53AC8FEA4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66D560-063A-FE6C-E440-9887732AB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9D0017B-407E-B094-2D2E-AC8AF2E543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D4DE6-CD50-FF34-D72E-5A520D532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B1D592-EE7E-7DC6-0AEB-AA239C87C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2FA210-4A46-7743-581C-C60179125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38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D4799D-3ADC-9809-AD2F-4BA40313D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A2EE86A-F541-0189-39A9-25B3F60A42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E65EEB4-0EC8-05EC-EA88-B270DBD941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899533-CD70-05CF-12EF-287C45B48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224EE9D-EB1F-6476-5EF9-A175BEC3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3524EB-A387-B120-F686-D5CAB9A4F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7440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9F7E5C-BAA2-FDD6-CC15-C99B4EA01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7BECE2-3343-B9B3-EE32-CDCEA83FD4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338D98-64F7-AAB6-BA50-23B883E3B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1F5B2A-CD48-3F19-DA63-F784D239D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61F388-93BD-D4F7-22FF-0CFB5190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617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9A92203-0342-3445-CA8A-C235E37AAF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BF03B99-1C15-2FE5-0236-81F3D390A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E2BC9F-34A3-AB93-0260-8AE0FAE58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FEC69B-F69C-9607-29EA-F9AF69018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19ACFF-12F1-0229-993B-EFF61CDCC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5418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330BF4-1D5E-14A0-A68C-6E90046C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F81DF8-344B-B908-3828-E930DE82E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F49755D-828E-6023-1E40-C93098BD7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D53126-3A36-4AFA-AA27-279399065AFC}" type="datetimeFigureOut">
              <a:rPr lang="ko-KR" altLang="en-US" smtClean="0"/>
              <a:t>2026-08-01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3CFE3E-002D-2EA7-DF9A-D2151A15E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8D1EE6-2292-B135-161F-5EDFEE238E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C0584-527A-4E61-8758-483310FDB53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056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48EDE32-35A5-54D8-56FB-0BF9EC88485C}"/>
              </a:ext>
            </a:extLst>
          </p:cNvPr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B08343-A5DF-4656-1B41-9EA32C62B3CE}"/>
              </a:ext>
            </a:extLst>
          </p:cNvPr>
          <p:cNvSpPr txBox="1"/>
          <p:nvPr/>
        </p:nvSpPr>
        <p:spPr>
          <a:xfrm>
            <a:off x="812800" y="914400"/>
            <a:ext cx="9779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500" b="1">
                <a:solidFill>
                  <a:srgbClr val="48A5A5"/>
                </a:solidFill>
                <a:latin typeface="Malgun Gothic" panose="020B0503020000020004" pitchFamily="50" charset="-127"/>
              </a:rPr>
              <a:t>2020–2025 </a:t>
            </a:r>
            <a:r>
              <a:rPr lang="ko-KR" altLang="en-US" sz="1500" b="1">
                <a:solidFill>
                  <a:srgbClr val="48A5A5"/>
                </a:solidFill>
                <a:latin typeface="Malgun Gothic" panose="020B0503020000020004" pitchFamily="50" charset="-127"/>
              </a:rPr>
              <a:t>대화 음성 연구 인프라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9A25B-8487-23A9-692E-F4E27548A618}"/>
              </a:ext>
            </a:extLst>
          </p:cNvPr>
          <p:cNvSpPr txBox="1"/>
          <p:nvPr/>
        </p:nvSpPr>
        <p:spPr>
          <a:xfrm>
            <a:off x="812800" y="1473200"/>
            <a:ext cx="9969500" cy="147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찾고</a:t>
            </a:r>
            <a:r>
              <a:rPr lang="en-US" altLang="ko-KR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정렬하고</a:t>
            </a:r>
            <a:r>
              <a:rPr lang="en-US" altLang="ko-KR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,</a:t>
            </a:r>
          </a:p>
          <a:p>
            <a:r>
              <a:rPr lang="ko-KR" altLang="en-US" sz="4300" b="1">
                <a:solidFill>
                  <a:srgbClr val="FFFFFF"/>
                </a:solidFill>
                <a:latin typeface="Malgun Gothic" panose="020B0503020000020004" pitchFamily="50" charset="-127"/>
              </a:rPr>
              <a:t>직접 판정할 수 있게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8E9ADF-ACB5-D798-7229-41304D9F92C2}"/>
              </a:ext>
            </a:extLst>
          </p:cNvPr>
          <p:cNvSpPr txBox="1"/>
          <p:nvPr/>
        </p:nvSpPr>
        <p:spPr>
          <a:xfrm>
            <a:off x="850900" y="3124200"/>
            <a:ext cx="10287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>
                <a:solidFill>
                  <a:srgbClr val="D3E1E3"/>
                </a:solidFill>
                <a:latin typeface="Malgun Gothic" panose="020B0503020000020004" pitchFamily="50" charset="-127"/>
              </a:rPr>
              <a:t>공통 </a:t>
            </a:r>
            <a:r>
              <a:rPr lang="en-US" altLang="ko-KR" sz="1700">
                <a:solidFill>
                  <a:srgbClr val="D3E1E3"/>
                </a:solidFill>
                <a:latin typeface="Malgun Gothic" panose="020B0503020000020004" pitchFamily="50" charset="-127"/>
              </a:rPr>
              <a:t>Jamo </a:t>
            </a:r>
            <a:r>
              <a:rPr lang="ko-KR" altLang="en-US" sz="1700">
                <a:solidFill>
                  <a:srgbClr val="D3E1E3"/>
                </a:solidFill>
                <a:latin typeface="Malgun Gothic" panose="020B0503020000020004" pitchFamily="50" charset="-127"/>
              </a:rPr>
              <a:t>발음사전 </a:t>
            </a:r>
            <a:r>
              <a:rPr lang="en-US" altLang="ko-KR" sz="1700">
                <a:solidFill>
                  <a:srgbClr val="D3E1E3"/>
                </a:solidFill>
                <a:latin typeface="Malgun Gothic" panose="020B0503020000020004" pitchFamily="50" charset="-127"/>
              </a:rPr>
              <a:t>· MFA · 6-tier TextGrid · </a:t>
            </a:r>
            <a:r>
              <a:rPr lang="ko-KR" altLang="en-US" sz="1700">
                <a:solidFill>
                  <a:srgbClr val="D3E1E3"/>
                </a:solidFill>
                <a:latin typeface="Malgun Gothic" panose="020B0503020000020004" pitchFamily="50" charset="-127"/>
              </a:rPr>
              <a:t>검색용 </a:t>
            </a:r>
            <a:r>
              <a:rPr lang="en-US" altLang="ko-KR" sz="1700">
                <a:solidFill>
                  <a:srgbClr val="D3E1E3"/>
                </a:solidFill>
                <a:latin typeface="Malgun Gothic" panose="020B0503020000020004" pitchFamily="50" charset="-127"/>
              </a:rPr>
              <a:t>CSV/Parquet · </a:t>
            </a:r>
            <a:r>
              <a:rPr lang="ko-KR" altLang="en-US" sz="1700">
                <a:solidFill>
                  <a:srgbClr val="D3E1E3"/>
                </a:solidFill>
                <a:latin typeface="Malgun Gothic" panose="020B0503020000020004" pitchFamily="50" charset="-127"/>
              </a:rPr>
              <a:t>연도별 복구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4FEA248-DE80-1EF8-3B78-19FBA83052E5}"/>
              </a:ext>
            </a:extLst>
          </p:cNvPr>
          <p:cNvCxnSpPr/>
          <p:nvPr/>
        </p:nvCxnSpPr>
        <p:spPr>
          <a:xfrm>
            <a:off x="2705100" y="4660900"/>
            <a:ext cx="736600" cy="0"/>
          </a:xfrm>
          <a:prstGeom prst="line">
            <a:avLst/>
          </a:prstGeom>
          <a:ln w="25400">
            <a:solidFill>
              <a:srgbClr val="48A5A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E8B561FE-59DF-E503-1E36-15134B19535C}"/>
              </a:ext>
            </a:extLst>
          </p:cNvPr>
          <p:cNvSpPr/>
          <p:nvPr/>
        </p:nvSpPr>
        <p:spPr>
          <a:xfrm>
            <a:off x="825500" y="4292600"/>
            <a:ext cx="1905000" cy="736600"/>
          </a:xfrm>
          <a:prstGeom prst="roundRect">
            <a:avLst/>
          </a:prstGeom>
          <a:solidFill>
            <a:srgbClr val="26436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6010F7-4A51-E92A-D28E-CE978A74598B}"/>
              </a:ext>
            </a:extLst>
          </p:cNvPr>
          <p:cNvSpPr txBox="1"/>
          <p:nvPr/>
        </p:nvSpPr>
        <p:spPr>
          <a:xfrm>
            <a:off x="825500" y="4457700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동결 </a:t>
            </a:r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CSV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DFC639A-E580-ED21-8717-EF4A4554FF03}"/>
              </a:ext>
            </a:extLst>
          </p:cNvPr>
          <p:cNvCxnSpPr/>
          <p:nvPr/>
        </p:nvCxnSpPr>
        <p:spPr>
          <a:xfrm>
            <a:off x="5448300" y="4660900"/>
            <a:ext cx="736600" cy="0"/>
          </a:xfrm>
          <a:prstGeom prst="line">
            <a:avLst/>
          </a:prstGeom>
          <a:ln w="25400">
            <a:solidFill>
              <a:srgbClr val="48A5A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C1D7C83-5FF5-AF7B-B990-877CFF3122B0}"/>
              </a:ext>
            </a:extLst>
          </p:cNvPr>
          <p:cNvSpPr/>
          <p:nvPr/>
        </p:nvSpPr>
        <p:spPr>
          <a:xfrm>
            <a:off x="3568700" y="4292600"/>
            <a:ext cx="1905000" cy="736600"/>
          </a:xfrm>
          <a:prstGeom prst="roundRect">
            <a:avLst/>
          </a:prstGeom>
          <a:solidFill>
            <a:srgbClr val="26436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2FA546-3C60-4EEA-1F53-63FBBEA5A41C}"/>
              </a:ext>
            </a:extLst>
          </p:cNvPr>
          <p:cNvSpPr txBox="1"/>
          <p:nvPr/>
        </p:nvSpPr>
        <p:spPr>
          <a:xfrm>
            <a:off x="3568700" y="4457700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후보 검색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B0FDA0C8-0F63-C107-68E7-832E6F3AF824}"/>
              </a:ext>
            </a:extLst>
          </p:cNvPr>
          <p:cNvCxnSpPr/>
          <p:nvPr/>
        </p:nvCxnSpPr>
        <p:spPr>
          <a:xfrm>
            <a:off x="8191500" y="4660900"/>
            <a:ext cx="736600" cy="0"/>
          </a:xfrm>
          <a:prstGeom prst="line">
            <a:avLst/>
          </a:prstGeom>
          <a:ln w="25400">
            <a:solidFill>
              <a:srgbClr val="48A5A5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59EA468B-1EF7-4E67-D806-219D5D44B56F}"/>
              </a:ext>
            </a:extLst>
          </p:cNvPr>
          <p:cNvSpPr/>
          <p:nvPr/>
        </p:nvSpPr>
        <p:spPr>
          <a:xfrm>
            <a:off x="6311900" y="4292600"/>
            <a:ext cx="1905000" cy="736600"/>
          </a:xfrm>
          <a:prstGeom prst="roundRect">
            <a:avLst/>
          </a:prstGeom>
          <a:solidFill>
            <a:srgbClr val="26436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6B0C93-C84F-ABF9-606D-264164503004}"/>
              </a:ext>
            </a:extLst>
          </p:cNvPr>
          <p:cNvSpPr txBox="1"/>
          <p:nvPr/>
        </p:nvSpPr>
        <p:spPr>
          <a:xfrm>
            <a:off x="6311900" y="4457700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WAV + TextGrid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EE20C8E5-FE94-FE16-CCC9-6E3E64E82224}"/>
              </a:ext>
            </a:extLst>
          </p:cNvPr>
          <p:cNvSpPr/>
          <p:nvPr/>
        </p:nvSpPr>
        <p:spPr>
          <a:xfrm>
            <a:off x="9055100" y="4292600"/>
            <a:ext cx="1905000" cy="736600"/>
          </a:xfrm>
          <a:prstGeom prst="round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1E1227-66F3-2F1C-CEB0-E7D5E07B1C1C}"/>
              </a:ext>
            </a:extLst>
          </p:cNvPr>
          <p:cNvSpPr txBox="1"/>
          <p:nvPr/>
        </p:nvSpPr>
        <p:spPr>
          <a:xfrm>
            <a:off x="9055100" y="4457700"/>
            <a:ext cx="190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연구자 판정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B6C94D-DFDD-192A-11CD-CDA8194C2D61}"/>
              </a:ext>
            </a:extLst>
          </p:cNvPr>
          <p:cNvSpPr txBox="1"/>
          <p:nvPr/>
        </p:nvSpPr>
        <p:spPr>
          <a:xfrm>
            <a:off x="825500" y="5562600"/>
            <a:ext cx="10414000" cy="444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b="1">
                <a:solidFill>
                  <a:srgbClr val="FFFFFF"/>
                </a:solidFill>
                <a:latin typeface="Malgun Gothic" panose="020B0503020000020004" pitchFamily="50" charset="-127"/>
              </a:rPr>
              <a:t>핵심 원칙</a:t>
            </a:r>
            <a:r>
              <a:rPr lang="en-US" altLang="ko-KR" b="1">
                <a:solidFill>
                  <a:srgbClr val="FFFFFF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b="1">
                <a:solidFill>
                  <a:srgbClr val="FFFFFF"/>
                </a:solidFill>
                <a:latin typeface="Malgun Gothic" panose="020B0503020000020004" pitchFamily="50" charset="-127"/>
              </a:rPr>
              <a:t>자동 </a:t>
            </a:r>
            <a:r>
              <a:rPr lang="en-US" altLang="ko-KR" b="1">
                <a:solidFill>
                  <a:srgbClr val="FFFFFF"/>
                </a:solidFill>
                <a:latin typeface="Malgun Gothic" panose="020B0503020000020004" pitchFamily="50" charset="-127"/>
              </a:rPr>
              <a:t>phone</a:t>
            </a:r>
            <a:r>
              <a:rPr lang="ko-KR" altLang="en-US" b="1">
                <a:solidFill>
                  <a:srgbClr val="FFFFFF"/>
                </a:solidFill>
                <a:latin typeface="Malgun Gothic" panose="020B0503020000020004" pitchFamily="50" charset="-127"/>
              </a:rPr>
              <a:t>은 위치 안내다</a:t>
            </a:r>
            <a:r>
              <a:rPr lang="en-US" altLang="ko-KR" b="1">
                <a:solidFill>
                  <a:srgbClr val="FFFFFF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b="1">
                <a:solidFill>
                  <a:srgbClr val="FFFFFF"/>
                </a:solidFill>
                <a:latin typeface="Malgun Gothic" panose="020B0503020000020004" pitchFamily="50" charset="-127"/>
              </a:rPr>
              <a:t>실제 실현 여부는 연구자가 듣고 본다</a:t>
            </a:r>
            <a:r>
              <a:rPr lang="en-US" altLang="ko-KR" b="1">
                <a:solidFill>
                  <a:srgbClr val="FFFFFF"/>
                </a:solidFill>
                <a:latin typeface="Malgun Gothic" panose="020B0503020000020004" pitchFamily="50" charset="-127"/>
              </a:rPr>
              <a:t>.</a:t>
            </a:r>
            <a:endParaRPr lang="ko-KR" altLang="en-US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39F52B-72B8-C68C-DE36-6DDF26BCD1DF}"/>
              </a:ext>
            </a:extLst>
          </p:cNvPr>
          <p:cNvSpPr txBox="1"/>
          <p:nvPr/>
        </p:nvSpPr>
        <p:spPr>
          <a:xfrm>
            <a:off x="825500" y="6273800"/>
            <a:ext cx="6350000" cy="2159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000">
                <a:solidFill>
                  <a:srgbClr val="BBCCD2"/>
                </a:solidFill>
                <a:latin typeface="Malgun Gothic" panose="020B0503020000020004" pitchFamily="50" charset="-127"/>
              </a:rPr>
              <a:t>전수 실행 직전 최종 설계</a:t>
            </a:r>
            <a:r>
              <a:rPr lang="en-US" altLang="ko-KR" sz="1000">
                <a:solidFill>
                  <a:srgbClr val="BBCCD2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000">
                <a:solidFill>
                  <a:srgbClr val="BBCCD2"/>
                </a:solidFill>
                <a:latin typeface="Malgun Gothic" panose="020B0503020000020004" pitchFamily="50" charset="-127"/>
              </a:rPr>
              <a:t>점검 </a:t>
            </a:r>
            <a:r>
              <a:rPr lang="en-US" altLang="ko-KR" sz="1000">
                <a:solidFill>
                  <a:srgbClr val="BBCCD2"/>
                </a:solidFill>
                <a:latin typeface="Malgun Gothic" panose="020B0503020000020004" pitchFamily="50" charset="-127"/>
              </a:rPr>
              <a:t>· 2026-08-01</a:t>
            </a:r>
            <a:endParaRPr lang="ko-KR" altLang="en-US" sz="1000">
              <a:solidFill>
                <a:srgbClr val="BBCCD2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77403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B709C-5F00-8693-9226-DDFFF6119C98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01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연구 문제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D446E-1605-811A-E73A-3FA9B868D54A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인프라가 답해야 할 질문은 세 가지다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7724E47-B8D7-AA3D-9AC0-2DCCDB1CEF9D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AE7DE-B3A9-B83D-96EA-8D9C6AD1C0BD}"/>
              </a:ext>
            </a:extLst>
          </p:cNvPr>
          <p:cNvSpPr txBox="1"/>
          <p:nvPr/>
        </p:nvSpPr>
        <p:spPr>
          <a:xfrm>
            <a:off x="711200" y="1879600"/>
            <a:ext cx="7366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800" b="1">
                <a:solidFill>
                  <a:srgbClr val="CD5C46"/>
                </a:solidFill>
                <a:latin typeface="Malgun Gothic" panose="020B0503020000020004" pitchFamily="50" charset="-127"/>
              </a:rPr>
              <a:t>01</a:t>
            </a:r>
            <a:endParaRPr lang="ko-KR" altLang="en-US" sz="2800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AF1547-C477-D51A-75A6-FE6284FDF288}"/>
              </a:ext>
            </a:extLst>
          </p:cNvPr>
          <p:cNvSpPr txBox="1"/>
          <p:nvPr/>
        </p:nvSpPr>
        <p:spPr>
          <a:xfrm>
            <a:off x="723900" y="2565400"/>
            <a:ext cx="3302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100" b="1">
                <a:solidFill>
                  <a:srgbClr val="1B324D"/>
                </a:solidFill>
                <a:latin typeface="Malgun Gothic" panose="020B0503020000020004" pitchFamily="50" charset="-127"/>
              </a:rPr>
              <a:t>찾을 수 있는가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E80ADF-6373-C0ED-45C3-235CDA6C6162}"/>
              </a:ext>
            </a:extLst>
          </p:cNvPr>
          <p:cNvSpPr txBox="1"/>
          <p:nvPr/>
        </p:nvSpPr>
        <p:spPr>
          <a:xfrm>
            <a:off x="723900" y="3136900"/>
            <a:ext cx="32258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형태소</a:t>
            </a:r>
            <a:r>
              <a:rPr lang="en-US" altLang="ko-KR" sz="15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표기 환경</a:t>
            </a:r>
            <a:r>
              <a:rPr lang="en-US" altLang="ko-KR" sz="1500">
                <a:solidFill>
                  <a:srgbClr val="636D77"/>
                </a:solidFill>
                <a:latin typeface="Malgun Gothic" panose="020B0503020000020004" pitchFamily="50" charset="-127"/>
              </a:rPr>
              <a:t>·Roman·POS</a:t>
            </a:r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로</a:t>
            </a:r>
          </a:p>
          <a:p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후보를 재현 가능하게 추출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3ACD664-79FE-F195-1E4B-AF6B8DAAA7B7}"/>
              </a:ext>
            </a:extLst>
          </p:cNvPr>
          <p:cNvCxnSpPr/>
          <p:nvPr/>
        </p:nvCxnSpPr>
        <p:spPr>
          <a:xfrm>
            <a:off x="4140200" y="1905000"/>
            <a:ext cx="0" cy="2387600"/>
          </a:xfrm>
          <a:prstGeom prst="line">
            <a:avLst/>
          </a:prstGeom>
          <a:ln w="1270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0D4F266-7354-C2E8-4F7F-E44775C5AB25}"/>
              </a:ext>
            </a:extLst>
          </p:cNvPr>
          <p:cNvSpPr txBox="1"/>
          <p:nvPr/>
        </p:nvSpPr>
        <p:spPr>
          <a:xfrm>
            <a:off x="4445000" y="1879600"/>
            <a:ext cx="7366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800" b="1">
                <a:solidFill>
                  <a:srgbClr val="CD5C46"/>
                </a:solidFill>
                <a:latin typeface="Malgun Gothic" panose="020B0503020000020004" pitchFamily="50" charset="-127"/>
              </a:rPr>
              <a:t>02</a:t>
            </a:r>
            <a:endParaRPr lang="ko-KR" altLang="en-US" sz="2800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DBB241-8CFF-773C-85A8-62370CEF54C4}"/>
              </a:ext>
            </a:extLst>
          </p:cNvPr>
          <p:cNvSpPr txBox="1"/>
          <p:nvPr/>
        </p:nvSpPr>
        <p:spPr>
          <a:xfrm>
            <a:off x="4457700" y="2565400"/>
            <a:ext cx="3302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100" b="1">
                <a:solidFill>
                  <a:srgbClr val="1B324D"/>
                </a:solidFill>
                <a:latin typeface="Malgun Gothic" panose="020B0503020000020004" pitchFamily="50" charset="-127"/>
              </a:rPr>
              <a:t>바로 들을 수 있는가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AACF1B-557E-6BA3-5E93-1CF880BFCADF}"/>
              </a:ext>
            </a:extLst>
          </p:cNvPr>
          <p:cNvSpPr txBox="1"/>
          <p:nvPr/>
        </p:nvSpPr>
        <p:spPr>
          <a:xfrm>
            <a:off x="4457700" y="3136900"/>
            <a:ext cx="32258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500">
                <a:solidFill>
                  <a:srgbClr val="636D77"/>
                </a:solidFill>
                <a:latin typeface="Malgun Gothic" panose="020B0503020000020004" pitchFamily="50" charset="-127"/>
              </a:rPr>
              <a:t>utt_id</a:t>
            </a:r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로 </a:t>
            </a:r>
            <a:r>
              <a:rPr lang="en-US" altLang="ko-KR" sz="1500">
                <a:solidFill>
                  <a:srgbClr val="636D77"/>
                </a:solidFill>
                <a:latin typeface="Malgun Gothic" panose="020B0503020000020004" pitchFamily="50" charset="-127"/>
              </a:rPr>
              <a:t>WAV·TextGrid·</a:t>
            </a:r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동반표를</a:t>
            </a:r>
          </a:p>
          <a:p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한 번에 모아 청취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399C22BD-E8F0-E3EA-91C1-4B44D924947C}"/>
              </a:ext>
            </a:extLst>
          </p:cNvPr>
          <p:cNvCxnSpPr/>
          <p:nvPr/>
        </p:nvCxnSpPr>
        <p:spPr>
          <a:xfrm>
            <a:off x="7874000" y="1905000"/>
            <a:ext cx="0" cy="2387600"/>
          </a:xfrm>
          <a:prstGeom prst="line">
            <a:avLst/>
          </a:prstGeom>
          <a:ln w="1270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FFBAB8-64BE-0CDF-0761-4CD0BD72D2FE}"/>
              </a:ext>
            </a:extLst>
          </p:cNvPr>
          <p:cNvSpPr txBox="1"/>
          <p:nvPr/>
        </p:nvSpPr>
        <p:spPr>
          <a:xfrm>
            <a:off x="8178800" y="1879600"/>
            <a:ext cx="7366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800" b="1">
                <a:solidFill>
                  <a:srgbClr val="CD5C46"/>
                </a:solidFill>
                <a:latin typeface="Malgun Gothic" panose="020B0503020000020004" pitchFamily="50" charset="-127"/>
              </a:rPr>
              <a:t>03</a:t>
            </a:r>
            <a:endParaRPr lang="ko-KR" altLang="en-US" sz="2800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C1A3F5-0C44-171E-6ADA-582560FB267E}"/>
              </a:ext>
            </a:extLst>
          </p:cNvPr>
          <p:cNvSpPr txBox="1"/>
          <p:nvPr/>
        </p:nvSpPr>
        <p:spPr>
          <a:xfrm>
            <a:off x="8191500" y="2565400"/>
            <a:ext cx="3302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100" b="1">
                <a:solidFill>
                  <a:srgbClr val="1B324D"/>
                </a:solidFill>
                <a:latin typeface="Malgun Gothic" panose="020B0503020000020004" pitchFamily="50" charset="-127"/>
              </a:rPr>
              <a:t>판정을 섞지 않는가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915B31-D2E3-D53B-2842-31410A502FC2}"/>
              </a:ext>
            </a:extLst>
          </p:cNvPr>
          <p:cNvSpPr txBox="1"/>
          <p:nvPr/>
        </p:nvSpPr>
        <p:spPr>
          <a:xfrm>
            <a:off x="8191500" y="3136900"/>
            <a:ext cx="32258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원자료</a:t>
            </a:r>
            <a:r>
              <a:rPr lang="en-US" altLang="ko-KR" sz="15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자동 파생</a:t>
            </a:r>
            <a:r>
              <a:rPr lang="en-US" altLang="ko-KR" sz="15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연구자 판단의</a:t>
            </a:r>
          </a:p>
          <a:p>
            <a:r>
              <a:rPr lang="ko-KR" altLang="en-US" sz="1500">
                <a:solidFill>
                  <a:srgbClr val="636D77"/>
                </a:solidFill>
                <a:latin typeface="Malgun Gothic" panose="020B0503020000020004" pitchFamily="50" charset="-127"/>
              </a:rPr>
              <a:t>출처를 분리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30A78B7-6A8F-1CA4-EA85-1565360392ED}"/>
              </a:ext>
            </a:extLst>
          </p:cNvPr>
          <p:cNvSpPr/>
          <p:nvPr/>
        </p:nvSpPr>
        <p:spPr>
          <a:xfrm>
            <a:off x="685800" y="4686300"/>
            <a:ext cx="10820400" cy="11684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261E4D-54C9-918C-8A39-502512410C7B}"/>
              </a:ext>
            </a:extLst>
          </p:cNvPr>
          <p:cNvSpPr txBox="1"/>
          <p:nvPr/>
        </p:nvSpPr>
        <p:spPr>
          <a:xfrm>
            <a:off x="965200" y="4940300"/>
            <a:ext cx="228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 b="1">
                <a:solidFill>
                  <a:srgbClr val="1B7E84"/>
                </a:solidFill>
                <a:latin typeface="Malgun Gothic" panose="020B0503020000020004" pitchFamily="50" charset="-127"/>
              </a:rPr>
              <a:t>인프라의 성공 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94FD53-0874-AB64-C766-422761C4356A}"/>
              </a:ext>
            </a:extLst>
          </p:cNvPr>
          <p:cNvSpPr txBox="1"/>
          <p:nvPr/>
        </p:nvSpPr>
        <p:spPr>
          <a:xfrm>
            <a:off x="965200" y="5232400"/>
            <a:ext cx="10033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b="1">
                <a:solidFill>
                  <a:srgbClr val="222A34"/>
                </a:solidFill>
                <a:latin typeface="Malgun Gothic" panose="020B0503020000020004" pitchFamily="50" charset="-127"/>
              </a:rPr>
              <a:t>“ㄴ 삽입이 실현됐다”를 자동 판정하는 것이 아니라</a:t>
            </a:r>
            <a:r>
              <a:rPr lang="en-US" altLang="ko-KR" b="1">
                <a:solidFill>
                  <a:srgbClr val="222A34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b="1">
                <a:solidFill>
                  <a:srgbClr val="222A34"/>
                </a:solidFill>
                <a:latin typeface="Malgun Gothic" panose="020B0503020000020004" pitchFamily="50" charset="-127"/>
              </a:rPr>
              <a:t>그 판단에 필요한 발화</a:t>
            </a:r>
            <a:r>
              <a:rPr lang="en-US" altLang="ko-KR" b="1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222A34"/>
                </a:solidFill>
                <a:latin typeface="Malgun Gothic" panose="020B0503020000020004" pitchFamily="50" charset="-127"/>
              </a:rPr>
              <a:t>음성</a:t>
            </a:r>
            <a:r>
              <a:rPr lang="en-US" altLang="ko-KR" b="1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222A34"/>
                </a:solidFill>
                <a:latin typeface="Malgun Gothic" panose="020B0503020000020004" pitchFamily="50" charset="-127"/>
              </a:rPr>
              <a:t>정렬</a:t>
            </a:r>
            <a:r>
              <a:rPr lang="en-US" altLang="ko-KR" b="1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222A34"/>
                </a:solidFill>
                <a:latin typeface="Malgun Gothic" panose="020B0503020000020004" pitchFamily="50" charset="-127"/>
              </a:rPr>
              <a:t>환경을 빠짐없이 연결하는 것</a:t>
            </a:r>
            <a:r>
              <a:rPr lang="en-US" altLang="ko-KR" b="1">
                <a:solidFill>
                  <a:srgbClr val="222A34"/>
                </a:solidFill>
                <a:latin typeface="Malgun Gothic" panose="020B0503020000020004" pitchFamily="50" charset="-127"/>
              </a:rPr>
              <a:t>.</a:t>
            </a:r>
            <a:endParaRPr lang="ko-KR" altLang="en-US" b="1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A9BF0DA3-B2EE-6D23-1A64-E013E6F099CE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3829C5F-C1D2-A8B2-64AA-5FB57290517A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454270-A7FE-2923-CA7B-11258479725A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02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7413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099CBB-52D2-F83E-8C80-B38551BC215E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02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서울코퍼스에서 배운 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D6CA02-84B7-3B63-B591-957B0666A58D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레이블은 보기용이 아니라 검색→추출→분석의 인터페이스다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C8D71BC-60BC-ACC0-B850-A00D64A8671C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4D7A4A77-514E-888E-DF63-192425545A93}"/>
              </a:ext>
            </a:extLst>
          </p:cNvPr>
          <p:cNvSpPr/>
          <p:nvPr/>
        </p:nvSpPr>
        <p:spPr>
          <a:xfrm>
            <a:off x="685800" y="1625600"/>
            <a:ext cx="5905500" cy="414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F482932-7F1B-1727-2E37-19F55FD0CD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292" y="2536284"/>
            <a:ext cx="3278516" cy="23188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C45569-252F-8BFC-E440-1F8C9901801F}"/>
              </a:ext>
            </a:extLst>
          </p:cNvPr>
          <p:cNvSpPr txBox="1"/>
          <p:nvPr/>
        </p:nvSpPr>
        <p:spPr>
          <a:xfrm>
            <a:off x="7086600" y="1689100"/>
            <a:ext cx="3683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900" b="1">
                <a:solidFill>
                  <a:srgbClr val="1B324D"/>
                </a:solidFill>
                <a:latin typeface="Malgun Gothic" panose="020B0503020000020004" pitchFamily="50" charset="-127"/>
              </a:rPr>
              <a:t>서울코퍼스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71B574-97AD-54E7-ADFC-A544292456FF}"/>
              </a:ext>
            </a:extLst>
          </p:cNvPr>
          <p:cNvSpPr txBox="1"/>
          <p:nvPr/>
        </p:nvSpPr>
        <p:spPr>
          <a:xfrm>
            <a:off x="7086600" y="2209800"/>
            <a:ext cx="4191000" cy="157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철자형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발음형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·Roman·phoneme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을 분리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WAV/TextGrid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쌍을 검색 결과로 추출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경계 양쪽 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target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을 지정해 음운 환경 검색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검색 결과를 포먼트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통계 분석으로 연결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91B7C616-BB16-E428-01BC-74BA96835914}"/>
              </a:ext>
            </a:extLst>
          </p:cNvPr>
          <p:cNvCxnSpPr/>
          <p:nvPr/>
        </p:nvCxnSpPr>
        <p:spPr>
          <a:xfrm>
            <a:off x="7086600" y="4051300"/>
            <a:ext cx="4165600" cy="0"/>
          </a:xfrm>
          <a:prstGeom prst="line">
            <a:avLst/>
          </a:prstGeom>
          <a:ln w="25400">
            <a:solidFill>
              <a:srgbClr val="CD5C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1CF8362-230A-CDBB-B53C-7D6B1B85587F}"/>
              </a:ext>
            </a:extLst>
          </p:cNvPr>
          <p:cNvSpPr txBox="1"/>
          <p:nvPr/>
        </p:nvSpPr>
        <p:spPr>
          <a:xfrm>
            <a:off x="7086600" y="4305300"/>
            <a:ext cx="3810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1B7E84"/>
                </a:solidFill>
                <a:latin typeface="Malgun Gothic" panose="020B0503020000020004" pitchFamily="50" charset="-127"/>
              </a:rPr>
              <a:t>이번 프로젝트의 재해석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3829D2-322F-4694-CF7D-9337AB954599}"/>
              </a:ext>
            </a:extLst>
          </p:cNvPr>
          <p:cNvSpPr txBox="1"/>
          <p:nvPr/>
        </p:nvSpPr>
        <p:spPr>
          <a:xfrm>
            <a:off x="7086600" y="4737100"/>
            <a:ext cx="4191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TextGrid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는 시간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청취 중심 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6-tier,</a:t>
            </a:r>
          </a:p>
          <a:p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CSV/Parquet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은 형태소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위치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조인 중심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.</a:t>
            </a:r>
          </a:p>
          <a:p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둘을 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utt_id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로 결합한다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.</a:t>
            </a:r>
            <a:endParaRPr lang="ko-KR" altLang="en-US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3853C98-79AA-4693-9FEE-F0C72FCCCF58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39EF57B-9394-BD07-E6D9-5C73D35BCFCA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4235D4-45C1-7A78-652D-566D4B3A7249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03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2738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B540C9-DE51-3467-A20E-21BB028887E2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03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연구 흐름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1A6A8-28A6-0A20-6A8F-E04437CBBE27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자동화는 후보와 근거를 준비하고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연구자는 실현을 판단한다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54B407-BF46-6958-3E01-13CA565D2E8E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A286526-DA45-397B-D914-F7B94E1EEAA5}"/>
              </a:ext>
            </a:extLst>
          </p:cNvPr>
          <p:cNvCxnSpPr/>
          <p:nvPr/>
        </p:nvCxnSpPr>
        <p:spPr>
          <a:xfrm>
            <a:off x="2463800" y="3111500"/>
            <a:ext cx="330200" cy="0"/>
          </a:xfrm>
          <a:prstGeom prst="line">
            <a:avLst/>
          </a:prstGeom>
          <a:ln w="31750">
            <a:solidFill>
              <a:srgbClr val="1B7E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7DABD7B-E6CA-D7F8-720F-E8B0ED32FFF7}"/>
              </a:ext>
            </a:extLst>
          </p:cNvPr>
          <p:cNvSpPr/>
          <p:nvPr/>
        </p:nvSpPr>
        <p:spPr>
          <a:xfrm>
            <a:off x="584200" y="2425700"/>
            <a:ext cx="1879600" cy="13716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654356-BA81-45A1-7D9C-2C3711EA29F3}"/>
              </a:ext>
            </a:extLst>
          </p:cNvPr>
          <p:cNvSpPr txBox="1"/>
          <p:nvPr/>
        </p:nvSpPr>
        <p:spPr>
          <a:xfrm>
            <a:off x="711200" y="2603500"/>
            <a:ext cx="16256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600" b="1">
                <a:solidFill>
                  <a:srgbClr val="222A34"/>
                </a:solidFill>
                <a:latin typeface="Malgun Gothic" panose="020B0503020000020004" pitchFamily="50" charset="-127"/>
              </a:rPr>
              <a:t>동결 </a:t>
            </a:r>
            <a:r>
              <a:rPr lang="en-US" altLang="ko-KR" sz="1600" b="1">
                <a:solidFill>
                  <a:srgbClr val="222A34"/>
                </a:solidFill>
                <a:latin typeface="Malgun Gothic" panose="020B0503020000020004" pitchFamily="50" charset="-127"/>
              </a:rPr>
              <a:t>CSV/Parquet</a:t>
            </a:r>
            <a:endParaRPr lang="ko-KR" altLang="en-US" sz="1600" b="1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51591E-9257-8F9C-1C3F-2C26F2F44CEA}"/>
              </a:ext>
            </a:extLst>
          </p:cNvPr>
          <p:cNvSpPr txBox="1"/>
          <p:nvPr/>
        </p:nvSpPr>
        <p:spPr>
          <a:xfrm>
            <a:off x="711200" y="3162300"/>
            <a:ext cx="162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형태소</a:t>
            </a:r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표기</a:t>
            </a:r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화자</a:t>
            </a:r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대화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60057AE-40E6-48C7-6904-1DE99E60A67F}"/>
              </a:ext>
            </a:extLst>
          </p:cNvPr>
          <p:cNvCxnSpPr/>
          <p:nvPr/>
        </p:nvCxnSpPr>
        <p:spPr>
          <a:xfrm>
            <a:off x="4762500" y="3111500"/>
            <a:ext cx="330200" cy="0"/>
          </a:xfrm>
          <a:prstGeom prst="line">
            <a:avLst/>
          </a:prstGeom>
          <a:ln w="31750">
            <a:solidFill>
              <a:srgbClr val="1B7E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FEFDD52B-4742-9299-FF59-15FC9166642B}"/>
              </a:ext>
            </a:extLst>
          </p:cNvPr>
          <p:cNvSpPr/>
          <p:nvPr/>
        </p:nvSpPr>
        <p:spPr>
          <a:xfrm>
            <a:off x="2882900" y="2425700"/>
            <a:ext cx="1879600" cy="13716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247F97-0D56-5108-C7F3-CE2697AFE68E}"/>
              </a:ext>
            </a:extLst>
          </p:cNvPr>
          <p:cNvSpPr txBox="1"/>
          <p:nvPr/>
        </p:nvSpPr>
        <p:spPr>
          <a:xfrm>
            <a:off x="3009900" y="2603500"/>
            <a:ext cx="16256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600" b="1">
                <a:solidFill>
                  <a:srgbClr val="222A34"/>
                </a:solidFill>
                <a:latin typeface="Malgun Gothic" panose="020B0503020000020004" pitchFamily="50" charset="-127"/>
              </a:rPr>
              <a:t>후보 검색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DD5F88-F31F-889E-6DFB-D4ACAD40E436}"/>
              </a:ext>
            </a:extLst>
          </p:cNvPr>
          <p:cNvSpPr txBox="1"/>
          <p:nvPr/>
        </p:nvSpPr>
        <p:spPr>
          <a:xfrm>
            <a:off x="3009900" y="3162300"/>
            <a:ext cx="162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환경 </a:t>
            </a:r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위치 </a:t>
            </a:r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연도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2073A44-5F59-9EEA-9E78-5094C46320C1}"/>
              </a:ext>
            </a:extLst>
          </p:cNvPr>
          <p:cNvCxnSpPr/>
          <p:nvPr/>
        </p:nvCxnSpPr>
        <p:spPr>
          <a:xfrm>
            <a:off x="7061200" y="3111500"/>
            <a:ext cx="330200" cy="0"/>
          </a:xfrm>
          <a:prstGeom prst="line">
            <a:avLst/>
          </a:prstGeom>
          <a:ln w="31750">
            <a:solidFill>
              <a:srgbClr val="1B7E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4F137ED4-E3C4-EEB5-A6AC-CD56E5BA40C5}"/>
              </a:ext>
            </a:extLst>
          </p:cNvPr>
          <p:cNvSpPr/>
          <p:nvPr/>
        </p:nvSpPr>
        <p:spPr>
          <a:xfrm>
            <a:off x="5181600" y="2425700"/>
            <a:ext cx="1879600" cy="13716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3386F0-AB19-D89E-F927-FA830D62D64E}"/>
              </a:ext>
            </a:extLst>
          </p:cNvPr>
          <p:cNvSpPr txBox="1"/>
          <p:nvPr/>
        </p:nvSpPr>
        <p:spPr>
          <a:xfrm>
            <a:off x="5308600" y="2603500"/>
            <a:ext cx="16256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600" b="1">
                <a:solidFill>
                  <a:srgbClr val="222A34"/>
                </a:solidFill>
                <a:latin typeface="Malgun Gothic" panose="020B0503020000020004" pitchFamily="50" charset="-127"/>
              </a:rPr>
              <a:t>bundle </a:t>
            </a:r>
            <a:r>
              <a:rPr lang="ko-KR" altLang="en-US" sz="1600" b="1">
                <a:solidFill>
                  <a:srgbClr val="222A34"/>
                </a:solidFill>
                <a:latin typeface="Malgun Gothic" panose="020B0503020000020004" pitchFamily="50" charset="-127"/>
              </a:rPr>
              <a:t>수집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74B1E5-C09A-508A-F515-7E93B9EF83B9}"/>
              </a:ext>
            </a:extLst>
          </p:cNvPr>
          <p:cNvSpPr txBox="1"/>
          <p:nvPr/>
        </p:nvSpPr>
        <p:spPr>
          <a:xfrm>
            <a:off x="5308600" y="3162300"/>
            <a:ext cx="162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WAV · TextGrid · CSV</a:t>
            </a:r>
            <a:endParaRPr lang="ko-KR" altLang="en-US" sz="12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56007A7D-A9A2-FADE-AA1B-E957B71A2B49}"/>
              </a:ext>
            </a:extLst>
          </p:cNvPr>
          <p:cNvCxnSpPr/>
          <p:nvPr/>
        </p:nvCxnSpPr>
        <p:spPr>
          <a:xfrm>
            <a:off x="9359900" y="3111500"/>
            <a:ext cx="330200" cy="0"/>
          </a:xfrm>
          <a:prstGeom prst="line">
            <a:avLst/>
          </a:prstGeom>
          <a:ln w="31750">
            <a:solidFill>
              <a:srgbClr val="1B7E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54D5EFA-C6C0-48AE-6A56-49F443C3B5F5}"/>
              </a:ext>
            </a:extLst>
          </p:cNvPr>
          <p:cNvSpPr/>
          <p:nvPr/>
        </p:nvSpPr>
        <p:spPr>
          <a:xfrm>
            <a:off x="7480300" y="2425700"/>
            <a:ext cx="1879600" cy="1371600"/>
          </a:xfrm>
          <a:prstGeom prst="roundRect">
            <a:avLst/>
          </a:prstGeom>
          <a:solidFill>
            <a:srgbClr val="EAE5D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85E492-0538-0707-E724-195D77355EFA}"/>
              </a:ext>
            </a:extLst>
          </p:cNvPr>
          <p:cNvSpPr txBox="1"/>
          <p:nvPr/>
        </p:nvSpPr>
        <p:spPr>
          <a:xfrm>
            <a:off x="7607300" y="2603500"/>
            <a:ext cx="16256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600" b="1">
                <a:solidFill>
                  <a:srgbClr val="222A34"/>
                </a:solidFill>
                <a:latin typeface="Malgun Gothic" panose="020B0503020000020004" pitchFamily="50" charset="-127"/>
              </a:rPr>
              <a:t>선별 보조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17C975-B0E6-45AA-0787-0A940AFC3C9E}"/>
              </a:ext>
            </a:extLst>
          </p:cNvPr>
          <p:cNvSpPr txBox="1"/>
          <p:nvPr/>
        </p:nvSpPr>
        <p:spPr>
          <a:xfrm>
            <a:off x="7607300" y="3162300"/>
            <a:ext cx="162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KOINA · </a:t>
            </a:r>
            <a:r>
              <a:rPr lang="ko-KR" altLang="en-US" sz="1200">
                <a:solidFill>
                  <a:srgbClr val="222A34"/>
                </a:solidFill>
                <a:latin typeface="Malgun Gothic" panose="020B0503020000020004" pitchFamily="50" charset="-127"/>
              </a:rPr>
              <a:t>이어붙이기 </a:t>
            </a:r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· wav2vec2</a:t>
            </a:r>
            <a:endParaRPr lang="ko-KR" altLang="en-US" sz="12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7667C82-6125-4BF5-C6E8-63A8C3ECB1F2}"/>
              </a:ext>
            </a:extLst>
          </p:cNvPr>
          <p:cNvSpPr/>
          <p:nvPr/>
        </p:nvSpPr>
        <p:spPr>
          <a:xfrm>
            <a:off x="9779000" y="2425700"/>
            <a:ext cx="1879600" cy="1371600"/>
          </a:xfrm>
          <a:prstGeom prst="round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6343A3-AC0C-A2EC-2432-B960EC09204E}"/>
              </a:ext>
            </a:extLst>
          </p:cNvPr>
          <p:cNvSpPr txBox="1"/>
          <p:nvPr/>
        </p:nvSpPr>
        <p:spPr>
          <a:xfrm>
            <a:off x="9906000" y="2603500"/>
            <a:ext cx="16256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수동 판정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7107BF-23B3-B2BA-6E78-65654739B797}"/>
              </a:ext>
            </a:extLst>
          </p:cNvPr>
          <p:cNvSpPr txBox="1"/>
          <p:nvPr/>
        </p:nvSpPr>
        <p:spPr>
          <a:xfrm>
            <a:off x="9906000" y="3162300"/>
            <a:ext cx="1625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200">
                <a:solidFill>
                  <a:srgbClr val="FFFFFF"/>
                </a:solidFill>
                <a:latin typeface="Malgun Gothic" panose="020B0503020000020004" pitchFamily="50" charset="-127"/>
              </a:rPr>
              <a:t>실현 여부 </a:t>
            </a:r>
            <a:r>
              <a:rPr lang="en-US" altLang="ko-KR" sz="1200">
                <a:solidFill>
                  <a:srgbClr val="FFFFFF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200">
                <a:solidFill>
                  <a:srgbClr val="FFFFFF"/>
                </a:solidFill>
                <a:latin typeface="Malgun Gothic" panose="020B0503020000020004" pitchFamily="50" charset="-127"/>
              </a:rPr>
              <a:t>음향 근거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89702FE-6E26-B839-ED16-0B9F6EBEBC29}"/>
              </a:ext>
            </a:extLst>
          </p:cNvPr>
          <p:cNvSpPr/>
          <p:nvPr/>
        </p:nvSpPr>
        <p:spPr>
          <a:xfrm>
            <a:off x="685800" y="4419600"/>
            <a:ext cx="10820400" cy="1168400"/>
          </a:xfrm>
          <a:prstGeom prst="roundRect">
            <a:avLst/>
          </a:prstGeom>
          <a:solidFill>
            <a:srgbClr val="1B324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002351-21F1-3C93-6604-26F15E0BD166}"/>
              </a:ext>
            </a:extLst>
          </p:cNvPr>
          <p:cNvSpPr txBox="1"/>
          <p:nvPr/>
        </p:nvSpPr>
        <p:spPr>
          <a:xfrm>
            <a:off x="965200" y="4673600"/>
            <a:ext cx="1803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 b="1">
                <a:solidFill>
                  <a:srgbClr val="48A5A5"/>
                </a:solidFill>
                <a:latin typeface="Malgun Gothic" panose="020B0503020000020004" pitchFamily="50" charset="-127"/>
              </a:rPr>
              <a:t>자동값의 지위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9F0C958-434A-9E6F-D509-38F3C1128CCB}"/>
              </a:ext>
            </a:extLst>
          </p:cNvPr>
          <p:cNvSpPr txBox="1"/>
          <p:nvPr/>
        </p:nvSpPr>
        <p:spPr>
          <a:xfrm>
            <a:off x="965200" y="5054600"/>
            <a:ext cx="100330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G2P·</a:t>
            </a:r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사전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·MFA·wav2vec2</a:t>
            </a:r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는 서로 다른 출처의 보조값이다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어느 열도 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manual judgment</a:t>
            </a:r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를 덮어쓰지 않는다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.</a:t>
            </a:r>
            <a:endParaRPr lang="ko-KR" altLang="en-US" sz="16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7FAF1F3-608F-D090-FE75-834349934AE5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B3C3997-9078-0427-7527-F93000F7C128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0B01BF-83B9-8ABC-1F43-99FE00AFD61B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04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8529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1F5404-92CE-BDDA-D7D9-FA0B28A25A3C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04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출처 층위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C946C5-87EA-CFEB-DB2C-5FB3E655BF02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같은 “발음 정보”처럼 보여도 생성 주체와 해석 범위가 다르다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D3C30AC-CBFB-D79B-51E3-9563E6E155FD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E9F49B0-00FA-B070-1486-8CA25266DDB3}"/>
              </a:ext>
            </a:extLst>
          </p:cNvPr>
          <p:cNvSpPr/>
          <p:nvPr/>
        </p:nvSpPr>
        <p:spPr>
          <a:xfrm>
            <a:off x="685800" y="1739900"/>
            <a:ext cx="139700" cy="736600"/>
          </a:xfrm>
          <a:prstGeom prst="rect">
            <a:avLst/>
          </a:prstGeom>
          <a:solidFill>
            <a:srgbClr val="1B324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4F9CB-FE68-3238-D591-AB934452A09C}"/>
              </a:ext>
            </a:extLst>
          </p:cNvPr>
          <p:cNvSpPr txBox="1"/>
          <p:nvPr/>
        </p:nvSpPr>
        <p:spPr>
          <a:xfrm>
            <a:off x="1041400" y="1803400"/>
            <a:ext cx="1968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1B324D"/>
                </a:solidFill>
                <a:latin typeface="Malgun Gothic" panose="020B0503020000020004" pitchFamily="50" charset="-127"/>
              </a:rPr>
              <a:t>원자료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D5BAA5-5DC4-FF34-65DD-6476445F3B9C}"/>
              </a:ext>
            </a:extLst>
          </p:cNvPr>
          <p:cNvSpPr txBox="1"/>
          <p:nvPr/>
        </p:nvSpPr>
        <p:spPr>
          <a:xfrm>
            <a:off x="3086100" y="1803400"/>
            <a:ext cx="5918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JSON original_form ·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화자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/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대화 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ID ·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시간 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· note</a:t>
            </a:r>
            <a:endParaRPr lang="ko-KR" altLang="en-US" sz="1500" b="1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E67FB2-7F7F-11B4-F8BE-829B6AF8868F}"/>
              </a:ext>
            </a:extLst>
          </p:cNvPr>
          <p:cNvSpPr txBox="1"/>
          <p:nvPr/>
        </p:nvSpPr>
        <p:spPr>
          <a:xfrm>
            <a:off x="9080500" y="1803400"/>
            <a:ext cx="2171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자동 수정 금지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B2D1E99-7E06-B440-7773-27EB0E2FA98E}"/>
              </a:ext>
            </a:extLst>
          </p:cNvPr>
          <p:cNvCxnSpPr/>
          <p:nvPr/>
        </p:nvCxnSpPr>
        <p:spPr>
          <a:xfrm>
            <a:off x="1041400" y="2400300"/>
            <a:ext cx="102108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6156F1-C1A1-C4A4-ED4B-7CA8E4A3B6C2}"/>
              </a:ext>
            </a:extLst>
          </p:cNvPr>
          <p:cNvSpPr/>
          <p:nvPr/>
        </p:nvSpPr>
        <p:spPr>
          <a:xfrm>
            <a:off x="685800" y="2730500"/>
            <a:ext cx="139700" cy="736600"/>
          </a:xfrm>
          <a:prstGeom prst="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E8B764-AEDE-3A1B-3454-5A359FC03EC3}"/>
              </a:ext>
            </a:extLst>
          </p:cNvPr>
          <p:cNvSpPr txBox="1"/>
          <p:nvPr/>
        </p:nvSpPr>
        <p:spPr>
          <a:xfrm>
            <a:off x="1041400" y="2794000"/>
            <a:ext cx="1968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1B7E84"/>
                </a:solidFill>
                <a:latin typeface="Malgun Gothic" panose="020B0503020000020004" pitchFamily="50" charset="-127"/>
              </a:rPr>
              <a:t>연구자 정책</a:t>
            </a:r>
            <a:r>
              <a:rPr lang="en-US" altLang="ko-KR" sz="1700" b="1">
                <a:solidFill>
                  <a:srgbClr val="1B7E84"/>
                </a:solidFill>
                <a:latin typeface="Malgun Gothic" panose="020B0503020000020004" pitchFamily="50" charset="-127"/>
              </a:rPr>
              <a:t>/</a:t>
            </a:r>
            <a:r>
              <a:rPr lang="ko-KR" altLang="en-US" sz="1700" b="1">
                <a:solidFill>
                  <a:srgbClr val="1B7E84"/>
                </a:solidFill>
                <a:latin typeface="Malgun Gothic" panose="020B0503020000020004" pitchFamily="50" charset="-127"/>
              </a:rPr>
              <a:t>부착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955740-5A81-2E27-8368-83A1B9806581}"/>
              </a:ext>
            </a:extLst>
          </p:cNvPr>
          <p:cNvSpPr txBox="1"/>
          <p:nvPr/>
        </p:nvSpPr>
        <p:spPr>
          <a:xfrm>
            <a:off x="3086100" y="2794000"/>
            <a:ext cx="5918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6-tier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선택 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형태소 전체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-span ·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선별 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KOINA</a:t>
            </a:r>
            <a:endParaRPr lang="ko-KR" altLang="en-US" sz="1500" b="1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C66918-6848-37F9-7937-FE80F41B16C4}"/>
              </a:ext>
            </a:extLst>
          </p:cNvPr>
          <p:cNvSpPr txBox="1"/>
          <p:nvPr/>
        </p:nvSpPr>
        <p:spPr>
          <a:xfrm>
            <a:off x="9080500" y="2794000"/>
            <a:ext cx="2171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방법 설계로 기록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EA3D4434-D9CB-910E-ECB8-33A867EBCA24}"/>
              </a:ext>
            </a:extLst>
          </p:cNvPr>
          <p:cNvCxnSpPr/>
          <p:nvPr/>
        </p:nvCxnSpPr>
        <p:spPr>
          <a:xfrm>
            <a:off x="1041400" y="3390900"/>
            <a:ext cx="102108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D473975-ADA9-467A-B057-AF130A3C5894}"/>
              </a:ext>
            </a:extLst>
          </p:cNvPr>
          <p:cNvSpPr/>
          <p:nvPr/>
        </p:nvSpPr>
        <p:spPr>
          <a:xfrm>
            <a:off x="685800" y="3721100"/>
            <a:ext cx="139700" cy="736600"/>
          </a:xfrm>
          <a:prstGeom prst="rect">
            <a:avLst/>
          </a:prstGeom>
          <a:solidFill>
            <a:srgbClr val="E0AE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68A8ED-123C-4DD3-81F2-D7CE2051873F}"/>
              </a:ext>
            </a:extLst>
          </p:cNvPr>
          <p:cNvSpPr txBox="1"/>
          <p:nvPr/>
        </p:nvSpPr>
        <p:spPr>
          <a:xfrm>
            <a:off x="1041400" y="3784600"/>
            <a:ext cx="1968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E0AE47"/>
                </a:solidFill>
                <a:latin typeface="Malgun Gothic" panose="020B0503020000020004" pitchFamily="50" charset="-127"/>
              </a:rPr>
              <a:t>기계 파생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34D3CD-2104-1A89-283B-118ACA44611F}"/>
              </a:ext>
            </a:extLst>
          </p:cNvPr>
          <p:cNvSpPr txBox="1"/>
          <p:nvPr/>
        </p:nvSpPr>
        <p:spPr>
          <a:xfrm>
            <a:off x="3086100" y="3784600"/>
            <a:ext cx="5918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Roman ·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공통사전 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phone · MFA interval · broad phoneme</a:t>
            </a:r>
            <a:endParaRPr lang="ko-KR" altLang="en-US" sz="1500" b="1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CC1AB1-42F3-F34D-51C9-6B1EBE09179A}"/>
              </a:ext>
            </a:extLst>
          </p:cNvPr>
          <p:cNvSpPr txBox="1"/>
          <p:nvPr/>
        </p:nvSpPr>
        <p:spPr>
          <a:xfrm>
            <a:off x="9080500" y="3784600"/>
            <a:ext cx="2171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출처와 버전 고정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B255846-45B3-8F3B-AA38-7E4CF0EF557E}"/>
              </a:ext>
            </a:extLst>
          </p:cNvPr>
          <p:cNvCxnSpPr/>
          <p:nvPr/>
        </p:nvCxnSpPr>
        <p:spPr>
          <a:xfrm>
            <a:off x="1041400" y="4381500"/>
            <a:ext cx="102108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EC992E4-D297-469D-84D9-BC9DF28C7C7C}"/>
              </a:ext>
            </a:extLst>
          </p:cNvPr>
          <p:cNvSpPr/>
          <p:nvPr/>
        </p:nvSpPr>
        <p:spPr>
          <a:xfrm>
            <a:off x="685800" y="4711700"/>
            <a:ext cx="139700" cy="7366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A02508-2C03-CEDE-61F4-52EB929DD4D3}"/>
              </a:ext>
            </a:extLst>
          </p:cNvPr>
          <p:cNvSpPr txBox="1"/>
          <p:nvPr/>
        </p:nvSpPr>
        <p:spPr>
          <a:xfrm>
            <a:off x="1041400" y="4775200"/>
            <a:ext cx="1968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CD5C46"/>
                </a:solidFill>
                <a:latin typeface="Malgun Gothic" panose="020B0503020000020004" pitchFamily="50" charset="-127"/>
              </a:rPr>
              <a:t>수동 판정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0E6398-B012-A69F-FA16-7A0F675D6118}"/>
              </a:ext>
            </a:extLst>
          </p:cNvPr>
          <p:cNvSpPr txBox="1"/>
          <p:nvPr/>
        </p:nvSpPr>
        <p:spPr>
          <a:xfrm>
            <a:off x="3086100" y="4775200"/>
            <a:ext cx="5918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실제 실현 여부 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음향 근거 </a:t>
            </a:r>
            <a:r>
              <a:rPr lang="en-US" altLang="ko-KR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500" b="1">
                <a:solidFill>
                  <a:srgbClr val="222A34"/>
                </a:solidFill>
                <a:latin typeface="Malgun Gothic" panose="020B0503020000020004" pitchFamily="50" charset="-127"/>
              </a:rPr>
              <a:t>예외 처리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BD30C7F-45F7-4C72-68B6-9888F41374F4}"/>
              </a:ext>
            </a:extLst>
          </p:cNvPr>
          <p:cNvSpPr txBox="1"/>
          <p:nvPr/>
        </p:nvSpPr>
        <p:spPr>
          <a:xfrm>
            <a:off x="9080500" y="4775200"/>
            <a:ext cx="21717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별도 표에 기록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9E48773-0D56-AACB-5F68-85FFD6C573FB}"/>
              </a:ext>
            </a:extLst>
          </p:cNvPr>
          <p:cNvCxnSpPr/>
          <p:nvPr/>
        </p:nvCxnSpPr>
        <p:spPr>
          <a:xfrm>
            <a:off x="1041400" y="5372100"/>
            <a:ext cx="102108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2574FCF-857F-3D88-A7DE-301C63BC387E}"/>
              </a:ext>
            </a:extLst>
          </p:cNvPr>
          <p:cNvSpPr txBox="1"/>
          <p:nvPr/>
        </p:nvSpPr>
        <p:spPr>
          <a:xfrm>
            <a:off x="685800" y="5778500"/>
            <a:ext cx="1082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논문에서 “누가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무엇으로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어떤 한계 아래 만들었는가”를 열 단위로 설명할 수 있어야 한다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.</a:t>
            </a:r>
            <a:endParaRPr lang="ko-KR" altLang="en-US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CCB94364-1815-FDC6-CCA7-FBF8EC531111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92C2082-3D10-DD5A-6CEC-DFCD45C1513A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15EC33-FE12-AB59-933D-56BD58E7C156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05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2993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9EB261-0471-C4A4-55E6-C7494EDA76B2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05 · TextGrid 6-tier</a:t>
            </a:r>
            <a:endParaRPr lang="ko-KR" altLang="en-US" sz="1100" b="1">
              <a:solidFill>
                <a:srgbClr val="1B7E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200A8-A710-40A0-DFBC-5CFBFB630456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시간을 실제로 아는 층위와 발화 전체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-span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참조층을 구분한다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57F389D-C53E-A73B-57EC-581C85B3DA96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72272-EBD4-371A-0852-03F49F70C976}"/>
              </a:ext>
            </a:extLst>
          </p:cNvPr>
          <p:cNvSpPr txBox="1"/>
          <p:nvPr/>
        </p:nvSpPr>
        <p:spPr>
          <a:xfrm>
            <a:off x="685800" y="1892300"/>
            <a:ext cx="1854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1300" b="1">
                <a:solidFill>
                  <a:srgbClr val="1B7E84"/>
                </a:solidFill>
                <a:latin typeface="Malgun Gothic" panose="020B0503020000020004" pitchFamily="50" charset="-127"/>
              </a:rPr>
              <a:t>words</a:t>
            </a:r>
            <a:endParaRPr lang="ko-KR" altLang="en-US" sz="1300" b="1">
              <a:solidFill>
                <a:srgbClr val="1B7E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2F78962-336D-7E95-46BB-B3022355BF19}"/>
              </a:ext>
            </a:extLst>
          </p:cNvPr>
          <p:cNvSpPr/>
          <p:nvPr/>
        </p:nvSpPr>
        <p:spPr>
          <a:xfrm>
            <a:off x="2667000" y="17399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E1816BE-2EC2-3B7E-B000-184A076995D0}"/>
              </a:ext>
            </a:extLst>
          </p:cNvPr>
          <p:cNvSpPr/>
          <p:nvPr/>
        </p:nvSpPr>
        <p:spPr>
          <a:xfrm>
            <a:off x="3530600" y="1739900"/>
            <a:ext cx="2794000" cy="571500"/>
          </a:xfrm>
          <a:prstGeom prst="rect">
            <a:avLst/>
          </a:prstGeom>
          <a:solidFill>
            <a:srgbClr val="E6F2F1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964C84-79EC-EA75-0205-4AEE627F4319}"/>
              </a:ext>
            </a:extLst>
          </p:cNvPr>
          <p:cNvSpPr txBox="1"/>
          <p:nvPr/>
        </p:nvSpPr>
        <p:spPr>
          <a:xfrm>
            <a:off x="3581400" y="1879600"/>
            <a:ext cx="2692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혹시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013EF5B-0611-ECF6-9404-F1638551ACDF}"/>
              </a:ext>
            </a:extLst>
          </p:cNvPr>
          <p:cNvSpPr/>
          <p:nvPr/>
        </p:nvSpPr>
        <p:spPr>
          <a:xfrm>
            <a:off x="6324600" y="1739900"/>
            <a:ext cx="2794000" cy="571500"/>
          </a:xfrm>
          <a:prstGeom prst="rect">
            <a:avLst/>
          </a:prstGeom>
          <a:solidFill>
            <a:srgbClr val="E6F2F1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4155E5-6165-274A-5899-7DE8C263E5C3}"/>
              </a:ext>
            </a:extLst>
          </p:cNvPr>
          <p:cNvSpPr txBox="1"/>
          <p:nvPr/>
        </p:nvSpPr>
        <p:spPr>
          <a:xfrm>
            <a:off x="6375400" y="1879600"/>
            <a:ext cx="2692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요즘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36E4ED-0144-B70F-4A6A-7003235A39C6}"/>
              </a:ext>
            </a:extLst>
          </p:cNvPr>
          <p:cNvSpPr/>
          <p:nvPr/>
        </p:nvSpPr>
        <p:spPr>
          <a:xfrm>
            <a:off x="9118600" y="17399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6D461-0F6A-1962-8C10-483A14278591}"/>
              </a:ext>
            </a:extLst>
          </p:cNvPr>
          <p:cNvSpPr txBox="1"/>
          <p:nvPr/>
        </p:nvSpPr>
        <p:spPr>
          <a:xfrm>
            <a:off x="685800" y="2552700"/>
            <a:ext cx="1854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1300" b="1">
                <a:solidFill>
                  <a:srgbClr val="1B7E84"/>
                </a:solidFill>
                <a:latin typeface="Malgun Gothic" panose="020B0503020000020004" pitchFamily="50" charset="-127"/>
              </a:rPr>
              <a:t>phones_mfa</a:t>
            </a:r>
            <a:endParaRPr lang="ko-KR" altLang="en-US" sz="1300" b="1">
              <a:solidFill>
                <a:srgbClr val="1B7E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F62FAD-91AA-FBE0-647F-B5994DD6234D}"/>
              </a:ext>
            </a:extLst>
          </p:cNvPr>
          <p:cNvSpPr/>
          <p:nvPr/>
        </p:nvSpPr>
        <p:spPr>
          <a:xfrm>
            <a:off x="2667000" y="24003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B9681F-8551-CA72-3DC1-5AC07990E623}"/>
              </a:ext>
            </a:extLst>
          </p:cNvPr>
          <p:cNvSpPr/>
          <p:nvPr/>
        </p:nvSpPr>
        <p:spPr>
          <a:xfrm>
            <a:off x="3530600" y="2400300"/>
            <a:ext cx="2794000" cy="571500"/>
          </a:xfrm>
          <a:prstGeom prst="rect">
            <a:avLst/>
          </a:prstGeom>
          <a:solidFill>
            <a:srgbClr val="E6F2F1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6630E4-1F66-38F5-DC0E-BB07433C990D}"/>
              </a:ext>
            </a:extLst>
          </p:cNvPr>
          <p:cNvSpPr txBox="1"/>
          <p:nvPr/>
        </p:nvSpPr>
        <p:spPr>
          <a:xfrm>
            <a:off x="3581400" y="2540000"/>
            <a:ext cx="2692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ɸʷ o k ɕ͈ i</a:t>
            </a:r>
            <a:endParaRPr lang="ko-KR" altLang="en-US" sz="12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E9984FC-38C0-8B30-F2F7-D59A89E51FC5}"/>
              </a:ext>
            </a:extLst>
          </p:cNvPr>
          <p:cNvSpPr/>
          <p:nvPr/>
        </p:nvSpPr>
        <p:spPr>
          <a:xfrm>
            <a:off x="6324600" y="2400300"/>
            <a:ext cx="2794000" cy="571500"/>
          </a:xfrm>
          <a:prstGeom prst="rect">
            <a:avLst/>
          </a:prstGeom>
          <a:solidFill>
            <a:srgbClr val="E6F2F1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A2B429-CE65-6640-27E7-8436E559670D}"/>
              </a:ext>
            </a:extLst>
          </p:cNvPr>
          <p:cNvSpPr txBox="1"/>
          <p:nvPr/>
        </p:nvSpPr>
        <p:spPr>
          <a:xfrm>
            <a:off x="6375400" y="2540000"/>
            <a:ext cx="2692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j o dʑ m</a:t>
            </a:r>
            <a:endParaRPr lang="ko-KR" altLang="en-US" sz="12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A063AD4-A4EF-3B01-261E-34DA1CAC0119}"/>
              </a:ext>
            </a:extLst>
          </p:cNvPr>
          <p:cNvSpPr/>
          <p:nvPr/>
        </p:nvSpPr>
        <p:spPr>
          <a:xfrm>
            <a:off x="9118600" y="24003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AC32BF-7253-962D-DEC8-9AD41490098A}"/>
              </a:ext>
            </a:extLst>
          </p:cNvPr>
          <p:cNvSpPr txBox="1"/>
          <p:nvPr/>
        </p:nvSpPr>
        <p:spPr>
          <a:xfrm>
            <a:off x="685800" y="3213100"/>
            <a:ext cx="1854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1300" b="1">
                <a:solidFill>
                  <a:srgbClr val="1B7E84"/>
                </a:solidFill>
                <a:latin typeface="Malgun Gothic" panose="020B0503020000020004" pitchFamily="50" charset="-127"/>
              </a:rPr>
              <a:t>phoneme_r_auto</a:t>
            </a:r>
            <a:endParaRPr lang="ko-KR" altLang="en-US" sz="1300" b="1">
              <a:solidFill>
                <a:srgbClr val="1B7E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39E7498-240C-0FD8-05BC-51B3F5072835}"/>
              </a:ext>
            </a:extLst>
          </p:cNvPr>
          <p:cNvSpPr/>
          <p:nvPr/>
        </p:nvSpPr>
        <p:spPr>
          <a:xfrm>
            <a:off x="2667000" y="30607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38608B-A742-D1C1-8722-6F680067E8A2}"/>
              </a:ext>
            </a:extLst>
          </p:cNvPr>
          <p:cNvSpPr/>
          <p:nvPr/>
        </p:nvSpPr>
        <p:spPr>
          <a:xfrm>
            <a:off x="3530600" y="3060700"/>
            <a:ext cx="2794000" cy="571500"/>
          </a:xfrm>
          <a:prstGeom prst="rect">
            <a:avLst/>
          </a:prstGeom>
          <a:solidFill>
            <a:srgbClr val="E6F2F1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29FF2B-89FF-3258-B5E8-94F5C5AEA726}"/>
              </a:ext>
            </a:extLst>
          </p:cNvPr>
          <p:cNvSpPr txBox="1"/>
          <p:nvPr/>
        </p:nvSpPr>
        <p:spPr>
          <a:xfrm>
            <a:off x="3581400" y="3200400"/>
            <a:ext cx="2692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H O G SS I</a:t>
            </a:r>
            <a:endParaRPr lang="ko-KR" altLang="en-US" sz="14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75C088D-ECDC-9F60-216C-6906431AEA2E}"/>
              </a:ext>
            </a:extLst>
          </p:cNvPr>
          <p:cNvSpPr/>
          <p:nvPr/>
        </p:nvSpPr>
        <p:spPr>
          <a:xfrm>
            <a:off x="6324600" y="3060700"/>
            <a:ext cx="2794000" cy="571500"/>
          </a:xfrm>
          <a:prstGeom prst="rect">
            <a:avLst/>
          </a:prstGeom>
          <a:solidFill>
            <a:srgbClr val="E6F2F1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D9F4C-E4D2-D0CC-F220-E8DC178F5313}"/>
              </a:ext>
            </a:extLst>
          </p:cNvPr>
          <p:cNvSpPr txBox="1"/>
          <p:nvPr/>
        </p:nvSpPr>
        <p:spPr>
          <a:xfrm>
            <a:off x="6375400" y="3200400"/>
            <a:ext cx="2692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Y O J M</a:t>
            </a:r>
            <a:endParaRPr lang="ko-KR" altLang="en-US" sz="14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CE9598F-BCF6-FCC6-73ED-1993309D2C69}"/>
              </a:ext>
            </a:extLst>
          </p:cNvPr>
          <p:cNvSpPr/>
          <p:nvPr/>
        </p:nvSpPr>
        <p:spPr>
          <a:xfrm>
            <a:off x="9118600" y="30607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4AE8FFF-4F29-CCB8-FD9F-2F8C60894101}"/>
              </a:ext>
            </a:extLst>
          </p:cNvPr>
          <p:cNvSpPr txBox="1"/>
          <p:nvPr/>
        </p:nvSpPr>
        <p:spPr>
          <a:xfrm>
            <a:off x="685800" y="3873500"/>
            <a:ext cx="1854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1300" b="1">
                <a:solidFill>
                  <a:srgbClr val="1B324D"/>
                </a:solidFill>
                <a:latin typeface="Malgun Gothic" panose="020B0503020000020004" pitchFamily="50" charset="-127"/>
              </a:rPr>
              <a:t>utterance</a:t>
            </a:r>
            <a:endParaRPr lang="ko-KR" altLang="en-US" sz="1300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562EEB0-EE52-6786-D902-CC1EDB36A58B}"/>
              </a:ext>
            </a:extLst>
          </p:cNvPr>
          <p:cNvSpPr/>
          <p:nvPr/>
        </p:nvSpPr>
        <p:spPr>
          <a:xfrm>
            <a:off x="2667000" y="37211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62B19E6-4FBE-E4F6-4635-57AEA12EF5F4}"/>
              </a:ext>
            </a:extLst>
          </p:cNvPr>
          <p:cNvSpPr/>
          <p:nvPr/>
        </p:nvSpPr>
        <p:spPr>
          <a:xfrm>
            <a:off x="3530600" y="3721100"/>
            <a:ext cx="5588000" cy="571500"/>
          </a:xfrm>
          <a:prstGeom prst="rect">
            <a:avLst/>
          </a:prstGeom>
          <a:solidFill>
            <a:srgbClr val="F4F1E8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175134-BFE4-EA1E-4E75-0FA9D03031C7}"/>
              </a:ext>
            </a:extLst>
          </p:cNvPr>
          <p:cNvSpPr txBox="1"/>
          <p:nvPr/>
        </p:nvSpPr>
        <p:spPr>
          <a:xfrm>
            <a:off x="3581400" y="38608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혹시 요즘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4E20980-CF56-9BF3-42F9-3F154BE0CBAB}"/>
              </a:ext>
            </a:extLst>
          </p:cNvPr>
          <p:cNvSpPr/>
          <p:nvPr/>
        </p:nvSpPr>
        <p:spPr>
          <a:xfrm>
            <a:off x="9118600" y="37211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FA6738-C1CB-1B97-3BDC-019FEC3FE6A6}"/>
              </a:ext>
            </a:extLst>
          </p:cNvPr>
          <p:cNvSpPr txBox="1"/>
          <p:nvPr/>
        </p:nvSpPr>
        <p:spPr>
          <a:xfrm>
            <a:off x="685800" y="4533900"/>
            <a:ext cx="1854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1300" b="1">
                <a:solidFill>
                  <a:srgbClr val="1B324D"/>
                </a:solidFill>
                <a:latin typeface="Malgun Gothic" panose="020B0503020000020004" pitchFamily="50" charset="-127"/>
              </a:rPr>
              <a:t>utterance_orth_r</a:t>
            </a:r>
            <a:endParaRPr lang="ko-KR" altLang="en-US" sz="1300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6EEE5661-1C69-2B26-E5DE-E3EE09CF6E70}"/>
              </a:ext>
            </a:extLst>
          </p:cNvPr>
          <p:cNvSpPr/>
          <p:nvPr/>
        </p:nvSpPr>
        <p:spPr>
          <a:xfrm>
            <a:off x="2667000" y="43815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8BC878D-738F-E4A7-9232-EAE11CD7C282}"/>
              </a:ext>
            </a:extLst>
          </p:cNvPr>
          <p:cNvSpPr/>
          <p:nvPr/>
        </p:nvSpPr>
        <p:spPr>
          <a:xfrm>
            <a:off x="3530600" y="4381500"/>
            <a:ext cx="5588000" cy="571500"/>
          </a:xfrm>
          <a:prstGeom prst="rect">
            <a:avLst/>
          </a:prstGeom>
          <a:solidFill>
            <a:srgbClr val="F4F1E8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D092FE-832B-B4C9-E6BA-8D7733A38C9F}"/>
              </a:ext>
            </a:extLst>
          </p:cNvPr>
          <p:cNvSpPr txBox="1"/>
          <p:nvPr/>
        </p:nvSpPr>
        <p:spPr>
          <a:xfrm>
            <a:off x="3581400" y="45212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pt-BR" altLang="ko-KR" sz="1200">
                <a:solidFill>
                  <a:srgbClr val="222A34"/>
                </a:solidFill>
                <a:latin typeface="Malgun Gothic" panose="020B0503020000020004" pitchFamily="50" charset="-127"/>
              </a:rPr>
              <a:t>H O k _ SS I | Y O _ J EU m</a:t>
            </a:r>
            <a:endParaRPr lang="ko-KR" altLang="en-US" sz="12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1CC4183-36C4-5312-0373-491214B78044}"/>
              </a:ext>
            </a:extLst>
          </p:cNvPr>
          <p:cNvSpPr/>
          <p:nvPr/>
        </p:nvSpPr>
        <p:spPr>
          <a:xfrm>
            <a:off x="9118600" y="43815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4098FD6-9FFC-3EF7-2057-007689ADDF64}"/>
              </a:ext>
            </a:extLst>
          </p:cNvPr>
          <p:cNvSpPr txBox="1"/>
          <p:nvPr/>
        </p:nvSpPr>
        <p:spPr>
          <a:xfrm>
            <a:off x="685800" y="5194300"/>
            <a:ext cx="1854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1300" b="1">
                <a:solidFill>
                  <a:srgbClr val="1B324D"/>
                </a:solidFill>
                <a:latin typeface="Malgun Gothic" panose="020B0503020000020004" pitchFamily="50" charset="-127"/>
              </a:rPr>
              <a:t>morph_analysis_utt</a:t>
            </a:r>
            <a:endParaRPr lang="ko-KR" altLang="en-US" sz="1300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03A1F43-EF37-F65F-3DA0-D15D20D75293}"/>
              </a:ext>
            </a:extLst>
          </p:cNvPr>
          <p:cNvSpPr/>
          <p:nvPr/>
        </p:nvSpPr>
        <p:spPr>
          <a:xfrm>
            <a:off x="2667000" y="50419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CC548FB-3432-8D25-A340-F7B473DB06E2}"/>
              </a:ext>
            </a:extLst>
          </p:cNvPr>
          <p:cNvSpPr/>
          <p:nvPr/>
        </p:nvSpPr>
        <p:spPr>
          <a:xfrm>
            <a:off x="3530600" y="5041900"/>
            <a:ext cx="5588000" cy="571500"/>
          </a:xfrm>
          <a:prstGeom prst="rect">
            <a:avLst/>
          </a:prstGeom>
          <a:solidFill>
            <a:srgbClr val="F4F1E8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DDA270D-970F-5C93-F1A3-83DA9FAC0BC6}"/>
              </a:ext>
            </a:extLst>
          </p:cNvPr>
          <p:cNvSpPr txBox="1"/>
          <p:nvPr/>
        </p:nvSpPr>
        <p:spPr>
          <a:xfrm>
            <a:off x="3581400" y="51816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혹시</a:t>
            </a:r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/MAG | </a:t>
            </a:r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요즘</a:t>
            </a:r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/NNG</a:t>
            </a:r>
            <a:endParaRPr lang="ko-KR" altLang="en-US" sz="14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159509D4-943C-3333-DB36-0BC02B5107DB}"/>
              </a:ext>
            </a:extLst>
          </p:cNvPr>
          <p:cNvSpPr/>
          <p:nvPr/>
        </p:nvSpPr>
        <p:spPr>
          <a:xfrm>
            <a:off x="9118600" y="5041900"/>
            <a:ext cx="863600" cy="571500"/>
          </a:xfrm>
          <a:prstGeom prst="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08CC565-C726-156F-547B-EE8BDF39AF2A}"/>
              </a:ext>
            </a:extLst>
          </p:cNvPr>
          <p:cNvSpPr/>
          <p:nvPr/>
        </p:nvSpPr>
        <p:spPr>
          <a:xfrm>
            <a:off x="2540000" y="5765800"/>
            <a:ext cx="406400" cy="292100"/>
          </a:xfrm>
          <a:prstGeom prst="roundRect">
            <a:avLst/>
          </a:prstGeom>
          <a:solidFill>
            <a:srgbClr val="1B324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5AC9A0-53BB-9A4A-2DFD-77CABB5B0803}"/>
              </a:ext>
            </a:extLst>
          </p:cNvPr>
          <p:cNvSpPr txBox="1"/>
          <p:nvPr/>
        </p:nvSpPr>
        <p:spPr>
          <a:xfrm>
            <a:off x="2540000" y="5778500"/>
            <a:ext cx="4064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0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D3C1A66C-19D2-52D5-8D64-EB1C969B1F36}"/>
              </a:ext>
            </a:extLst>
          </p:cNvPr>
          <p:cNvSpPr/>
          <p:nvPr/>
        </p:nvSpPr>
        <p:spPr>
          <a:xfrm>
            <a:off x="9740900" y="5765800"/>
            <a:ext cx="711200" cy="292100"/>
          </a:xfrm>
          <a:prstGeom prst="roundRect">
            <a:avLst/>
          </a:prstGeom>
          <a:solidFill>
            <a:srgbClr val="1B324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8073AD-12A0-5F3B-940E-F6F7D471ACB1}"/>
              </a:ext>
            </a:extLst>
          </p:cNvPr>
          <p:cNvSpPr txBox="1"/>
          <p:nvPr/>
        </p:nvSpPr>
        <p:spPr>
          <a:xfrm>
            <a:off x="9740900" y="5778500"/>
            <a:ext cx="7112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xmax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68848C7-6691-DB54-37F0-698ACBCB8699}"/>
              </a:ext>
            </a:extLst>
          </p:cNvPr>
          <p:cNvSpPr txBox="1"/>
          <p:nvPr/>
        </p:nvSpPr>
        <p:spPr>
          <a:xfrm>
            <a:off x="3175000" y="5778500"/>
            <a:ext cx="635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모든 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tier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는 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0–xmax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를 연속 커버한다 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형태소는 추정 시간분할하지 않는다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1D93F8A9-E8D3-EDA0-9E6A-F7F726915F1E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8F4900E-A222-EE8B-8C4B-64F9806651D1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B1250E-2962-325E-2009-90C0AF516D3E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06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6714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CE503A-1B35-8655-0161-A8C3677CC2EE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06 · TextGrid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와 동반표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1BDF1B-1906-FEA3-7543-911B65519FF9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5.1M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개별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CSV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대신 연도별 정본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4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종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후보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bundle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파생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70E9647-FC10-27DC-2DA7-75B6B1A92C84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3D9E8378-F021-DDB8-D3D1-559339EF6CE8}"/>
              </a:ext>
            </a:extLst>
          </p:cNvPr>
          <p:cNvCxnSpPr/>
          <p:nvPr/>
        </p:nvCxnSpPr>
        <p:spPr>
          <a:xfrm>
            <a:off x="6096000" y="1803400"/>
            <a:ext cx="0" cy="3721100"/>
          </a:xfrm>
          <a:prstGeom prst="line">
            <a:avLst/>
          </a:prstGeom>
          <a:ln w="50800">
            <a:solidFill>
              <a:srgbClr val="CD5C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DABEFBA-92EE-20E2-D67E-9E15ADD20703}"/>
              </a:ext>
            </a:extLst>
          </p:cNvPr>
          <p:cNvSpPr/>
          <p:nvPr/>
        </p:nvSpPr>
        <p:spPr>
          <a:xfrm>
            <a:off x="5562600" y="1600200"/>
            <a:ext cx="1066800" cy="381000"/>
          </a:xfrm>
          <a:prstGeom prst="round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02888-E62C-CCA1-BC28-B386E734B70F}"/>
              </a:ext>
            </a:extLst>
          </p:cNvPr>
          <p:cNvSpPr txBox="1"/>
          <p:nvPr/>
        </p:nvSpPr>
        <p:spPr>
          <a:xfrm>
            <a:off x="5562600" y="1612900"/>
            <a:ext cx="10668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utt_id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7361077-2F0E-E7AE-F685-C74C360D8863}"/>
              </a:ext>
            </a:extLst>
          </p:cNvPr>
          <p:cNvSpPr/>
          <p:nvPr/>
        </p:nvSpPr>
        <p:spPr>
          <a:xfrm>
            <a:off x="889000" y="2222500"/>
            <a:ext cx="4191000" cy="12192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5AECC2-6BEB-8A78-7D6F-64AEBAC4B703}"/>
              </a:ext>
            </a:extLst>
          </p:cNvPr>
          <p:cNvSpPr txBox="1"/>
          <p:nvPr/>
        </p:nvSpPr>
        <p:spPr>
          <a:xfrm>
            <a:off x="1143000" y="2425700"/>
            <a:ext cx="36830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utterance_alignment</a:t>
            </a:r>
            <a:endParaRPr lang="ko-KR" altLang="en-US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2DF95A-93BF-1CC6-22C4-716C81DAC50B}"/>
              </a:ext>
            </a:extLst>
          </p:cNvPr>
          <p:cNvSpPr txBox="1"/>
          <p:nvPr/>
        </p:nvSpPr>
        <p:spPr>
          <a:xfrm>
            <a:off x="1143000" y="2832100"/>
            <a:ext cx="3683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행 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= 1 TextGrid</a:t>
            </a:r>
          </a:p>
          <a:p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화자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대화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·reference·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계약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15E1651-8AC7-27B6-541D-B13A7543C938}"/>
              </a:ext>
            </a:extLst>
          </p:cNvPr>
          <p:cNvCxnSpPr/>
          <p:nvPr/>
        </p:nvCxnSpPr>
        <p:spPr>
          <a:xfrm>
            <a:off x="5080000" y="2832100"/>
            <a:ext cx="965200" cy="0"/>
          </a:xfrm>
          <a:prstGeom prst="line">
            <a:avLst/>
          </a:prstGeom>
          <a:ln w="20320">
            <a:solidFill>
              <a:srgbClr val="B1BBC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6262759-FC84-DA1F-A0A8-9CAB0BB26C80}"/>
              </a:ext>
            </a:extLst>
          </p:cNvPr>
          <p:cNvSpPr/>
          <p:nvPr/>
        </p:nvSpPr>
        <p:spPr>
          <a:xfrm>
            <a:off x="7112000" y="2222500"/>
            <a:ext cx="4191000" cy="12192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7E21AF-EF4F-3F2A-2552-9ACDD328B2E8}"/>
              </a:ext>
            </a:extLst>
          </p:cNvPr>
          <p:cNvSpPr txBox="1"/>
          <p:nvPr/>
        </p:nvSpPr>
        <p:spPr>
          <a:xfrm>
            <a:off x="7366000" y="2425700"/>
            <a:ext cx="36830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phone_intervals_mfa</a:t>
            </a:r>
            <a:endParaRPr lang="ko-KR" altLang="en-US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9952A9-5828-DD1F-2FAF-450C2D7A353E}"/>
              </a:ext>
            </a:extLst>
          </p:cNvPr>
          <p:cNvSpPr txBox="1"/>
          <p:nvPr/>
        </p:nvSpPr>
        <p:spPr>
          <a:xfrm>
            <a:off x="7366000" y="2832100"/>
            <a:ext cx="3683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행 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= 1 phone interval</a:t>
            </a:r>
          </a:p>
          <a:p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IPA·broad Roman·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시간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581AA5F-6528-FAFE-886F-EB5A22F1C6FD}"/>
              </a:ext>
            </a:extLst>
          </p:cNvPr>
          <p:cNvCxnSpPr/>
          <p:nvPr/>
        </p:nvCxnSpPr>
        <p:spPr>
          <a:xfrm>
            <a:off x="6146800" y="2832100"/>
            <a:ext cx="965200" cy="0"/>
          </a:xfrm>
          <a:prstGeom prst="line">
            <a:avLst/>
          </a:prstGeom>
          <a:ln w="20320">
            <a:solidFill>
              <a:srgbClr val="B1BBC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78B19B7-DC12-18FB-8035-BB3DBE8DBB84}"/>
              </a:ext>
            </a:extLst>
          </p:cNvPr>
          <p:cNvSpPr/>
          <p:nvPr/>
        </p:nvSpPr>
        <p:spPr>
          <a:xfrm>
            <a:off x="889000" y="3898900"/>
            <a:ext cx="4191000" cy="12192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D17C01-EB86-ECE2-4D3D-A4D88D09DBA4}"/>
              </a:ext>
            </a:extLst>
          </p:cNvPr>
          <p:cNvSpPr txBox="1"/>
          <p:nvPr/>
        </p:nvSpPr>
        <p:spPr>
          <a:xfrm>
            <a:off x="1143000" y="4102100"/>
            <a:ext cx="36830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word_intervals_mfa</a:t>
            </a:r>
            <a:endParaRPr lang="ko-KR" altLang="en-US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39DCE74-62EB-09BB-06DB-6D2DBE9DBCC0}"/>
              </a:ext>
            </a:extLst>
          </p:cNvPr>
          <p:cNvSpPr txBox="1"/>
          <p:nvPr/>
        </p:nvSpPr>
        <p:spPr>
          <a:xfrm>
            <a:off x="1143000" y="4508500"/>
            <a:ext cx="3683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행 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= 1 word interval</a:t>
            </a:r>
          </a:p>
          <a:p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reference·lab word·phone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열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C35F9989-F1FC-7460-41E5-C456ED169CCF}"/>
              </a:ext>
            </a:extLst>
          </p:cNvPr>
          <p:cNvCxnSpPr/>
          <p:nvPr/>
        </p:nvCxnSpPr>
        <p:spPr>
          <a:xfrm>
            <a:off x="5080000" y="4508500"/>
            <a:ext cx="965200" cy="0"/>
          </a:xfrm>
          <a:prstGeom prst="line">
            <a:avLst/>
          </a:prstGeom>
          <a:ln w="20320">
            <a:solidFill>
              <a:srgbClr val="B1BBC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68DE0889-19C4-A6F6-B912-03862E9CC020}"/>
              </a:ext>
            </a:extLst>
          </p:cNvPr>
          <p:cNvSpPr/>
          <p:nvPr/>
        </p:nvSpPr>
        <p:spPr>
          <a:xfrm>
            <a:off x="7112000" y="3898900"/>
            <a:ext cx="4191000" cy="1219200"/>
          </a:xfrm>
          <a:prstGeom prst="roundRect">
            <a:avLst/>
          </a:prstGeom>
          <a:solidFill>
            <a:srgbClr val="F8E8E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A9110C-A4AF-1467-51E5-479303C0C309}"/>
              </a:ext>
            </a:extLst>
          </p:cNvPr>
          <p:cNvSpPr txBox="1"/>
          <p:nvPr/>
        </p:nvSpPr>
        <p:spPr>
          <a:xfrm>
            <a:off x="7366000" y="4102100"/>
            <a:ext cx="36830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CD5C46"/>
                </a:solidFill>
                <a:latin typeface="Malgun Gothic" panose="020B0503020000020004" pitchFamily="50" charset="-127"/>
              </a:rPr>
              <a:t>excluded_utterances</a:t>
            </a:r>
            <a:endParaRPr lang="ko-KR" altLang="en-US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CC5E42-50F8-7604-AE26-B503AC95966E}"/>
              </a:ext>
            </a:extLst>
          </p:cNvPr>
          <p:cNvSpPr txBox="1"/>
          <p:nvPr/>
        </p:nvSpPr>
        <p:spPr>
          <a:xfrm>
            <a:off x="7366000" y="4508500"/>
            <a:ext cx="3683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행 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= 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승인 제외 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건</a:t>
            </a:r>
          </a:p>
          <a:p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사유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증거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계약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존재 여부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522ACA3F-607F-33FB-B0B8-EC8D2352DF58}"/>
              </a:ext>
            </a:extLst>
          </p:cNvPr>
          <p:cNvCxnSpPr/>
          <p:nvPr/>
        </p:nvCxnSpPr>
        <p:spPr>
          <a:xfrm>
            <a:off x="6146800" y="4508500"/>
            <a:ext cx="965200" cy="0"/>
          </a:xfrm>
          <a:prstGeom prst="line">
            <a:avLst/>
          </a:prstGeom>
          <a:ln w="20320">
            <a:solidFill>
              <a:srgbClr val="B1BBC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E9F5C0E-8188-8E18-2945-AD356C4416CF}"/>
              </a:ext>
            </a:extLst>
          </p:cNvPr>
          <p:cNvSpPr txBox="1"/>
          <p:nvPr/>
        </p:nvSpPr>
        <p:spPr>
          <a:xfrm>
            <a:off x="1498600" y="5562600"/>
            <a:ext cx="919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600" b="1">
                <a:solidFill>
                  <a:srgbClr val="1B7E84"/>
                </a:solidFill>
                <a:latin typeface="Malgun Gothic" panose="020B0503020000020004" pitchFamily="50" charset="-127"/>
              </a:rPr>
              <a:t>gzip CSV = </a:t>
            </a:r>
            <a:r>
              <a:rPr lang="ko-KR" altLang="en-US" sz="1600" b="1">
                <a:solidFill>
                  <a:srgbClr val="1B7E84"/>
                </a:solidFill>
                <a:latin typeface="Malgun Gothic" panose="020B0503020000020004" pitchFamily="50" charset="-127"/>
              </a:rPr>
              <a:t>감사</a:t>
            </a:r>
            <a:r>
              <a:rPr lang="en-US" altLang="ko-KR" sz="1600" b="1">
                <a:solidFill>
                  <a:srgbClr val="1B7E8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 b="1">
                <a:solidFill>
                  <a:srgbClr val="1B7E84"/>
                </a:solidFill>
                <a:latin typeface="Malgun Gothic" panose="020B0503020000020004" pitchFamily="50" charset="-127"/>
              </a:rPr>
              <a:t>보존 정본   </a:t>
            </a:r>
            <a:r>
              <a:rPr lang="en-US" altLang="ko-KR" sz="1600" b="1">
                <a:solidFill>
                  <a:srgbClr val="1B7E84"/>
                </a:solidFill>
                <a:latin typeface="Malgun Gothic" panose="020B0503020000020004" pitchFamily="50" charset="-127"/>
              </a:rPr>
              <a:t>·   Parquet = DuckDB/R/Python </a:t>
            </a:r>
            <a:r>
              <a:rPr lang="ko-KR" altLang="en-US" sz="1600" b="1">
                <a:solidFill>
                  <a:srgbClr val="1B7E84"/>
                </a:solidFill>
                <a:latin typeface="Malgun Gothic" panose="020B0503020000020004" pitchFamily="50" charset="-127"/>
              </a:rPr>
              <a:t>검색 미러</a:t>
            </a: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A004DA20-B9D8-BA2C-FCAF-96F87FD3220F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E6E2C14-312C-BA25-EF19-F2D558295B2C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207B4CF-FAA6-ABB4-526C-FCF51FD6AE0D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07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2811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936F5F-C296-710C-4DDF-9529C23F3676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07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검색 표기와 좌표계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885AA4-8188-D387-69B9-54B307FB528E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분절음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음절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형태소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어절을 같은 구분자로 뭉개지 않는다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4795E93-C2F1-BC6B-7242-295EB6CBCEB9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0928FE3-9069-186B-D85B-FB213AA5641A}"/>
              </a:ext>
            </a:extLst>
          </p:cNvPr>
          <p:cNvSpPr/>
          <p:nvPr/>
        </p:nvSpPr>
        <p:spPr>
          <a:xfrm>
            <a:off x="685800" y="1663700"/>
            <a:ext cx="10820400" cy="1168400"/>
          </a:xfrm>
          <a:prstGeom prst="roundRect">
            <a:avLst/>
          </a:prstGeom>
          <a:solidFill>
            <a:srgbClr val="1B324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579DB2-D66D-F2C1-8BFB-FF520BE2458F}"/>
              </a:ext>
            </a:extLst>
          </p:cNvPr>
          <p:cNvSpPr txBox="1"/>
          <p:nvPr/>
        </p:nvSpPr>
        <p:spPr>
          <a:xfrm>
            <a:off x="965200" y="1892300"/>
            <a:ext cx="167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 b="1">
                <a:solidFill>
                  <a:srgbClr val="48A5A5"/>
                </a:solidFill>
                <a:latin typeface="Malgun Gothic" panose="020B0503020000020004" pitchFamily="50" charset="-127"/>
              </a:rPr>
              <a:t>철자 </a:t>
            </a:r>
            <a:r>
              <a:rPr lang="en-US" altLang="ko-KR" sz="1300" b="1">
                <a:solidFill>
                  <a:srgbClr val="48A5A5"/>
                </a:solidFill>
                <a:latin typeface="Malgun Gothic" panose="020B0503020000020004" pitchFamily="50" charset="-127"/>
              </a:rPr>
              <a:t>Roman</a:t>
            </a:r>
            <a:endParaRPr lang="ko-KR" altLang="en-US" sz="1300" b="1">
              <a:solidFill>
                <a:srgbClr val="48A5A5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BBB38-16FE-5EA6-BBE3-8B313AECF728}"/>
              </a:ext>
            </a:extLst>
          </p:cNvPr>
          <p:cNvSpPr txBox="1"/>
          <p:nvPr/>
        </p:nvSpPr>
        <p:spPr>
          <a:xfrm>
            <a:off x="2895600" y="1841500"/>
            <a:ext cx="7747000" cy="393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300" b="1">
                <a:solidFill>
                  <a:srgbClr val="FFFFFF"/>
                </a:solidFill>
                <a:latin typeface="Malgun Gothic" panose="020B0503020000020004" pitchFamily="50" charset="-127"/>
              </a:rPr>
              <a:t>2</a:t>
            </a:r>
            <a:r>
              <a:rPr lang="ko-KR" altLang="en-US" sz="2300" b="1">
                <a:solidFill>
                  <a:srgbClr val="FFFFFF"/>
                </a:solidFill>
                <a:latin typeface="Malgun Gothic" panose="020B0503020000020004" pitchFamily="50" charset="-127"/>
              </a:rPr>
              <a:t>사람이  →  </a:t>
            </a:r>
            <a:r>
              <a:rPr lang="en-US" altLang="ko-KR" sz="2300" b="1">
                <a:solidFill>
                  <a:srgbClr val="FFFFFF"/>
                </a:solidFill>
                <a:latin typeface="Malgun Gothic" panose="020B0503020000020004" pitchFamily="50" charset="-127"/>
              </a:rPr>
              <a:t>⟨2⟩ _ S A _ R A m _ I</a:t>
            </a:r>
            <a:endParaRPr lang="ko-KR" altLang="en-US" sz="2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AA5A90-0019-DB24-F625-9B63E1F4481E}"/>
              </a:ext>
            </a:extLst>
          </p:cNvPr>
          <p:cNvSpPr txBox="1"/>
          <p:nvPr/>
        </p:nvSpPr>
        <p:spPr>
          <a:xfrm>
            <a:off x="2895600" y="2336800"/>
            <a:ext cx="7747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>
                <a:solidFill>
                  <a:srgbClr val="CDDADD"/>
                </a:solidFill>
                <a:latin typeface="Malgun Gothic" panose="020B0503020000020004" pitchFamily="50" charset="-127"/>
              </a:rPr>
              <a:t>비한글은 </a:t>
            </a:r>
            <a:r>
              <a:rPr lang="en-US" altLang="ko-KR" sz="1300">
                <a:solidFill>
                  <a:srgbClr val="CDDADD"/>
                </a:solidFill>
                <a:latin typeface="Malgun Gothic" panose="020B0503020000020004" pitchFamily="50" charset="-127"/>
              </a:rPr>
              <a:t>literal, </a:t>
            </a:r>
            <a:r>
              <a:rPr lang="ko-KR" altLang="en-US" sz="1300">
                <a:solidFill>
                  <a:srgbClr val="CDDADD"/>
                </a:solidFill>
                <a:latin typeface="Malgun Gothic" panose="020B0503020000020004" pitchFamily="50" charset="-127"/>
              </a:rPr>
              <a:t>음절 내부는 </a:t>
            </a:r>
            <a:r>
              <a:rPr lang="en-US" altLang="ko-KR" sz="1300">
                <a:solidFill>
                  <a:srgbClr val="CDDADD"/>
                </a:solidFill>
                <a:latin typeface="Malgun Gothic" panose="020B0503020000020004" pitchFamily="50" charset="-127"/>
              </a:rPr>
              <a:t>_, </a:t>
            </a:r>
            <a:r>
              <a:rPr lang="ko-KR" altLang="en-US" sz="1300">
                <a:solidFill>
                  <a:srgbClr val="CDDADD"/>
                </a:solidFill>
                <a:latin typeface="Malgun Gothic" panose="020B0503020000020004" pitchFamily="50" charset="-127"/>
              </a:rPr>
              <a:t>어절은 </a:t>
            </a:r>
            <a:r>
              <a:rPr lang="en-US" altLang="ko-KR" sz="1300">
                <a:solidFill>
                  <a:srgbClr val="CDDADD"/>
                </a:solidFill>
                <a:latin typeface="Malgun Gothic" panose="020B0503020000020004" pitchFamily="50" charset="-127"/>
              </a:rPr>
              <a:t>| — </a:t>
            </a:r>
            <a:r>
              <a:rPr lang="ko-KR" altLang="en-US" sz="1300">
                <a:solidFill>
                  <a:srgbClr val="CDDADD"/>
                </a:solidFill>
                <a:latin typeface="Malgun Gothic" panose="020B0503020000020004" pitchFamily="50" charset="-127"/>
              </a:rPr>
              <a:t>발음 추정이 아니라 검색용 전자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6FBC39-77C0-CC16-452D-5DE60C27CBBC}"/>
              </a:ext>
            </a:extLst>
          </p:cNvPr>
          <p:cNvSpPr txBox="1"/>
          <p:nvPr/>
        </p:nvSpPr>
        <p:spPr>
          <a:xfrm>
            <a:off x="838200" y="3213100"/>
            <a:ext cx="14224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1B7E84"/>
                </a:solidFill>
                <a:latin typeface="Malgun Gothic" panose="020B0503020000020004" pitchFamily="50" charset="-127"/>
              </a:rPr>
              <a:t>형태소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2A14F7-B787-4DCA-AC0A-A0B3CF98CE4F}"/>
              </a:ext>
            </a:extLst>
          </p:cNvPr>
          <p:cNvSpPr txBox="1"/>
          <p:nvPr/>
        </p:nvSpPr>
        <p:spPr>
          <a:xfrm>
            <a:off x="2336800" y="3162300"/>
            <a:ext cx="4445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000" b="1">
                <a:solidFill>
                  <a:srgbClr val="222A34"/>
                </a:solidFill>
                <a:latin typeface="Malgun Gothic" panose="020B0503020000020004" pitchFamily="50" charset="-127"/>
              </a:rPr>
              <a:t>혹시</a:t>
            </a:r>
            <a:r>
              <a:rPr lang="en-US" altLang="ko-KR" sz="2000" b="1">
                <a:solidFill>
                  <a:srgbClr val="222A34"/>
                </a:solidFill>
                <a:latin typeface="Malgun Gothic" panose="020B0503020000020004" pitchFamily="50" charset="-127"/>
              </a:rPr>
              <a:t>/MAG | </a:t>
            </a:r>
            <a:r>
              <a:rPr lang="ko-KR" altLang="en-US" sz="2000" b="1">
                <a:solidFill>
                  <a:srgbClr val="222A34"/>
                </a:solidFill>
                <a:latin typeface="Malgun Gothic" panose="020B0503020000020004" pitchFamily="50" charset="-127"/>
              </a:rPr>
              <a:t>요즘</a:t>
            </a:r>
            <a:r>
              <a:rPr lang="en-US" altLang="ko-KR" sz="2000" b="1">
                <a:solidFill>
                  <a:srgbClr val="222A34"/>
                </a:solidFill>
                <a:latin typeface="Malgun Gothic" panose="020B0503020000020004" pitchFamily="50" charset="-127"/>
              </a:rPr>
              <a:t>/NNG</a:t>
            </a:r>
            <a:endParaRPr lang="ko-KR" altLang="en-US" sz="2000" b="1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8DAA01-07FA-A9A1-9C49-CB89F2FD4BD7}"/>
              </a:ext>
            </a:extLst>
          </p:cNvPr>
          <p:cNvSpPr txBox="1"/>
          <p:nvPr/>
        </p:nvSpPr>
        <p:spPr>
          <a:xfrm>
            <a:off x="6908800" y="3200400"/>
            <a:ext cx="4191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400">
                <a:solidFill>
                  <a:srgbClr val="636D77"/>
                </a:solidFill>
                <a:latin typeface="Malgun Gothic" panose="020B0503020000020004" pitchFamily="50" charset="-127"/>
              </a:rPr>
              <a:t>형태소 경계는 </a:t>
            </a:r>
            <a:r>
              <a:rPr lang="en-US" altLang="ko-KR" sz="1400">
                <a:solidFill>
                  <a:srgbClr val="636D77"/>
                </a:solidFill>
                <a:latin typeface="Malgun Gothic" panose="020B0503020000020004" pitchFamily="50" charset="-127"/>
              </a:rPr>
              <a:t>CSV/Parquet</a:t>
            </a:r>
            <a:r>
              <a:rPr lang="ko-KR" altLang="en-US" sz="1400">
                <a:solidFill>
                  <a:srgbClr val="636D77"/>
                </a:solidFill>
                <a:latin typeface="Malgun Gothic" panose="020B0503020000020004" pitchFamily="50" charset="-127"/>
              </a:rPr>
              <a:t>에서 위치 검색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6768ACE-F6AA-1BDC-C910-2E984A471BDB}"/>
              </a:ext>
            </a:extLst>
          </p:cNvPr>
          <p:cNvCxnSpPr/>
          <p:nvPr/>
        </p:nvCxnSpPr>
        <p:spPr>
          <a:xfrm>
            <a:off x="685800" y="3721100"/>
            <a:ext cx="10820400" cy="0"/>
          </a:xfrm>
          <a:prstGeom prst="line">
            <a:avLst/>
          </a:prstGeom>
          <a:ln w="1270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61E8211-718A-F0C5-4A03-331C5BD93DE7}"/>
              </a:ext>
            </a:extLst>
          </p:cNvPr>
          <p:cNvSpPr txBox="1"/>
          <p:nvPr/>
        </p:nvSpPr>
        <p:spPr>
          <a:xfrm>
            <a:off x="838200" y="4025900"/>
            <a:ext cx="14224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CD5C46"/>
                </a:solidFill>
                <a:latin typeface="Malgun Gothic" panose="020B0503020000020004" pitchFamily="50" charset="-127"/>
              </a:rPr>
              <a:t>좌표계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6E2B304-989F-AE4F-AE60-9588C9471D9D}"/>
              </a:ext>
            </a:extLst>
          </p:cNvPr>
          <p:cNvSpPr/>
          <p:nvPr/>
        </p:nvSpPr>
        <p:spPr>
          <a:xfrm>
            <a:off x="2336800" y="3975100"/>
            <a:ext cx="1968500" cy="381000"/>
          </a:xfrm>
          <a:prstGeom prst="roundRect">
            <a:avLst/>
          </a:prstGeom>
          <a:solidFill>
            <a:srgbClr val="26436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A94A5C-F3FA-A3D3-A325-870E27D0DFCC}"/>
              </a:ext>
            </a:extLst>
          </p:cNvPr>
          <p:cNvSpPr txBox="1"/>
          <p:nvPr/>
        </p:nvSpPr>
        <p:spPr>
          <a:xfrm>
            <a:off x="2336800" y="3987800"/>
            <a:ext cx="1968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eojeol_idx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6917E3A-A596-1066-AC6A-65855E905040}"/>
              </a:ext>
            </a:extLst>
          </p:cNvPr>
          <p:cNvSpPr/>
          <p:nvPr/>
        </p:nvSpPr>
        <p:spPr>
          <a:xfrm>
            <a:off x="4495800" y="3975100"/>
            <a:ext cx="1968500" cy="381000"/>
          </a:xfrm>
          <a:prstGeom prst="roundRect">
            <a:avLst/>
          </a:prstGeom>
          <a:solidFill>
            <a:srgbClr val="26436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D2AF1-3177-D081-5E44-06066E3BCD6A}"/>
              </a:ext>
            </a:extLst>
          </p:cNvPr>
          <p:cNvSpPr txBox="1"/>
          <p:nvPr/>
        </p:nvSpPr>
        <p:spPr>
          <a:xfrm>
            <a:off x="4495800" y="3987800"/>
            <a:ext cx="1968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reference_eojeol_idx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75EC38F-137A-3EE7-82DE-0E41B02F76EE}"/>
              </a:ext>
            </a:extLst>
          </p:cNvPr>
          <p:cNvSpPr/>
          <p:nvPr/>
        </p:nvSpPr>
        <p:spPr>
          <a:xfrm>
            <a:off x="6654800" y="3975100"/>
            <a:ext cx="1968500" cy="381000"/>
          </a:xfrm>
          <a:prstGeom prst="round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E2186-2BA1-3C12-7685-E5F2D15905A6}"/>
              </a:ext>
            </a:extLst>
          </p:cNvPr>
          <p:cNvSpPr txBox="1"/>
          <p:nvPr/>
        </p:nvSpPr>
        <p:spPr>
          <a:xfrm>
            <a:off x="6654800" y="3987800"/>
            <a:ext cx="1968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mfa_word_idx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E1E4D4F-6CC6-9347-BF7E-6A0F40C180F6}"/>
              </a:ext>
            </a:extLst>
          </p:cNvPr>
          <p:cNvSpPr/>
          <p:nvPr/>
        </p:nvSpPr>
        <p:spPr>
          <a:xfrm>
            <a:off x="8813800" y="3975100"/>
            <a:ext cx="1968500" cy="381000"/>
          </a:xfrm>
          <a:prstGeom prst="round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4A066B-38E4-2DD5-9DFF-F61893A5D32A}"/>
              </a:ext>
            </a:extLst>
          </p:cNvPr>
          <p:cNvSpPr txBox="1"/>
          <p:nvPr/>
        </p:nvSpPr>
        <p:spPr>
          <a:xfrm>
            <a:off x="8813800" y="3987800"/>
            <a:ext cx="1968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phone_interval_idx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B7CE16-B225-F312-524B-41093BAAEC76}"/>
              </a:ext>
            </a:extLst>
          </p:cNvPr>
          <p:cNvSpPr txBox="1"/>
          <p:nvPr/>
        </p:nvSpPr>
        <p:spPr>
          <a:xfrm>
            <a:off x="2336800" y="4597400"/>
            <a:ext cx="8813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원 형태소 어절 ≠ </a:t>
            </a:r>
            <a:r>
              <a:rPr lang="en-US" altLang="ko-KR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MFA reference </a:t>
            </a:r>
            <a:r>
              <a:rPr lang="ko-KR" altLang="en-US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어절일 수 있다</a:t>
            </a:r>
            <a:r>
              <a:rPr lang="en-US" altLang="ko-KR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다름 자체를 </a:t>
            </a:r>
            <a:r>
              <a:rPr lang="en-US" altLang="ko-KR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provenance</a:t>
            </a:r>
            <a:r>
              <a:rPr lang="ko-KR" altLang="en-US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로 보존한다</a:t>
            </a:r>
            <a:r>
              <a:rPr lang="en-US" altLang="ko-KR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.</a:t>
            </a:r>
            <a:endParaRPr lang="ko-KR" altLang="en-US" sz="1600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ECB7BE4-1B20-142E-5294-6758D5B15AF5}"/>
              </a:ext>
            </a:extLst>
          </p:cNvPr>
          <p:cNvSpPr/>
          <p:nvPr/>
        </p:nvSpPr>
        <p:spPr>
          <a:xfrm>
            <a:off x="685800" y="5207000"/>
            <a:ext cx="10820400" cy="698500"/>
          </a:xfrm>
          <a:prstGeom prst="roundRect">
            <a:avLst/>
          </a:prstGeom>
          <a:solidFill>
            <a:srgbClr val="F8E8E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2DED1F-2861-649C-4D0F-C9019A76D327}"/>
              </a:ext>
            </a:extLst>
          </p:cNvPr>
          <p:cNvSpPr txBox="1"/>
          <p:nvPr/>
        </p:nvSpPr>
        <p:spPr>
          <a:xfrm>
            <a:off x="939800" y="5422900"/>
            <a:ext cx="102870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검색 주의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: Roman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은 대소문자 구분 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— k/p/t(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종성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와 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K/P/T(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격음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를 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case-insensitive</a:t>
            </a:r>
            <a:r>
              <a:rPr lang="ko-KR" altLang="en-US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로 합치지 않는다</a:t>
            </a:r>
            <a:r>
              <a:rPr lang="en-US" altLang="ko-KR" sz="1400" b="1">
                <a:solidFill>
                  <a:srgbClr val="CD5C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400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FCACE9B1-D0D0-A002-0B62-F737A2FF74FE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FD3700-BB56-D2B5-E985-EA7F09EF14F8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45569-1469-910A-80AF-46C383B612F2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08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9267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AF42B3-F732-8721-7A03-70F39EF33A8D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08 · phone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의 해석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7369E-6D89-832B-D9EB-A06E82237AE1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“정렬된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phone”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과 “실제로 들린 분절”은 같은 말이 아니다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6D39D28-AB3E-6E47-7C65-36FC57B541A6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A80F221-A43D-B100-9A3C-60B2E9BA6573}"/>
              </a:ext>
            </a:extLst>
          </p:cNvPr>
          <p:cNvSpPr/>
          <p:nvPr/>
        </p:nvSpPr>
        <p:spPr>
          <a:xfrm>
            <a:off x="685800" y="1714500"/>
            <a:ext cx="5080000" cy="36322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E0255-60E4-520B-F6FB-2BA953CC858F}"/>
              </a:ext>
            </a:extLst>
          </p:cNvPr>
          <p:cNvSpPr txBox="1"/>
          <p:nvPr/>
        </p:nvSpPr>
        <p:spPr>
          <a:xfrm>
            <a:off x="990600" y="2006600"/>
            <a:ext cx="4318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000" b="1">
                <a:solidFill>
                  <a:srgbClr val="1B7E84"/>
                </a:solidFill>
                <a:latin typeface="Malgun Gothic" panose="020B0503020000020004" pitchFamily="50" charset="-127"/>
              </a:rPr>
              <a:t>MFA</a:t>
            </a:r>
            <a:r>
              <a:rPr lang="ko-KR" altLang="en-US" sz="2000" b="1">
                <a:solidFill>
                  <a:srgbClr val="1B7E84"/>
                </a:solidFill>
                <a:latin typeface="Malgun Gothic" panose="020B0503020000020004" pitchFamily="50" charset="-127"/>
              </a:rPr>
              <a:t>가 제공하는 것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6A22C0-18BD-C744-ED87-C25438D6FA73}"/>
              </a:ext>
            </a:extLst>
          </p:cNvPr>
          <p:cNvSpPr txBox="1"/>
          <p:nvPr/>
        </p:nvSpPr>
        <p:spPr>
          <a:xfrm>
            <a:off x="990600" y="2603500"/>
            <a:ext cx="4318000" cy="182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공통사전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/G2P phone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을 음성 시간에 정렬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대략적인 분절 위치와 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word interval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동일 모델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·inventory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기반의 연도 간 기준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후보 청취 구간을 빠르게 찾는 출발점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C3D9552-561E-6617-C368-2D67E796B70E}"/>
              </a:ext>
            </a:extLst>
          </p:cNvPr>
          <p:cNvSpPr/>
          <p:nvPr/>
        </p:nvSpPr>
        <p:spPr>
          <a:xfrm>
            <a:off x="6426200" y="1714500"/>
            <a:ext cx="5080000" cy="3632200"/>
          </a:xfrm>
          <a:prstGeom prst="roundRect">
            <a:avLst/>
          </a:prstGeom>
          <a:solidFill>
            <a:srgbClr val="F8E8E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8F9181-70A9-F540-3CD0-C417591A2294}"/>
              </a:ext>
            </a:extLst>
          </p:cNvPr>
          <p:cNvSpPr txBox="1"/>
          <p:nvPr/>
        </p:nvSpPr>
        <p:spPr>
          <a:xfrm>
            <a:off x="6731000" y="2006600"/>
            <a:ext cx="4318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000" b="1">
                <a:solidFill>
                  <a:srgbClr val="CD5C46"/>
                </a:solidFill>
                <a:latin typeface="Malgun Gothic" panose="020B0503020000020004" pitchFamily="50" charset="-127"/>
              </a:rPr>
              <a:t>MFA</a:t>
            </a:r>
            <a:r>
              <a:rPr lang="ko-KR" altLang="en-US" sz="2000" b="1">
                <a:solidFill>
                  <a:srgbClr val="CD5C46"/>
                </a:solidFill>
                <a:latin typeface="Malgun Gothic" panose="020B0503020000020004" pitchFamily="50" charset="-127"/>
              </a:rPr>
              <a:t>가 판정하지 않는 것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E92F17-34A7-74CA-6109-1A7C76A9B9BA}"/>
              </a:ext>
            </a:extLst>
          </p:cNvPr>
          <p:cNvSpPr txBox="1"/>
          <p:nvPr/>
        </p:nvSpPr>
        <p:spPr>
          <a:xfrm>
            <a:off x="6731000" y="2603500"/>
            <a:ext cx="4318000" cy="182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ㄴ 삽입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경음화 등의 실제 실현 여부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사전형과 다른 음성 변이의 정답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형태소의 실제 음향 경계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•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음운론적 분석의 최종 결론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D6A490-E8A0-02DE-B8A8-CDD3E3F902D0}"/>
              </a:ext>
            </a:extLst>
          </p:cNvPr>
          <p:cNvSpPr txBox="1"/>
          <p:nvPr/>
        </p:nvSpPr>
        <p:spPr>
          <a:xfrm>
            <a:off x="1143000" y="5702300"/>
            <a:ext cx="99060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phoneme_r_auto = phones_mfa</a:t>
            </a:r>
            <a:r>
              <a:rPr lang="ko-KR" altLang="en-US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만을 넓은 </a:t>
            </a:r>
            <a:r>
              <a:rPr lang="en-US" altLang="ko-KR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Roman </a:t>
            </a:r>
            <a:r>
              <a:rPr lang="ko-KR" altLang="en-US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범주로 기계 대응 </a:t>
            </a:r>
            <a:r>
              <a:rPr lang="en-US" altLang="ko-KR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600" b="1">
                <a:solidFill>
                  <a:srgbClr val="1B324D"/>
                </a:solidFill>
                <a:latin typeface="Malgun Gothic" panose="020B0503020000020004" pitchFamily="50" charset="-127"/>
              </a:rPr>
              <a:t>기저형 역복원 아님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ADF0C49-1948-18C9-FE6D-70843FFCC2F7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858EAA-1060-183B-FA81-60279AFD962C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041D94-B495-0102-8C7B-D323E179B266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09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00281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613EC3-41BB-32A6-7F51-A525A4BDAFD2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09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선별 후보의 후속 분석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435D40-048E-7B0E-0347-56588BA9424A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전수 기본층과 연구별 보조층을 분리해야 다시 쓸 수 있다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80866E7-96D0-8C7D-ED38-57DB1A1132F0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FB66A04-24D6-B1DA-6AC0-E20B30AC366C}"/>
              </a:ext>
            </a:extLst>
          </p:cNvPr>
          <p:cNvSpPr/>
          <p:nvPr/>
        </p:nvSpPr>
        <p:spPr>
          <a:xfrm>
            <a:off x="787400" y="1968500"/>
            <a:ext cx="3200400" cy="238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E36EE38-C4BA-A6A5-C2FC-47863323DF2C}"/>
              </a:ext>
            </a:extLst>
          </p:cNvPr>
          <p:cNvSpPr/>
          <p:nvPr/>
        </p:nvSpPr>
        <p:spPr>
          <a:xfrm>
            <a:off x="787400" y="1968500"/>
            <a:ext cx="3200400" cy="127000"/>
          </a:xfrm>
          <a:prstGeom prst="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3C569B-47EC-261C-19C8-427817A293C7}"/>
              </a:ext>
            </a:extLst>
          </p:cNvPr>
          <p:cNvSpPr txBox="1"/>
          <p:nvPr/>
        </p:nvSpPr>
        <p:spPr>
          <a:xfrm>
            <a:off x="1066800" y="2298700"/>
            <a:ext cx="2667000" cy="368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100" b="1">
                <a:solidFill>
                  <a:srgbClr val="1B7E84"/>
                </a:solidFill>
                <a:latin typeface="Malgun Gothic" panose="020B0503020000020004" pitchFamily="50" charset="-127"/>
              </a:rPr>
              <a:t>KOINA</a:t>
            </a:r>
            <a:endParaRPr lang="ko-KR" altLang="en-US" sz="2100" b="1">
              <a:solidFill>
                <a:srgbClr val="1B7E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63B19E-BE97-A2F1-E35B-F84FD9CF2B92}"/>
              </a:ext>
            </a:extLst>
          </p:cNvPr>
          <p:cNvSpPr txBox="1"/>
          <p:nvPr/>
        </p:nvSpPr>
        <p:spPr>
          <a:xfrm>
            <a:off x="1066800" y="2895600"/>
            <a:ext cx="2667000" cy="736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운율 경계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억양 분석</a:t>
            </a:r>
          </a:p>
          <a:p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후보 발화에만 실행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10C84F7-EB88-E832-F77D-3208E51AC520}"/>
              </a:ext>
            </a:extLst>
          </p:cNvPr>
          <p:cNvSpPr/>
          <p:nvPr/>
        </p:nvSpPr>
        <p:spPr>
          <a:xfrm>
            <a:off x="1066800" y="3771900"/>
            <a:ext cx="1117600" cy="317500"/>
          </a:xfrm>
          <a:prstGeom prst="round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BCBC36-E2F5-3DC2-8EC2-8D8D58483A49}"/>
              </a:ext>
            </a:extLst>
          </p:cNvPr>
          <p:cNvSpPr txBox="1"/>
          <p:nvPr/>
        </p:nvSpPr>
        <p:spPr>
          <a:xfrm>
            <a:off x="1066800" y="3784600"/>
            <a:ext cx="11176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선별 실행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9D348AA-27AD-F40F-FA8C-44F0F2DC2C6D}"/>
              </a:ext>
            </a:extLst>
          </p:cNvPr>
          <p:cNvSpPr/>
          <p:nvPr/>
        </p:nvSpPr>
        <p:spPr>
          <a:xfrm>
            <a:off x="4495800" y="1968500"/>
            <a:ext cx="3200400" cy="238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E3F1CA-FD3D-EB20-D871-03BAC30746E5}"/>
              </a:ext>
            </a:extLst>
          </p:cNvPr>
          <p:cNvSpPr/>
          <p:nvPr/>
        </p:nvSpPr>
        <p:spPr>
          <a:xfrm>
            <a:off x="4495800" y="1968500"/>
            <a:ext cx="3200400" cy="127000"/>
          </a:xfrm>
          <a:prstGeom prst="rect">
            <a:avLst/>
          </a:prstGeom>
          <a:solidFill>
            <a:srgbClr val="26436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B3A3BD-5E0D-50DC-7F4E-BB2A60388BDF}"/>
              </a:ext>
            </a:extLst>
          </p:cNvPr>
          <p:cNvSpPr txBox="1"/>
          <p:nvPr/>
        </p:nvSpPr>
        <p:spPr>
          <a:xfrm>
            <a:off x="4775200" y="2298700"/>
            <a:ext cx="2667000" cy="368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100" b="1">
                <a:solidFill>
                  <a:srgbClr val="264365"/>
                </a:solidFill>
                <a:latin typeface="Malgun Gothic" panose="020B0503020000020004" pitchFamily="50" charset="-127"/>
              </a:rPr>
              <a:t>이어붙이기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6EB416-8566-FB8A-4DB2-1E82D189F423}"/>
              </a:ext>
            </a:extLst>
          </p:cNvPr>
          <p:cNvSpPr txBox="1"/>
          <p:nvPr/>
        </p:nvSpPr>
        <p:spPr>
          <a:xfrm>
            <a:off x="4775200" y="2895600"/>
            <a:ext cx="2667000" cy="736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같은 대화의 연속 맥락</a:t>
            </a:r>
          </a:p>
          <a:p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원 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utt_id·offset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보존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2ADABFE-FD69-CA40-58AD-B9BB8BCCBA3E}"/>
              </a:ext>
            </a:extLst>
          </p:cNvPr>
          <p:cNvSpPr/>
          <p:nvPr/>
        </p:nvSpPr>
        <p:spPr>
          <a:xfrm>
            <a:off x="4775200" y="3771900"/>
            <a:ext cx="1117600" cy="317500"/>
          </a:xfrm>
          <a:prstGeom prst="roundRect">
            <a:avLst/>
          </a:prstGeom>
          <a:solidFill>
            <a:srgbClr val="26436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67158D9-12BF-E1DC-718E-79259E2386DC}"/>
              </a:ext>
            </a:extLst>
          </p:cNvPr>
          <p:cNvSpPr txBox="1"/>
          <p:nvPr/>
        </p:nvSpPr>
        <p:spPr>
          <a:xfrm>
            <a:off x="4775200" y="3784600"/>
            <a:ext cx="11176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선별 실행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F97102E-CEA2-D794-0832-8712506A8C1D}"/>
              </a:ext>
            </a:extLst>
          </p:cNvPr>
          <p:cNvSpPr/>
          <p:nvPr/>
        </p:nvSpPr>
        <p:spPr>
          <a:xfrm>
            <a:off x="8204200" y="1968500"/>
            <a:ext cx="3200400" cy="238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1BB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69B3D92-34AD-B499-2884-D974B01CA120}"/>
              </a:ext>
            </a:extLst>
          </p:cNvPr>
          <p:cNvSpPr/>
          <p:nvPr/>
        </p:nvSpPr>
        <p:spPr>
          <a:xfrm>
            <a:off x="8204200" y="1968500"/>
            <a:ext cx="3200400" cy="127000"/>
          </a:xfrm>
          <a:prstGeom prst="rect">
            <a:avLst/>
          </a:prstGeom>
          <a:solidFill>
            <a:srgbClr val="E0AE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5E07A2-6602-7A18-702F-B60C4658BE09}"/>
              </a:ext>
            </a:extLst>
          </p:cNvPr>
          <p:cNvSpPr txBox="1"/>
          <p:nvPr/>
        </p:nvSpPr>
        <p:spPr>
          <a:xfrm>
            <a:off x="8483600" y="2298700"/>
            <a:ext cx="2667000" cy="368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100" b="1">
                <a:solidFill>
                  <a:srgbClr val="E0AE47"/>
                </a:solidFill>
                <a:latin typeface="Malgun Gothic" panose="020B0503020000020004" pitchFamily="50" charset="-127"/>
              </a:rPr>
              <a:t>wav2vec2 phone</a:t>
            </a:r>
            <a:endParaRPr lang="ko-KR" altLang="en-US" sz="2100" b="1">
              <a:solidFill>
                <a:srgbClr val="E0AE4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CB604B-AB94-93F3-BBEC-2103C740ACE3}"/>
              </a:ext>
            </a:extLst>
          </p:cNvPr>
          <p:cNvSpPr txBox="1"/>
          <p:nvPr/>
        </p:nvSpPr>
        <p:spPr>
          <a:xfrm>
            <a:off x="8483600" y="2895600"/>
            <a:ext cx="2667000" cy="736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실제 음성 기반 보조 </a:t>
            </a:r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phone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열을 덮어쓰지 않음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EDE740-B461-B186-5EA7-F7041E7899F6}"/>
              </a:ext>
            </a:extLst>
          </p:cNvPr>
          <p:cNvSpPr/>
          <p:nvPr/>
        </p:nvSpPr>
        <p:spPr>
          <a:xfrm>
            <a:off x="8483600" y="3771900"/>
            <a:ext cx="1117600" cy="317500"/>
          </a:xfrm>
          <a:prstGeom prst="roundRect">
            <a:avLst/>
          </a:prstGeom>
          <a:solidFill>
            <a:srgbClr val="E0AE4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C6EBB2-5E45-E884-C1FA-2F0958C494DC}"/>
              </a:ext>
            </a:extLst>
          </p:cNvPr>
          <p:cNvSpPr txBox="1"/>
          <p:nvPr/>
        </p:nvSpPr>
        <p:spPr>
          <a:xfrm>
            <a:off x="8483600" y="3784600"/>
            <a:ext cx="1117600" cy="292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100" b="1">
                <a:solidFill>
                  <a:srgbClr val="FFFFFF"/>
                </a:solidFill>
                <a:latin typeface="Malgun Gothic" panose="020B0503020000020004" pitchFamily="50" charset="-127"/>
              </a:rPr>
              <a:t>선별 실행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766B37F-34D6-34D9-123C-0FCFAD113325}"/>
              </a:ext>
            </a:extLst>
          </p:cNvPr>
          <p:cNvSpPr/>
          <p:nvPr/>
        </p:nvSpPr>
        <p:spPr>
          <a:xfrm>
            <a:off x="787400" y="4737100"/>
            <a:ext cx="10617200" cy="914400"/>
          </a:xfrm>
          <a:prstGeom prst="roundRect">
            <a:avLst/>
          </a:prstGeom>
          <a:solidFill>
            <a:srgbClr val="1B324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ED71FB-3C7F-C59E-E6CF-A6316B3DF836}"/>
              </a:ext>
            </a:extLst>
          </p:cNvPr>
          <p:cNvSpPr txBox="1"/>
          <p:nvPr/>
        </p:nvSpPr>
        <p:spPr>
          <a:xfrm>
            <a:off x="1066800" y="4991100"/>
            <a:ext cx="1803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 b="1">
                <a:solidFill>
                  <a:srgbClr val="48A5A5"/>
                </a:solidFill>
                <a:latin typeface="Malgun Gothic" panose="020B0503020000020004" pitchFamily="50" charset="-127"/>
              </a:rPr>
              <a:t>공통 </a:t>
            </a:r>
            <a:r>
              <a:rPr lang="en-US" altLang="ko-KR" sz="1300" b="1">
                <a:solidFill>
                  <a:srgbClr val="48A5A5"/>
                </a:solidFill>
                <a:latin typeface="Malgun Gothic" panose="020B0503020000020004" pitchFamily="50" charset="-127"/>
              </a:rPr>
              <a:t>join key</a:t>
            </a:r>
            <a:endParaRPr lang="ko-KR" altLang="en-US" sz="1300" b="1">
              <a:solidFill>
                <a:srgbClr val="48A5A5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E607B6-665D-06D3-C2E8-AB53AF552C40}"/>
              </a:ext>
            </a:extLst>
          </p:cNvPr>
          <p:cNvSpPr txBox="1"/>
          <p:nvPr/>
        </p:nvSpPr>
        <p:spPr>
          <a:xfrm>
            <a:off x="2946400" y="4851400"/>
            <a:ext cx="80010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utt_id + 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원본 시간 </a:t>
            </a:r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이어붙인 </a:t>
            </a:r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offset + 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분석 버전 → 어떤 보조값도 원자료와 분리해 재현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BEF05E9-9915-9C4E-0204-88D15359E092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E960E32-2DAE-9766-18E5-29C33A7FD5CF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1F3BFA-710D-6FAE-972B-C5BA5C383C99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10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179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77198D-7F21-478B-B985-83AB7B0BF78C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10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이 인프라로 가능해지는 연구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3BB02E-FA9E-B1D2-593A-81F9D90F6CB7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현상 판정은 뒤에서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후보 공간은 앞에서 정교하게 만든다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B4E2641-0EA7-B65C-3A9C-D3AD9FB57ED8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D3EDBC-31B2-98C3-AFC8-9383B8F19CF7}"/>
              </a:ext>
            </a:extLst>
          </p:cNvPr>
          <p:cNvSpPr txBox="1"/>
          <p:nvPr/>
        </p:nvSpPr>
        <p:spPr>
          <a:xfrm>
            <a:off x="800100" y="1765300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900" b="1">
                <a:solidFill>
                  <a:srgbClr val="1B7E84"/>
                </a:solidFill>
                <a:latin typeface="Malgun Gothic" panose="020B0503020000020004" pitchFamily="50" charset="-127"/>
              </a:rPr>
              <a:t>후보 규칙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CF9C47-2064-C1F1-2CD7-CC40414DBA27}"/>
              </a:ext>
            </a:extLst>
          </p:cNvPr>
          <p:cNvSpPr txBox="1"/>
          <p:nvPr/>
        </p:nvSpPr>
        <p:spPr>
          <a:xfrm>
            <a:off x="800100" y="2235200"/>
            <a:ext cx="10541000" cy="393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형태소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/POS + 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어절 위치 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철자 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Roman + 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인접 분절 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화자</a:t>
            </a:r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/</a:t>
            </a:r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대화 메타데이터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6428EE5-74BB-4CBA-C142-E94A8B8A86B7}"/>
              </a:ext>
            </a:extLst>
          </p:cNvPr>
          <p:cNvCxnSpPr/>
          <p:nvPr/>
        </p:nvCxnSpPr>
        <p:spPr>
          <a:xfrm>
            <a:off x="800100" y="2794000"/>
            <a:ext cx="10541000" cy="0"/>
          </a:xfrm>
          <a:prstGeom prst="line">
            <a:avLst/>
          </a:prstGeom>
          <a:ln w="1270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7FF03EB-6BF9-8054-BDA3-D7026C93DB5A}"/>
              </a:ext>
            </a:extLst>
          </p:cNvPr>
          <p:cNvSpPr txBox="1"/>
          <p:nvPr/>
        </p:nvSpPr>
        <p:spPr>
          <a:xfrm>
            <a:off x="800100" y="3124200"/>
            <a:ext cx="482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CD5C46"/>
                </a:solidFill>
                <a:latin typeface="Malgun Gothic" panose="020B0503020000020004" pitchFamily="50" charset="-127"/>
              </a:rPr>
              <a:t>01</a:t>
            </a:r>
            <a:endParaRPr lang="ko-KR" altLang="en-US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BD6D39-DCBF-3A98-37AE-BBB2CFBBA1F8}"/>
              </a:ext>
            </a:extLst>
          </p:cNvPr>
          <p:cNvSpPr txBox="1"/>
          <p:nvPr/>
        </p:nvSpPr>
        <p:spPr>
          <a:xfrm>
            <a:off x="1422400" y="3111500"/>
            <a:ext cx="203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1B324D"/>
                </a:solidFill>
                <a:latin typeface="Malgun Gothic" panose="020B0503020000020004" pitchFamily="50" charset="-127"/>
              </a:rPr>
              <a:t>ㄴ 삽입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EDA357-790D-7CD6-AED5-25C2FB05F3E5}"/>
              </a:ext>
            </a:extLst>
          </p:cNvPr>
          <p:cNvSpPr txBox="1"/>
          <p:nvPr/>
        </p:nvSpPr>
        <p:spPr>
          <a:xfrm>
            <a:off x="1422400" y="3492500"/>
            <a:ext cx="4064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표기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형태소 환경으로 후보 추출 → 음성에서 실현 판정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7EDDA5-4136-9234-8808-D2C6BFC9B260}"/>
              </a:ext>
            </a:extLst>
          </p:cNvPr>
          <p:cNvSpPr txBox="1"/>
          <p:nvPr/>
        </p:nvSpPr>
        <p:spPr>
          <a:xfrm>
            <a:off x="6134100" y="3124200"/>
            <a:ext cx="482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CD5C46"/>
                </a:solidFill>
                <a:latin typeface="Malgun Gothic" panose="020B0503020000020004" pitchFamily="50" charset="-127"/>
              </a:rPr>
              <a:t>02</a:t>
            </a:r>
            <a:endParaRPr lang="ko-KR" altLang="en-US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00C0CB-9566-4FE1-8E7E-17F3C79DAFCE}"/>
              </a:ext>
            </a:extLst>
          </p:cNvPr>
          <p:cNvSpPr txBox="1"/>
          <p:nvPr/>
        </p:nvSpPr>
        <p:spPr>
          <a:xfrm>
            <a:off x="6756400" y="3111500"/>
            <a:ext cx="203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1B324D"/>
                </a:solidFill>
                <a:latin typeface="Malgun Gothic" panose="020B0503020000020004" pitchFamily="50" charset="-127"/>
              </a:rPr>
              <a:t>경계 음운현상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D88283-AB77-E5EE-2C0B-86D22CD99DF8}"/>
              </a:ext>
            </a:extLst>
          </p:cNvPr>
          <p:cNvSpPr txBox="1"/>
          <p:nvPr/>
        </p:nvSpPr>
        <p:spPr>
          <a:xfrm>
            <a:off x="6756400" y="3492500"/>
            <a:ext cx="4064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어절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/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형태소 경계 양쪽 조건을 조합해 대조군 확보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A060FF-C249-44F3-BC4E-B23E6314B686}"/>
              </a:ext>
            </a:extLst>
          </p:cNvPr>
          <p:cNvSpPr txBox="1"/>
          <p:nvPr/>
        </p:nvSpPr>
        <p:spPr>
          <a:xfrm>
            <a:off x="800100" y="4279900"/>
            <a:ext cx="482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CD5C46"/>
                </a:solidFill>
                <a:latin typeface="Malgun Gothic" panose="020B0503020000020004" pitchFamily="50" charset="-127"/>
              </a:rPr>
              <a:t>03</a:t>
            </a:r>
            <a:endParaRPr lang="ko-KR" altLang="en-US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7126FB-A05D-B84A-6F9A-AA0CADA13C54}"/>
              </a:ext>
            </a:extLst>
          </p:cNvPr>
          <p:cNvSpPr txBox="1"/>
          <p:nvPr/>
        </p:nvSpPr>
        <p:spPr>
          <a:xfrm>
            <a:off x="1422400" y="4267200"/>
            <a:ext cx="203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1B324D"/>
                </a:solidFill>
                <a:latin typeface="Malgun Gothic" panose="020B0503020000020004" pitchFamily="50" charset="-127"/>
              </a:rPr>
              <a:t>발음 변이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D461AD-7186-96A5-427E-7E047311267E}"/>
              </a:ext>
            </a:extLst>
          </p:cNvPr>
          <p:cNvSpPr txBox="1"/>
          <p:nvPr/>
        </p:nvSpPr>
        <p:spPr>
          <a:xfrm>
            <a:off x="1422400" y="4648200"/>
            <a:ext cx="4064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사전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·G2P·MFA·wav2vec2 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차이를 후보 신호로만 사용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9E9F84-7C95-1115-DC94-C8E563B7E9C8}"/>
              </a:ext>
            </a:extLst>
          </p:cNvPr>
          <p:cNvSpPr txBox="1"/>
          <p:nvPr/>
        </p:nvSpPr>
        <p:spPr>
          <a:xfrm>
            <a:off x="6134100" y="4279900"/>
            <a:ext cx="482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b="1">
                <a:solidFill>
                  <a:srgbClr val="CD5C46"/>
                </a:solidFill>
                <a:latin typeface="Malgun Gothic" panose="020B0503020000020004" pitchFamily="50" charset="-127"/>
              </a:rPr>
              <a:t>04</a:t>
            </a:r>
            <a:endParaRPr lang="ko-KR" altLang="en-US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1CF465-4322-0165-9B87-090F970510DE}"/>
              </a:ext>
            </a:extLst>
          </p:cNvPr>
          <p:cNvSpPr txBox="1"/>
          <p:nvPr/>
        </p:nvSpPr>
        <p:spPr>
          <a:xfrm>
            <a:off x="6756400" y="4267200"/>
            <a:ext cx="203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1B324D"/>
                </a:solidFill>
                <a:latin typeface="Malgun Gothic" panose="020B0503020000020004" pitchFamily="50" charset="-127"/>
              </a:rPr>
              <a:t>운율과 변이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15A990-8F5F-03A7-E0CD-EB64130D675E}"/>
              </a:ext>
            </a:extLst>
          </p:cNvPr>
          <p:cNvSpPr txBox="1"/>
          <p:nvPr/>
        </p:nvSpPr>
        <p:spPr>
          <a:xfrm>
            <a:off x="6756400" y="4648200"/>
            <a:ext cx="40640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선별 자료에 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KOINA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를 붙여 경계</a:t>
            </a:r>
            <a:r>
              <a:rPr lang="en-US" altLang="ko-KR" sz="1300">
                <a:solidFill>
                  <a:srgbClr val="636D77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636D77"/>
                </a:solidFill>
                <a:latin typeface="Malgun Gothic" panose="020B0503020000020004" pitchFamily="50" charset="-127"/>
              </a:rPr>
              <a:t>억양과 함께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4BBC09-1C1B-394F-A613-A2EA48D264EA}"/>
              </a:ext>
            </a:extLst>
          </p:cNvPr>
          <p:cNvSpPr txBox="1"/>
          <p:nvPr/>
        </p:nvSpPr>
        <p:spPr>
          <a:xfrm>
            <a:off x="800100" y="5715000"/>
            <a:ext cx="105410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700" b="1">
                <a:solidFill>
                  <a:srgbClr val="CD5C46"/>
                </a:solidFill>
                <a:latin typeface="Malgun Gothic" panose="020B0503020000020004" pitchFamily="50" charset="-127"/>
              </a:rPr>
              <a:t>자동 인프라는 “어디를 볼 것인가”를 답하고</a:t>
            </a:r>
            <a:r>
              <a:rPr lang="en-US" altLang="ko-KR" sz="1700" b="1">
                <a:solidFill>
                  <a:srgbClr val="CD5C4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700" b="1">
                <a:solidFill>
                  <a:srgbClr val="CD5C46"/>
                </a:solidFill>
                <a:latin typeface="Malgun Gothic" panose="020B0503020000020004" pitchFamily="50" charset="-127"/>
              </a:rPr>
              <a:t>연구자는 “무엇이 실현되었는가”를 답한다</a:t>
            </a:r>
            <a:r>
              <a:rPr lang="en-US" altLang="ko-KR" sz="1700" b="1">
                <a:solidFill>
                  <a:srgbClr val="CD5C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ECF2724-55A9-5FE4-EB27-8A199B24CBCE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4B5E6D2-3F16-66A8-6EEE-0AC7AF550090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78F22C-ECD1-3803-93D3-16BC9C2AFA8C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11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995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3C0AAC-B06D-B883-C7F6-BDFC977686A0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11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실패 복구 설계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06B112-E302-BCC9-FC5C-20FB440E9EA0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문제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건 때문에 연도 전체를 자동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--clean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재계산하지 않는다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2947C09-0A82-8F41-CC08-4A43D51CF65E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6D40A1E3-0AAE-5EFC-D001-F286CB1B52CD}"/>
              </a:ext>
            </a:extLst>
          </p:cNvPr>
          <p:cNvCxnSpPr/>
          <p:nvPr/>
        </p:nvCxnSpPr>
        <p:spPr>
          <a:xfrm>
            <a:off x="2425700" y="2971800"/>
            <a:ext cx="355600" cy="0"/>
          </a:xfrm>
          <a:prstGeom prst="line">
            <a:avLst/>
          </a:prstGeom>
          <a:ln w="25400">
            <a:solidFill>
              <a:srgbClr val="CD5C4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BEBA8E4-9FFE-1F16-E24F-6FD8C0B1EC0C}"/>
              </a:ext>
            </a:extLst>
          </p:cNvPr>
          <p:cNvSpPr/>
          <p:nvPr/>
        </p:nvSpPr>
        <p:spPr>
          <a:xfrm>
            <a:off x="546100" y="2133600"/>
            <a:ext cx="1879600" cy="17018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25BAC9C-F202-B7AC-8740-C36C08979D63}"/>
              </a:ext>
            </a:extLst>
          </p:cNvPr>
          <p:cNvSpPr/>
          <p:nvPr/>
        </p:nvSpPr>
        <p:spPr>
          <a:xfrm>
            <a:off x="698500" y="2298700"/>
            <a:ext cx="355600" cy="355600"/>
          </a:xfrm>
          <a:prstGeom prst="round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CCECE1-91D8-65AA-CDD7-B01C59B0EF56}"/>
              </a:ext>
            </a:extLst>
          </p:cNvPr>
          <p:cNvSpPr txBox="1"/>
          <p:nvPr/>
        </p:nvSpPr>
        <p:spPr>
          <a:xfrm>
            <a:off x="698500" y="2311400"/>
            <a:ext cx="355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1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5119E1-C9B5-4525-B01F-02E303FBA840}"/>
              </a:ext>
            </a:extLst>
          </p:cNvPr>
          <p:cNvSpPr txBox="1"/>
          <p:nvPr/>
        </p:nvSpPr>
        <p:spPr>
          <a:xfrm>
            <a:off x="698500" y="2781300"/>
            <a:ext cx="157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입력 계약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E98536-17F9-4CD7-7694-421D4D9808CE}"/>
              </a:ext>
            </a:extLst>
          </p:cNvPr>
          <p:cNvSpPr txBox="1"/>
          <p:nvPr/>
        </p:nvSpPr>
        <p:spPr>
          <a:xfrm>
            <a:off x="698500" y="3200400"/>
            <a:ext cx="15748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동결 </a:t>
            </a:r>
            <a:r>
              <a:rPr lang="en-US" altLang="ko-KR" sz="1200">
                <a:solidFill>
                  <a:srgbClr val="636D77"/>
                </a:solidFill>
                <a:latin typeface="Malgun Gothic" panose="020B0503020000020004" pitchFamily="50" charset="-127"/>
              </a:rPr>
              <a:t>search master</a:t>
            </a:r>
          </a:p>
          <a:p>
            <a:pPr algn="ctr"/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승인 제외표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A1B34C8-C60A-082C-23CB-A657CD3CD0AC}"/>
              </a:ext>
            </a:extLst>
          </p:cNvPr>
          <p:cNvCxnSpPr/>
          <p:nvPr/>
        </p:nvCxnSpPr>
        <p:spPr>
          <a:xfrm>
            <a:off x="4737100" y="2971800"/>
            <a:ext cx="355600" cy="0"/>
          </a:xfrm>
          <a:prstGeom prst="line">
            <a:avLst/>
          </a:prstGeom>
          <a:ln w="25400">
            <a:solidFill>
              <a:srgbClr val="CD5C4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AEB4323-3082-E9B4-653A-25374F96280A}"/>
              </a:ext>
            </a:extLst>
          </p:cNvPr>
          <p:cNvSpPr/>
          <p:nvPr/>
        </p:nvSpPr>
        <p:spPr>
          <a:xfrm>
            <a:off x="2857500" y="2133600"/>
            <a:ext cx="1879600" cy="17018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CC968971-7635-FD03-7647-7FCE5F0BE5B8}"/>
              </a:ext>
            </a:extLst>
          </p:cNvPr>
          <p:cNvSpPr/>
          <p:nvPr/>
        </p:nvSpPr>
        <p:spPr>
          <a:xfrm>
            <a:off x="3009900" y="2298700"/>
            <a:ext cx="355600" cy="355600"/>
          </a:xfrm>
          <a:prstGeom prst="round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A691F1-F4AE-80D9-5956-F99E675E1771}"/>
              </a:ext>
            </a:extLst>
          </p:cNvPr>
          <p:cNvSpPr txBox="1"/>
          <p:nvPr/>
        </p:nvSpPr>
        <p:spPr>
          <a:xfrm>
            <a:off x="3009900" y="2311400"/>
            <a:ext cx="355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2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9733F-3754-1C45-FAFA-282855C9F2E5}"/>
              </a:ext>
            </a:extLst>
          </p:cNvPr>
          <p:cNvSpPr txBox="1"/>
          <p:nvPr/>
        </p:nvSpPr>
        <p:spPr>
          <a:xfrm>
            <a:off x="3009900" y="2781300"/>
            <a:ext cx="157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MFA DB</a:t>
            </a:r>
            <a:endParaRPr lang="ko-KR" altLang="en-US" sz="1500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1487A4-1CAB-A641-2EB0-8B2E490C6B59}"/>
              </a:ext>
            </a:extLst>
          </p:cNvPr>
          <p:cNvSpPr txBox="1"/>
          <p:nvPr/>
        </p:nvSpPr>
        <p:spPr>
          <a:xfrm>
            <a:off x="3009900" y="3200400"/>
            <a:ext cx="15748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200">
                <a:solidFill>
                  <a:srgbClr val="636D77"/>
                </a:solidFill>
                <a:latin typeface="Malgun Gothic" panose="020B0503020000020004" pitchFamily="50" charset="-127"/>
              </a:rPr>
              <a:t>temp·SQLite·</a:t>
            </a:r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로그</a:t>
            </a:r>
          </a:p>
          <a:p>
            <a:pPr algn="ctr"/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그대로 보존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72A2BA5E-53F1-87F5-6580-19F36599C8A7}"/>
              </a:ext>
            </a:extLst>
          </p:cNvPr>
          <p:cNvCxnSpPr/>
          <p:nvPr/>
        </p:nvCxnSpPr>
        <p:spPr>
          <a:xfrm>
            <a:off x="7048500" y="2971800"/>
            <a:ext cx="355600" cy="0"/>
          </a:xfrm>
          <a:prstGeom prst="line">
            <a:avLst/>
          </a:prstGeom>
          <a:ln w="25400">
            <a:solidFill>
              <a:srgbClr val="CD5C4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628AB6D-8070-6FEB-8668-DBB87A84C5D8}"/>
              </a:ext>
            </a:extLst>
          </p:cNvPr>
          <p:cNvSpPr/>
          <p:nvPr/>
        </p:nvSpPr>
        <p:spPr>
          <a:xfrm>
            <a:off x="5168900" y="2133600"/>
            <a:ext cx="1879600" cy="1701800"/>
          </a:xfrm>
          <a:prstGeom prst="roundRect">
            <a:avLst/>
          </a:prstGeom>
          <a:solidFill>
            <a:srgbClr val="F8E8E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609EAF3-2D26-D1A5-6525-883A1E50A1A3}"/>
              </a:ext>
            </a:extLst>
          </p:cNvPr>
          <p:cNvSpPr/>
          <p:nvPr/>
        </p:nvSpPr>
        <p:spPr>
          <a:xfrm>
            <a:off x="5321300" y="2298700"/>
            <a:ext cx="355600" cy="355600"/>
          </a:xfrm>
          <a:prstGeom prst="round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9ABE41-6348-B4D6-903A-E00B39EAC5AC}"/>
              </a:ext>
            </a:extLst>
          </p:cNvPr>
          <p:cNvSpPr txBox="1"/>
          <p:nvPr/>
        </p:nvSpPr>
        <p:spPr>
          <a:xfrm>
            <a:off x="5321300" y="2311400"/>
            <a:ext cx="355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3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1D4A27-02DF-B74A-B25C-2E0E84336E9B}"/>
              </a:ext>
            </a:extLst>
          </p:cNvPr>
          <p:cNvSpPr txBox="1"/>
          <p:nvPr/>
        </p:nvSpPr>
        <p:spPr>
          <a:xfrm>
            <a:off x="5321300" y="2781300"/>
            <a:ext cx="157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direct_db_ready</a:t>
            </a:r>
            <a:endParaRPr lang="ko-KR" altLang="en-US" sz="1500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FA2A33-BD48-DC1B-498A-02B843657AF5}"/>
              </a:ext>
            </a:extLst>
          </p:cNvPr>
          <p:cNvSpPr txBox="1"/>
          <p:nvPr/>
        </p:nvSpPr>
        <p:spPr>
          <a:xfrm>
            <a:off x="5321300" y="3200400"/>
            <a:ext cx="15748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정렬 계산 재사용</a:t>
            </a:r>
          </a:p>
          <a:p>
            <a:pPr algn="ctr"/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승인 표시는 아님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900CEBAC-348D-70CD-5D54-FD737D7CE59D}"/>
              </a:ext>
            </a:extLst>
          </p:cNvPr>
          <p:cNvCxnSpPr/>
          <p:nvPr/>
        </p:nvCxnSpPr>
        <p:spPr>
          <a:xfrm>
            <a:off x="9359900" y="2971800"/>
            <a:ext cx="355600" cy="0"/>
          </a:xfrm>
          <a:prstGeom prst="line">
            <a:avLst/>
          </a:prstGeom>
          <a:ln w="25400">
            <a:solidFill>
              <a:srgbClr val="CD5C4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5E032BD-5B4B-6F7F-37F3-63597F268C6C}"/>
              </a:ext>
            </a:extLst>
          </p:cNvPr>
          <p:cNvSpPr/>
          <p:nvPr/>
        </p:nvSpPr>
        <p:spPr>
          <a:xfrm>
            <a:off x="7480300" y="2133600"/>
            <a:ext cx="1879600" cy="17018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D8554E9-0A96-536F-5DB3-6296689E7525}"/>
              </a:ext>
            </a:extLst>
          </p:cNvPr>
          <p:cNvSpPr/>
          <p:nvPr/>
        </p:nvSpPr>
        <p:spPr>
          <a:xfrm>
            <a:off x="7632700" y="2298700"/>
            <a:ext cx="355600" cy="355600"/>
          </a:xfrm>
          <a:prstGeom prst="round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CB47E7-1C3A-6390-493E-C2C70FC9092D}"/>
              </a:ext>
            </a:extLst>
          </p:cNvPr>
          <p:cNvSpPr txBox="1"/>
          <p:nvPr/>
        </p:nvSpPr>
        <p:spPr>
          <a:xfrm>
            <a:off x="7632700" y="2311400"/>
            <a:ext cx="355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4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C34BF6-A13A-6D05-79DF-67FAE2EC67DD}"/>
              </a:ext>
            </a:extLst>
          </p:cNvPr>
          <p:cNvSpPr txBox="1"/>
          <p:nvPr/>
        </p:nvSpPr>
        <p:spPr>
          <a:xfrm>
            <a:off x="7632700" y="2781300"/>
            <a:ext cx="157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6-tier + </a:t>
            </a:r>
            <a:r>
              <a:rPr lang="ko-KR" altLang="en-US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표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0FC55C-307D-7728-EDB0-D9D68637137F}"/>
              </a:ext>
            </a:extLst>
          </p:cNvPr>
          <p:cNvSpPr txBox="1"/>
          <p:nvPr/>
        </p:nvSpPr>
        <p:spPr>
          <a:xfrm>
            <a:off x="7632700" y="3200400"/>
            <a:ext cx="15748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US" altLang="ko-KR" sz="1200">
                <a:solidFill>
                  <a:srgbClr val="636D77"/>
                </a:solidFill>
                <a:latin typeface="Malgun Gothic" panose="020B0503020000020004" pitchFamily="50" charset="-127"/>
              </a:rPr>
              <a:t>.partial </a:t>
            </a:r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생성</a:t>
            </a:r>
          </a:p>
          <a:p>
            <a:pPr algn="ctr"/>
            <a:r>
              <a:rPr lang="en-US" altLang="ko-KR" sz="1200">
                <a:solidFill>
                  <a:srgbClr val="636D77"/>
                </a:solidFill>
                <a:latin typeface="Malgun Gothic" panose="020B0503020000020004" pitchFamily="50" charset="-127"/>
              </a:rPr>
              <a:t>QC </a:t>
            </a:r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후에만 승격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B2B54C74-FA80-31B6-8B61-EC2CB5E3813F}"/>
              </a:ext>
            </a:extLst>
          </p:cNvPr>
          <p:cNvSpPr/>
          <p:nvPr/>
        </p:nvSpPr>
        <p:spPr>
          <a:xfrm>
            <a:off x="9791700" y="2133600"/>
            <a:ext cx="1879600" cy="17018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F03ADEC6-F948-FC93-3401-7C5FCFA71B9C}"/>
              </a:ext>
            </a:extLst>
          </p:cNvPr>
          <p:cNvSpPr/>
          <p:nvPr/>
        </p:nvSpPr>
        <p:spPr>
          <a:xfrm>
            <a:off x="9944100" y="2298700"/>
            <a:ext cx="355600" cy="355600"/>
          </a:xfrm>
          <a:prstGeom prst="roundRect">
            <a:avLst/>
          </a:prstGeom>
          <a:solidFill>
            <a:srgbClr val="1B7E8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20B3B2-7DBF-1116-DE93-F077334A5042}"/>
              </a:ext>
            </a:extLst>
          </p:cNvPr>
          <p:cNvSpPr txBox="1"/>
          <p:nvPr/>
        </p:nvSpPr>
        <p:spPr>
          <a:xfrm>
            <a:off x="9944100" y="2311400"/>
            <a:ext cx="355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srgbClr val="FFFFFF"/>
                </a:solidFill>
                <a:latin typeface="Malgun Gothic" panose="020B0503020000020004" pitchFamily="50" charset="-127"/>
              </a:rPr>
              <a:t>5</a:t>
            </a:r>
            <a:endParaRPr lang="ko-KR" altLang="en-US" sz="13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8A0849-F5C8-AB62-1680-44BF37AE8646}"/>
              </a:ext>
            </a:extLst>
          </p:cNvPr>
          <p:cNvSpPr txBox="1"/>
          <p:nvPr/>
        </p:nvSpPr>
        <p:spPr>
          <a:xfrm>
            <a:off x="9944100" y="2781300"/>
            <a:ext cx="157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연도 </a:t>
            </a:r>
            <a:r>
              <a:rPr lang="en-US" altLang="ko-KR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QC</a:t>
            </a:r>
            <a:endParaRPr lang="ko-KR" altLang="en-US" sz="1500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F6F84A6-4D68-2C32-F283-5D6F34A41148}"/>
              </a:ext>
            </a:extLst>
          </p:cNvPr>
          <p:cNvSpPr txBox="1"/>
          <p:nvPr/>
        </p:nvSpPr>
        <p:spPr>
          <a:xfrm>
            <a:off x="9944100" y="3200400"/>
            <a:ext cx="1574800" cy="49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독립 감사 </a:t>
            </a:r>
            <a:r>
              <a:rPr lang="en-US" altLang="ko-KR" sz="1200">
                <a:solidFill>
                  <a:srgbClr val="636D77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표본</a:t>
            </a:r>
          </a:p>
          <a:p>
            <a:pPr algn="ctr"/>
            <a:r>
              <a:rPr lang="ko-KR" altLang="en-US" sz="1200">
                <a:solidFill>
                  <a:srgbClr val="636D77"/>
                </a:solidFill>
                <a:latin typeface="Malgun Gothic" panose="020B0503020000020004" pitchFamily="50" charset="-127"/>
              </a:rPr>
              <a:t>수동 검토 대기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3C667665-0C66-0392-9033-8D767B44ED4E}"/>
              </a:ext>
            </a:extLst>
          </p:cNvPr>
          <p:cNvSpPr/>
          <p:nvPr/>
        </p:nvSpPr>
        <p:spPr>
          <a:xfrm>
            <a:off x="685800" y="4343400"/>
            <a:ext cx="10820400" cy="1206500"/>
          </a:xfrm>
          <a:prstGeom prst="roundRect">
            <a:avLst/>
          </a:prstGeom>
          <a:solidFill>
            <a:srgbClr val="1B324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4DE715-757C-5281-24B2-DD1E16A7EED7}"/>
              </a:ext>
            </a:extLst>
          </p:cNvPr>
          <p:cNvSpPr txBox="1"/>
          <p:nvPr/>
        </p:nvSpPr>
        <p:spPr>
          <a:xfrm>
            <a:off x="965200" y="4597400"/>
            <a:ext cx="17526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 b="1">
                <a:solidFill>
                  <a:srgbClr val="48A5A5"/>
                </a:solidFill>
                <a:latin typeface="Malgun Gothic" panose="020B0503020000020004" pitchFamily="50" charset="-127"/>
              </a:rPr>
              <a:t>재실행 계약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0A1F78-F696-5393-41C2-FC4DFCCC4D9E}"/>
              </a:ext>
            </a:extLst>
          </p:cNvPr>
          <p:cNvSpPr txBox="1"/>
          <p:nvPr/>
        </p:nvSpPr>
        <p:spPr>
          <a:xfrm>
            <a:off x="965200" y="4889500"/>
            <a:ext cx="100838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temp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가 있으면 </a:t>
            </a:r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resume 1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회 → 실패하면 체크포인트 보존</a:t>
            </a:r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중단 → 원인 수정 후 같은 지점 재개</a:t>
            </a:r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전체 </a:t>
            </a:r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clean</a:t>
            </a:r>
            <a:r>
              <a:rPr lang="ko-KR" altLang="en-US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은 연구자 명시 승인만</a:t>
            </a:r>
            <a:r>
              <a:rPr lang="en-US" altLang="ko-KR" sz="1700" b="1">
                <a:solidFill>
                  <a:srgbClr val="FFFFFF"/>
                </a:solidFill>
                <a:latin typeface="Malgun Gothic" panose="020B0503020000020004" pitchFamily="50" charset="-127"/>
              </a:rPr>
              <a:t>.</a:t>
            </a:r>
            <a:endParaRPr lang="ko-KR" altLang="en-US" sz="17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88DC28B5-02A6-0FCB-EBA3-D2A78CBAA6A6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BAC3B86-6330-09B5-D86F-D07F09EEFB00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FBD06A-C41E-AB1D-18D0-D85A97E3B8AD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12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205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B1105-DFE1-0D03-AE6F-3473ABE39EE1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12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전수 직전 상태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D951B-72C9-32AA-7E4C-96FD0EBF032E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2026-08-01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최종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preflight: NO_GO —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고장이 아니라 승인 대기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8916E5-0A38-E159-EC0C-B16119A7234E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611191B-12A6-F333-7038-AAD9A85DF5E5}"/>
              </a:ext>
            </a:extLst>
          </p:cNvPr>
          <p:cNvSpPr/>
          <p:nvPr/>
        </p:nvSpPr>
        <p:spPr>
          <a:xfrm>
            <a:off x="685800" y="1727200"/>
            <a:ext cx="1549400" cy="533400"/>
          </a:xfrm>
          <a:prstGeom prst="roundRect">
            <a:avLst/>
          </a:prstGeom>
          <a:solidFill>
            <a:srgbClr val="B63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2AEC6-5AFD-244A-2A1E-FC2550C43D5D}"/>
              </a:ext>
            </a:extLst>
          </p:cNvPr>
          <p:cNvSpPr txBox="1"/>
          <p:nvPr/>
        </p:nvSpPr>
        <p:spPr>
          <a:xfrm>
            <a:off x="685800" y="1739900"/>
            <a:ext cx="1549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b="1">
                <a:solidFill>
                  <a:srgbClr val="FFFFFF"/>
                </a:solidFill>
                <a:latin typeface="Malgun Gothic" panose="020B0503020000020004" pitchFamily="50" charset="-127"/>
              </a:rPr>
              <a:t>NO_GO</a:t>
            </a:r>
            <a:endParaRPr lang="ko-KR" altLang="en-US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8895A-8B03-04C0-2D2E-7606C593E04E}"/>
              </a:ext>
            </a:extLst>
          </p:cNvPr>
          <p:cNvSpPr txBox="1"/>
          <p:nvPr/>
        </p:nvSpPr>
        <p:spPr>
          <a:xfrm>
            <a:off x="2463800" y="1841500"/>
            <a:ext cx="5461000" cy="3429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b="1">
                <a:solidFill>
                  <a:srgbClr val="1B324D"/>
                </a:solidFill>
                <a:latin typeface="Malgun Gothic" panose="020B0503020000020004" pitchFamily="50" charset="-127"/>
              </a:rPr>
              <a:t>자동 실행 금지 상태를 정확히 잡아냄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0BEADA-13B7-8AEB-E7E5-E6ACD9EFCDB9}"/>
              </a:ext>
            </a:extLst>
          </p:cNvPr>
          <p:cNvSpPr txBox="1"/>
          <p:nvPr/>
        </p:nvSpPr>
        <p:spPr>
          <a:xfrm>
            <a:off x="800100" y="2667000"/>
            <a:ext cx="1016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4C8E5B"/>
                </a:solidFill>
                <a:latin typeface="Malgun Gothic" panose="020B0503020000020004" pitchFamily="50" charset="-127"/>
              </a:rPr>
              <a:t>통과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431339-3DEE-CD75-DA57-DF4A43913768}"/>
              </a:ext>
            </a:extLst>
          </p:cNvPr>
          <p:cNvSpPr txBox="1"/>
          <p:nvPr/>
        </p:nvSpPr>
        <p:spPr>
          <a:xfrm>
            <a:off x="800100" y="3136900"/>
            <a:ext cx="330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4C8E5B"/>
                </a:solidFill>
                <a:latin typeface="Malgun Gothic" panose="020B0503020000020004" pitchFamily="50" charset="-127"/>
              </a:rPr>
              <a:t>✓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1C3CE9-EB7E-7072-0374-21F8D5CFA8A8}"/>
              </a:ext>
            </a:extLst>
          </p:cNvPr>
          <p:cNvSpPr txBox="1"/>
          <p:nvPr/>
        </p:nvSpPr>
        <p:spPr>
          <a:xfrm>
            <a:off x="1219200" y="3124200"/>
            <a:ext cx="4699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공통 </a:t>
            </a:r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Jamo </a:t>
            </a:r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사전</a:t>
            </a:r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·adoption SHA </a:t>
            </a:r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검증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CF393-8BAA-DA5F-C447-5B84ABA9D5AF}"/>
              </a:ext>
            </a:extLst>
          </p:cNvPr>
          <p:cNvSpPr txBox="1"/>
          <p:nvPr/>
        </p:nvSpPr>
        <p:spPr>
          <a:xfrm>
            <a:off x="800100" y="3556000"/>
            <a:ext cx="330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4C8E5B"/>
                </a:solidFill>
                <a:latin typeface="Malgun Gothic" panose="020B0503020000020004" pitchFamily="50" charset="-127"/>
              </a:rPr>
              <a:t>✓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3A85BE-8EFC-FEC0-8B6C-E3E745BB2F80}"/>
              </a:ext>
            </a:extLst>
          </p:cNvPr>
          <p:cNvSpPr txBox="1"/>
          <p:nvPr/>
        </p:nvSpPr>
        <p:spPr>
          <a:xfrm>
            <a:off x="1219200" y="3543300"/>
            <a:ext cx="4699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D: DATA_SSD · 318.5 GiB </a:t>
            </a:r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여유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22C497-8A32-A3A3-6F47-980378527E65}"/>
              </a:ext>
            </a:extLst>
          </p:cNvPr>
          <p:cNvSpPr txBox="1"/>
          <p:nvPr/>
        </p:nvSpPr>
        <p:spPr>
          <a:xfrm>
            <a:off x="800100" y="3975100"/>
            <a:ext cx="330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4C8E5B"/>
                </a:solidFill>
                <a:latin typeface="Malgun Gothic" panose="020B0503020000020004" pitchFamily="50" charset="-127"/>
              </a:rPr>
              <a:t>✓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F56CF4-3FF0-58B4-2557-8B6896A45C31}"/>
              </a:ext>
            </a:extLst>
          </p:cNvPr>
          <p:cNvSpPr txBox="1"/>
          <p:nvPr/>
        </p:nvSpPr>
        <p:spPr>
          <a:xfrm>
            <a:off x="1219200" y="3962400"/>
            <a:ext cx="4699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2020–2025 </a:t>
            </a:r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원 세션 </a:t>
            </a:r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coverage </a:t>
            </a:r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전수 통과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17DCE6-7B70-0782-99BC-AD4EC18B4D1E}"/>
              </a:ext>
            </a:extLst>
          </p:cNvPr>
          <p:cNvSpPr txBox="1"/>
          <p:nvPr/>
        </p:nvSpPr>
        <p:spPr>
          <a:xfrm>
            <a:off x="800100" y="4394200"/>
            <a:ext cx="330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4C8E5B"/>
                </a:solidFill>
                <a:latin typeface="Malgun Gothic" panose="020B0503020000020004" pitchFamily="50" charset="-127"/>
              </a:rPr>
              <a:t>✓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3EF332-9172-626A-A1B5-15CDDF18C544}"/>
              </a:ext>
            </a:extLst>
          </p:cNvPr>
          <p:cNvSpPr txBox="1"/>
          <p:nvPr/>
        </p:nvSpPr>
        <p:spPr>
          <a:xfrm>
            <a:off x="1219200" y="4381500"/>
            <a:ext cx="4699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Python 287/287 · PowerShell 20/20</a:t>
            </a:r>
            <a:endParaRPr lang="ko-KR" altLang="en-US" sz="1400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BFA1CF-4087-F70C-F168-9CA46BB3B3DF}"/>
              </a:ext>
            </a:extLst>
          </p:cNvPr>
          <p:cNvSpPr txBox="1"/>
          <p:nvPr/>
        </p:nvSpPr>
        <p:spPr>
          <a:xfrm>
            <a:off x="800100" y="4813300"/>
            <a:ext cx="330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4C8E5B"/>
                </a:solidFill>
                <a:latin typeface="Malgun Gothic" panose="020B0503020000020004" pitchFamily="50" charset="-127"/>
              </a:rPr>
              <a:t>✓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BD5DCF-83C8-2473-36C4-EE9FA04B7263}"/>
              </a:ext>
            </a:extLst>
          </p:cNvPr>
          <p:cNvSpPr txBox="1"/>
          <p:nvPr/>
        </p:nvSpPr>
        <p:spPr>
          <a:xfrm>
            <a:off x="1219200" y="4800600"/>
            <a:ext cx="4699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400">
                <a:solidFill>
                  <a:srgbClr val="222A34"/>
                </a:solidFill>
                <a:latin typeface="Malgun Gothic" panose="020B0503020000020004" pitchFamily="50" charset="-127"/>
              </a:rPr>
              <a:t>live lock·stale output </a:t>
            </a:r>
            <a:r>
              <a:rPr lang="ko-KR" altLang="en-US" sz="1400">
                <a:solidFill>
                  <a:srgbClr val="222A34"/>
                </a:solidFill>
                <a:latin typeface="Malgun Gothic" panose="020B0503020000020004" pitchFamily="50" charset="-127"/>
              </a:rPr>
              <a:t>충돌 없음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942D1221-4E01-EBD6-E128-3CBDB682B7F2}"/>
              </a:ext>
            </a:extLst>
          </p:cNvPr>
          <p:cNvCxnSpPr/>
          <p:nvPr/>
        </p:nvCxnSpPr>
        <p:spPr>
          <a:xfrm>
            <a:off x="6184900" y="2641600"/>
            <a:ext cx="0" cy="2705100"/>
          </a:xfrm>
          <a:prstGeom prst="line">
            <a:avLst/>
          </a:prstGeom>
          <a:ln w="1270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0436874-732F-63C6-0E49-F5D2B31688D3}"/>
              </a:ext>
            </a:extLst>
          </p:cNvPr>
          <p:cNvSpPr txBox="1"/>
          <p:nvPr/>
        </p:nvSpPr>
        <p:spPr>
          <a:xfrm>
            <a:off x="6604000" y="2667000"/>
            <a:ext cx="2286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700" b="1">
                <a:solidFill>
                  <a:srgbClr val="CD5C46"/>
                </a:solidFill>
                <a:latin typeface="Malgun Gothic" panose="020B0503020000020004" pitchFamily="50" charset="-127"/>
              </a:rPr>
              <a:t>남은 필수 승인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41C464-733A-40BC-7797-46959D6E74F2}"/>
              </a:ext>
            </a:extLst>
          </p:cNvPr>
          <p:cNvSpPr txBox="1"/>
          <p:nvPr/>
        </p:nvSpPr>
        <p:spPr>
          <a:xfrm>
            <a:off x="6604000" y="3162300"/>
            <a:ext cx="4038600" cy="1892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2020–2021</a:t>
            </a:r>
          </a:p>
          <a:p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승인 제외 계약 없음</a:t>
            </a:r>
          </a:p>
          <a:p>
            <a:endParaRPr lang="ko-KR" altLang="en-US" sz="1600">
              <a:solidFill>
                <a:srgbClr val="222A34"/>
              </a:solidFill>
              <a:latin typeface="Malgun Gothic" panose="020B0503020000020004" pitchFamily="50" charset="-127"/>
            </a:endParaRP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2022–2025</a:t>
            </a:r>
          </a:p>
          <a:p>
            <a:r>
              <a:rPr lang="en-US" altLang="ko-KR" sz="1600">
                <a:solidFill>
                  <a:srgbClr val="222A34"/>
                </a:solidFill>
                <a:latin typeface="Malgun Gothic" panose="020B0503020000020004" pitchFamily="50" charset="-127"/>
              </a:rPr>
              <a:t>lab </a:t>
            </a:r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입력 계약 생성 전</a:t>
            </a:r>
          </a:p>
          <a:p>
            <a:r>
              <a:rPr lang="ko-KR" altLang="en-US" sz="1600">
                <a:solidFill>
                  <a:srgbClr val="222A34"/>
                </a:solidFill>
                <a:latin typeface="Malgun Gothic" panose="020B0503020000020004" pitchFamily="50" charset="-127"/>
              </a:rPr>
              <a:t>→ 따라서 승인 계약도 아직 없음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1B5EB3-ADFD-B1E7-7D51-8F4D554C29B5}"/>
              </a:ext>
            </a:extLst>
          </p:cNvPr>
          <p:cNvSpPr txBox="1"/>
          <p:nvPr/>
        </p:nvSpPr>
        <p:spPr>
          <a:xfrm>
            <a:off x="6604000" y="5130800"/>
            <a:ext cx="43180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600" b="1">
                <a:solidFill>
                  <a:srgbClr val="CD5C46"/>
                </a:solidFill>
                <a:latin typeface="Malgun Gothic" panose="020B0503020000020004" pitchFamily="50" charset="-127"/>
              </a:rPr>
              <a:t>다음 단계는 </a:t>
            </a:r>
            <a:r>
              <a:rPr lang="en-US" altLang="ko-KR" sz="1600" b="1">
                <a:solidFill>
                  <a:srgbClr val="CD5C46"/>
                </a:solidFill>
                <a:latin typeface="Malgun Gothic" panose="020B0503020000020004" pitchFamily="50" charset="-127"/>
              </a:rPr>
              <a:t>MFA</a:t>
            </a:r>
            <a:r>
              <a:rPr lang="ko-KR" altLang="en-US" sz="1600" b="1">
                <a:solidFill>
                  <a:srgbClr val="CD5C46"/>
                </a:solidFill>
                <a:latin typeface="Malgun Gothic" panose="020B0503020000020004" pitchFamily="50" charset="-127"/>
              </a:rPr>
              <a:t>가 아니라 승인자료 생성이다</a:t>
            </a:r>
            <a:r>
              <a:rPr lang="en-US" altLang="ko-KR" sz="1600" b="1">
                <a:solidFill>
                  <a:srgbClr val="CD5C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600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A4B7E14-E6F5-CEA7-A0F8-0B9248C2F787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DC66DD1-3520-F50D-03D5-394A38027389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4BF41C-79FF-52EA-377A-C6FD397FB10A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13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2953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204D68-D8B2-8460-E482-B5E191AF2268}"/>
              </a:ext>
            </a:extLst>
          </p:cNvPr>
          <p:cNvSpPr txBox="1"/>
          <p:nvPr/>
        </p:nvSpPr>
        <p:spPr>
          <a:xfrm>
            <a:off x="685800" y="317500"/>
            <a:ext cx="355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13 · </a:t>
            </a:r>
            <a:r>
              <a:rPr lang="ko-KR" altLang="en-US" sz="1100" b="1">
                <a:solidFill>
                  <a:srgbClr val="1B7E84"/>
                </a:solidFill>
                <a:latin typeface="Malgun Gothic" panose="020B0503020000020004" pitchFamily="50" charset="-127"/>
              </a:rPr>
              <a:t>지금부터의 순서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FB128D-0969-D2B1-C642-25D537C9CFFC}"/>
              </a:ext>
            </a:extLst>
          </p:cNvPr>
          <p:cNvSpPr txBox="1"/>
          <p:nvPr/>
        </p:nvSpPr>
        <p:spPr>
          <a:xfrm>
            <a:off x="685800" y="622300"/>
            <a:ext cx="10820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승인자료 → 연구자 승인 → 재점검 </a:t>
            </a:r>
            <a:r>
              <a:rPr lang="en-US" altLang="ko-KR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GO → </a:t>
            </a:r>
            <a:r>
              <a:rPr lang="ko-KR" altLang="en-US" sz="2900" b="1">
                <a:solidFill>
                  <a:srgbClr val="1B324D"/>
                </a:solidFill>
                <a:latin typeface="Malgun Gothic" panose="020B0503020000020004" pitchFamily="50" charset="-127"/>
              </a:rPr>
              <a:t>연도 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A4BFBDC-E734-C09B-5333-F8FCC89C695E}"/>
              </a:ext>
            </a:extLst>
          </p:cNvPr>
          <p:cNvSpPr/>
          <p:nvPr/>
        </p:nvSpPr>
        <p:spPr>
          <a:xfrm>
            <a:off x="685800" y="1282700"/>
            <a:ext cx="736600" cy="508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BBB8854-E924-5BED-CBA7-5A0CBD68E2BB}"/>
              </a:ext>
            </a:extLst>
          </p:cNvPr>
          <p:cNvSpPr/>
          <p:nvPr/>
        </p:nvSpPr>
        <p:spPr>
          <a:xfrm>
            <a:off x="685800" y="1765300"/>
            <a:ext cx="2463800" cy="9144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DE8C0-8F77-0EC6-8885-C897A8C68008}"/>
              </a:ext>
            </a:extLst>
          </p:cNvPr>
          <p:cNvSpPr txBox="1"/>
          <p:nvPr/>
        </p:nvSpPr>
        <p:spPr>
          <a:xfrm>
            <a:off x="838200" y="1917700"/>
            <a:ext cx="4318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b="1">
                <a:solidFill>
                  <a:srgbClr val="1B7E84"/>
                </a:solidFill>
                <a:latin typeface="Malgun Gothic" panose="020B0503020000020004" pitchFamily="50" charset="-127"/>
              </a:rPr>
              <a:t>1</a:t>
            </a:r>
            <a:endParaRPr lang="ko-KR" altLang="en-US" b="1">
              <a:solidFill>
                <a:srgbClr val="1B7E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A06ACC-1EE6-CCB6-5C56-274B9EF3CE12}"/>
              </a:ext>
            </a:extLst>
          </p:cNvPr>
          <p:cNvSpPr txBox="1"/>
          <p:nvPr/>
        </p:nvSpPr>
        <p:spPr>
          <a:xfrm>
            <a:off x="1346200" y="1879600"/>
            <a:ext cx="16510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승인 후보표 생성</a:t>
            </a:r>
          </a:p>
          <a:p>
            <a:r>
              <a:rPr lang="en-US" altLang="ko-KR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(MFA </a:t>
            </a:r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시작 안 함</a:t>
            </a:r>
            <a:r>
              <a:rPr lang="en-US" altLang="ko-KR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)</a:t>
            </a:r>
            <a:endParaRPr lang="ko-KR" altLang="en-US" sz="1300" b="1">
              <a:solidFill>
                <a:srgbClr val="222A3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F7B2AB41-D5EF-30A6-1FED-CBA4E64E4CC3}"/>
              </a:ext>
            </a:extLst>
          </p:cNvPr>
          <p:cNvSpPr/>
          <p:nvPr/>
        </p:nvSpPr>
        <p:spPr>
          <a:xfrm>
            <a:off x="3390900" y="1765300"/>
            <a:ext cx="2463800" cy="9144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E1A942-4A64-83D4-E0E6-F747C325A814}"/>
              </a:ext>
            </a:extLst>
          </p:cNvPr>
          <p:cNvSpPr txBox="1"/>
          <p:nvPr/>
        </p:nvSpPr>
        <p:spPr>
          <a:xfrm>
            <a:off x="3543300" y="1917700"/>
            <a:ext cx="4318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b="1">
                <a:solidFill>
                  <a:srgbClr val="1B7E84"/>
                </a:solidFill>
                <a:latin typeface="Malgun Gothic" panose="020B0503020000020004" pitchFamily="50" charset="-127"/>
              </a:rPr>
              <a:t>2</a:t>
            </a:r>
            <a:endParaRPr lang="ko-KR" altLang="en-US" b="1">
              <a:solidFill>
                <a:srgbClr val="1B7E84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BCDC84-239A-6CAC-A52B-7DB7574E23BA}"/>
              </a:ext>
            </a:extLst>
          </p:cNvPr>
          <p:cNvSpPr txBox="1"/>
          <p:nvPr/>
        </p:nvSpPr>
        <p:spPr>
          <a:xfrm>
            <a:off x="4051300" y="1879600"/>
            <a:ext cx="16510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연도별 제외 후보</a:t>
            </a:r>
          </a:p>
          <a:p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연구자 확인</a:t>
            </a:r>
            <a:r>
              <a:rPr lang="en-US" altLang="ko-KR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승인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ACDA057-DD46-5E2D-7AE3-BF3F3E826D86}"/>
              </a:ext>
            </a:extLst>
          </p:cNvPr>
          <p:cNvSpPr/>
          <p:nvPr/>
        </p:nvSpPr>
        <p:spPr>
          <a:xfrm>
            <a:off x="6096000" y="1765300"/>
            <a:ext cx="2463800" cy="9144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CFE09F-DFE3-931D-62FF-5FCBB150A647}"/>
              </a:ext>
            </a:extLst>
          </p:cNvPr>
          <p:cNvSpPr txBox="1"/>
          <p:nvPr/>
        </p:nvSpPr>
        <p:spPr>
          <a:xfrm>
            <a:off x="6248400" y="1917700"/>
            <a:ext cx="4318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b="1">
                <a:solidFill>
                  <a:srgbClr val="CD5C46"/>
                </a:solidFill>
                <a:latin typeface="Malgun Gothic" panose="020B0503020000020004" pitchFamily="50" charset="-127"/>
              </a:rPr>
              <a:t>3</a:t>
            </a:r>
            <a:endParaRPr lang="ko-KR" altLang="en-US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B7C0F6-60B5-CF01-3547-8287FCE23B7B}"/>
              </a:ext>
            </a:extLst>
          </p:cNvPr>
          <p:cNvSpPr txBox="1"/>
          <p:nvPr/>
        </p:nvSpPr>
        <p:spPr>
          <a:xfrm>
            <a:off x="6756400" y="1879600"/>
            <a:ext cx="16510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최종 </a:t>
            </a:r>
            <a:r>
              <a:rPr lang="en-US" altLang="ko-KR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preflight</a:t>
            </a:r>
          </a:p>
          <a:p>
            <a:r>
              <a:rPr lang="en-US" altLang="ko-KR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status=GO </a:t>
            </a:r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확인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793260D-B2A5-CB68-8988-F6B5474F61EB}"/>
              </a:ext>
            </a:extLst>
          </p:cNvPr>
          <p:cNvSpPr/>
          <p:nvPr/>
        </p:nvSpPr>
        <p:spPr>
          <a:xfrm>
            <a:off x="8801100" y="1765300"/>
            <a:ext cx="2705100" cy="914400"/>
          </a:xfrm>
          <a:prstGeom prst="roundRect">
            <a:avLst/>
          </a:prstGeom>
          <a:solidFill>
            <a:srgbClr val="ECF2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7CE0AE-68C6-9949-79C9-FCDECB66180D}"/>
              </a:ext>
            </a:extLst>
          </p:cNvPr>
          <p:cNvSpPr txBox="1"/>
          <p:nvPr/>
        </p:nvSpPr>
        <p:spPr>
          <a:xfrm>
            <a:off x="8953500" y="1917700"/>
            <a:ext cx="4318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b="1">
                <a:solidFill>
                  <a:srgbClr val="1B324D"/>
                </a:solidFill>
                <a:latin typeface="Malgun Gothic" panose="020B0503020000020004" pitchFamily="50" charset="-127"/>
              </a:rPr>
              <a:t>4</a:t>
            </a:r>
            <a:endParaRPr lang="ko-KR" altLang="en-US" b="1">
              <a:solidFill>
                <a:srgbClr val="1B324D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4C88DC-64E5-F3FF-AEC9-7FB6E68F415F}"/>
              </a:ext>
            </a:extLst>
          </p:cNvPr>
          <p:cNvSpPr txBox="1"/>
          <p:nvPr/>
        </p:nvSpPr>
        <p:spPr>
          <a:xfrm>
            <a:off x="9461500" y="1879600"/>
            <a:ext cx="18923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무인 연도 큐 시작</a:t>
            </a:r>
          </a:p>
          <a:p>
            <a:r>
              <a:rPr lang="ko-KR" altLang="en-US" sz="1300" b="1">
                <a:solidFill>
                  <a:srgbClr val="222A34"/>
                </a:solidFill>
                <a:latin typeface="Malgun Gothic" panose="020B0503020000020004" pitchFamily="50" charset="-127"/>
              </a:rPr>
              <a:t>정본 자동승격 안 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C21537B-2FE6-1B34-1076-DB2744C1F66A}"/>
              </a:ext>
            </a:extLst>
          </p:cNvPr>
          <p:cNvSpPr txBox="1"/>
          <p:nvPr/>
        </p:nvSpPr>
        <p:spPr>
          <a:xfrm>
            <a:off x="685800" y="3149600"/>
            <a:ext cx="3048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 b="1">
                <a:solidFill>
                  <a:srgbClr val="1B7E84"/>
                </a:solidFill>
                <a:latin typeface="Malgun Gothic" panose="020B0503020000020004" pitchFamily="50" charset="-127"/>
              </a:rPr>
              <a:t>① 승인자료 생성 명령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2D6E5892-CB5F-D24D-89ED-3F463416A4A6}"/>
              </a:ext>
            </a:extLst>
          </p:cNvPr>
          <p:cNvSpPr/>
          <p:nvPr/>
        </p:nvSpPr>
        <p:spPr>
          <a:xfrm>
            <a:off x="685800" y="3505200"/>
            <a:ext cx="10820400" cy="609600"/>
          </a:xfrm>
          <a:prstGeom prst="roundRect">
            <a:avLst/>
          </a:prstGeom>
          <a:solidFill>
            <a:srgbClr val="12171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BA0F0E-8F8D-5699-445E-9C22D55AC94B}"/>
              </a:ext>
            </a:extLst>
          </p:cNvPr>
          <p:cNvSpPr txBox="1"/>
          <p:nvPr/>
        </p:nvSpPr>
        <p:spPr>
          <a:xfrm>
            <a:off x="889000" y="3644900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400">
                <a:solidFill>
                  <a:srgbClr val="DEEBE9"/>
                </a:solidFill>
                <a:latin typeface="Consolas" panose="020B0609020204030204" pitchFamily="49" charset="0"/>
              </a:rPr>
              <a:t>&amp; ".\scripts\prepare_full_mfa_approval_reviews.ps1"</a:t>
            </a:r>
            <a:endParaRPr lang="ko-KR" altLang="en-US" sz="1400">
              <a:solidFill>
                <a:srgbClr val="DEEBE9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B565E0-C92B-CE3A-618D-BDDEFEC1FE59}"/>
              </a:ext>
            </a:extLst>
          </p:cNvPr>
          <p:cNvSpPr txBox="1"/>
          <p:nvPr/>
        </p:nvSpPr>
        <p:spPr>
          <a:xfrm>
            <a:off x="685800" y="4381500"/>
            <a:ext cx="10820400" cy="317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② 후보 확인 뒤</a:t>
            </a:r>
            <a:r>
              <a:rPr lang="en-US" altLang="ko-KR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승인 계약 → 전체 </a:t>
            </a:r>
            <a:r>
              <a:rPr lang="en-US" altLang="ko-KR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preflight → GO</a:t>
            </a:r>
            <a:r>
              <a:rPr lang="ko-KR" altLang="en-US" sz="1500" b="1">
                <a:solidFill>
                  <a:srgbClr val="1B324D"/>
                </a:solidFill>
                <a:latin typeface="Malgun Gothic" panose="020B0503020000020004" pitchFamily="50" charset="-127"/>
              </a:rPr>
              <a:t>일 때만 연도 큐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B752B71-CCEC-6B05-C75B-0C46774E3D5E}"/>
              </a:ext>
            </a:extLst>
          </p:cNvPr>
          <p:cNvSpPr/>
          <p:nvPr/>
        </p:nvSpPr>
        <p:spPr>
          <a:xfrm>
            <a:off x="685800" y="4787900"/>
            <a:ext cx="10820400" cy="609600"/>
          </a:xfrm>
          <a:prstGeom prst="roundRect">
            <a:avLst/>
          </a:prstGeom>
          <a:solidFill>
            <a:srgbClr val="12171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DA89C2-345E-D974-2A8C-7CE2FD568DE5}"/>
              </a:ext>
            </a:extLst>
          </p:cNvPr>
          <p:cNvSpPr txBox="1"/>
          <p:nvPr/>
        </p:nvSpPr>
        <p:spPr>
          <a:xfrm>
            <a:off x="889000" y="4927600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400">
                <a:solidFill>
                  <a:srgbClr val="DEEBE9"/>
                </a:solidFill>
                <a:latin typeface="Consolas" panose="020B0609020204030204" pitchFamily="49" charset="0"/>
              </a:rPr>
              <a:t>&amp; ".\scripts\start_full_mfa_after_review.ps1" -ApprovedBy "ari30"</a:t>
            </a:r>
            <a:endParaRPr lang="ko-KR" altLang="en-US" sz="1400">
              <a:solidFill>
                <a:srgbClr val="DEEBE9"/>
              </a:solidFill>
              <a:latin typeface="Consolas" panose="020B0609020204030204" pitchFamily="49" charset="0"/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3FAB3FCE-73F5-F1AC-8055-841CDF1004B1}"/>
              </a:ext>
            </a:extLst>
          </p:cNvPr>
          <p:cNvSpPr/>
          <p:nvPr/>
        </p:nvSpPr>
        <p:spPr>
          <a:xfrm>
            <a:off x="685800" y="5651500"/>
            <a:ext cx="10820400" cy="495300"/>
          </a:xfrm>
          <a:prstGeom prst="roundRect">
            <a:avLst/>
          </a:prstGeom>
          <a:solidFill>
            <a:srgbClr val="F8E8E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137C0D-AC0A-A2FA-1DA4-741F0927877D}"/>
              </a:ext>
            </a:extLst>
          </p:cNvPr>
          <p:cNvSpPr txBox="1"/>
          <p:nvPr/>
        </p:nvSpPr>
        <p:spPr>
          <a:xfrm>
            <a:off x="889000" y="5765800"/>
            <a:ext cx="1041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단계는 </a:t>
            </a:r>
            <a:r>
              <a:rPr lang="en-US" altLang="ko-KR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MFA·WAV </a:t>
            </a:r>
            <a:r>
              <a:rPr lang="ko-KR" altLang="en-US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이동</a:t>
            </a:r>
            <a:r>
              <a:rPr lang="en-US" altLang="ko-KR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자동 승인</a:t>
            </a:r>
            <a:r>
              <a:rPr lang="en-US" altLang="ko-KR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정본 승격을 하지 않는다</a:t>
            </a:r>
            <a:r>
              <a:rPr lang="en-US" altLang="ko-KR" sz="1300" b="1">
                <a:solidFill>
                  <a:srgbClr val="CD5C46"/>
                </a:solidFill>
                <a:latin typeface="Malgun Gothic" panose="020B0503020000020004" pitchFamily="50" charset="-127"/>
              </a:rPr>
              <a:t>.</a:t>
            </a:r>
            <a:endParaRPr lang="ko-KR" altLang="en-US" sz="1300" b="1">
              <a:solidFill>
                <a:srgbClr val="CD5C46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F1AF281-44FE-92A4-C419-0BC03DD0335C}"/>
              </a:ext>
            </a:extLst>
          </p:cNvPr>
          <p:cNvCxnSpPr/>
          <p:nvPr/>
        </p:nvCxnSpPr>
        <p:spPr>
          <a:xfrm>
            <a:off x="685800" y="6451600"/>
            <a:ext cx="10820400" cy="0"/>
          </a:xfrm>
          <a:prstGeom prst="line">
            <a:avLst/>
          </a:prstGeom>
          <a:ln w="7620">
            <a:solidFill>
              <a:srgbClr val="B1BB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1C0F239-3038-9FEC-AAA1-1CC75A447968}"/>
              </a:ext>
            </a:extLst>
          </p:cNvPr>
          <p:cNvSpPr txBox="1"/>
          <p:nvPr/>
        </p:nvSpPr>
        <p:spPr>
          <a:xfrm>
            <a:off x="685800" y="6515100"/>
            <a:ext cx="63500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2026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여름 연구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전수 </a:t>
            </a:r>
            <a:r>
              <a:rPr lang="en-US" altLang="ko-KR" sz="900">
                <a:solidFill>
                  <a:srgbClr val="636D77"/>
                </a:solidFill>
                <a:latin typeface="Malgun Gothic" panose="020B0503020000020004" pitchFamily="50" charset="-127"/>
              </a:rPr>
              <a:t>MFA </a:t>
            </a:r>
            <a:r>
              <a:rPr lang="ko-KR" altLang="en-US" sz="900">
                <a:solidFill>
                  <a:srgbClr val="636D77"/>
                </a:solidFill>
                <a:latin typeface="Malgun Gothic" panose="020B0503020000020004" pitchFamily="50" charset="-127"/>
              </a:rPr>
              <a:t>인프라 최종 점검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6F097E-BF9A-0165-F402-9C763869ED41}"/>
              </a:ext>
            </a:extLst>
          </p:cNvPr>
          <p:cNvSpPr txBox="1"/>
          <p:nvPr/>
        </p:nvSpPr>
        <p:spPr>
          <a:xfrm>
            <a:off x="10972800" y="6502400"/>
            <a:ext cx="5334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altLang="ko-KR" sz="900" b="1">
                <a:solidFill>
                  <a:srgbClr val="636D77"/>
                </a:solidFill>
                <a:latin typeface="Malgun Gothic" panose="020B0503020000020004" pitchFamily="50" charset="-127"/>
              </a:rPr>
              <a:t>14</a:t>
            </a:r>
            <a:endParaRPr lang="ko-KR" altLang="en-US" sz="900" b="1">
              <a:solidFill>
                <a:srgbClr val="636D77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2277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2C0FFA-99E4-9CF1-4AFA-1B784ACE555F}"/>
              </a:ext>
            </a:extLst>
          </p:cNvPr>
          <p:cNvSpPr txBox="1"/>
          <p:nvPr/>
        </p:nvSpPr>
        <p:spPr>
          <a:xfrm>
            <a:off x="762000" y="571500"/>
            <a:ext cx="3556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200" b="1">
                <a:solidFill>
                  <a:srgbClr val="48A5A5"/>
                </a:solidFill>
                <a:latin typeface="Malgun Gothic" panose="020B0503020000020004" pitchFamily="50" charset="-127"/>
              </a:rPr>
              <a:t>METHODS-READY</a:t>
            </a:r>
            <a:endParaRPr lang="ko-KR" altLang="en-US" sz="1200" b="1">
              <a:solidFill>
                <a:srgbClr val="48A5A5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F3C40E-3337-DA38-0D04-FBED2AAB4A3B}"/>
              </a:ext>
            </a:extLst>
          </p:cNvPr>
          <p:cNvSpPr txBox="1"/>
          <p:nvPr/>
        </p:nvSpPr>
        <p:spPr>
          <a:xfrm>
            <a:off x="762000" y="1054100"/>
            <a:ext cx="10541000" cy="1168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3600" b="1">
                <a:solidFill>
                  <a:srgbClr val="FFFFFF"/>
                </a:solidFill>
                <a:latin typeface="Malgun Gothic" panose="020B0503020000020004" pitchFamily="50" charset="-127"/>
              </a:rPr>
              <a:t>같은 기준으로 정렬하고</a:t>
            </a:r>
            <a:r>
              <a:rPr lang="en-US" altLang="ko-KR" sz="3600" b="1">
                <a:solidFill>
                  <a:srgbClr val="FFFFFF"/>
                </a:solidFill>
                <a:latin typeface="Malgun Gothic" panose="020B0503020000020004" pitchFamily="50" charset="-127"/>
              </a:rPr>
              <a:t>,</a:t>
            </a:r>
          </a:p>
          <a:p>
            <a:r>
              <a:rPr lang="ko-KR" altLang="en-US" sz="3600" b="1">
                <a:solidFill>
                  <a:srgbClr val="FFFFFF"/>
                </a:solidFill>
                <a:latin typeface="Malgun Gothic" panose="020B0503020000020004" pitchFamily="50" charset="-127"/>
              </a:rPr>
              <a:t>다른 판단으로 남긴다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5E88766-FD1E-826F-C93A-3A2BDBD2C6D8}"/>
              </a:ext>
            </a:extLst>
          </p:cNvPr>
          <p:cNvSpPr/>
          <p:nvPr/>
        </p:nvSpPr>
        <p:spPr>
          <a:xfrm>
            <a:off x="762000" y="2679700"/>
            <a:ext cx="10668000" cy="25400"/>
          </a:xfrm>
          <a:prstGeom prst="rect">
            <a:avLst/>
          </a:prstGeom>
          <a:solidFill>
            <a:srgbClr val="CD5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B1B1CD-BE5D-7712-7FB9-E7371DDF4726}"/>
              </a:ext>
            </a:extLst>
          </p:cNvPr>
          <p:cNvSpPr txBox="1"/>
          <p:nvPr/>
        </p:nvSpPr>
        <p:spPr>
          <a:xfrm>
            <a:off x="762000" y="3086100"/>
            <a:ext cx="10668000" cy="1511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2020–2025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자료에 동일한 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Korean MFA acoustic model, Jamo G2P,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공통 발음사전 및 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phone inventory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를 적용하였다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원 전사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형태소 분석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, MFA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입력 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reference,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사전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/G2P phone, MFA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정렬 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phone,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자동 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Roman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을 별도 출처로 보존하였다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. MFA phone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은 청취 위치를 찾는 자동 강제정렬 보조값이며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실제 음운 실현은 선별 발화의 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WAV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와 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TextGrid</a:t>
            </a:r>
            <a:r>
              <a:rPr lang="ko-KR" altLang="en-US" sz="2000">
                <a:solidFill>
                  <a:srgbClr val="E0EAEB"/>
                </a:solidFill>
                <a:latin typeface="Malgun Gothic" panose="020B0503020000020004" pitchFamily="50" charset="-127"/>
              </a:rPr>
              <a:t>를 연구자가 검토해 별도로 판정하였다</a:t>
            </a:r>
            <a:r>
              <a:rPr lang="en-US" altLang="ko-KR" sz="2000">
                <a:solidFill>
                  <a:srgbClr val="E0EAEB"/>
                </a:solidFill>
                <a:latin typeface="Malgun Gothic" panose="020B0503020000020004" pitchFamily="50" charset="-127"/>
              </a:rPr>
              <a:t>.</a:t>
            </a:r>
            <a:endParaRPr lang="ko-KR" altLang="en-US" sz="2000">
              <a:solidFill>
                <a:srgbClr val="E0EAEB"/>
              </a:solidFill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6B0A2B-D5F6-230E-AF86-8478D94A2429}"/>
              </a:ext>
            </a:extLst>
          </p:cNvPr>
          <p:cNvSpPr txBox="1"/>
          <p:nvPr/>
        </p:nvSpPr>
        <p:spPr>
          <a:xfrm>
            <a:off x="762000" y="5130800"/>
            <a:ext cx="3048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300" b="1">
                <a:solidFill>
                  <a:srgbClr val="48A5A5"/>
                </a:solidFill>
                <a:latin typeface="Malgun Gothic" panose="020B0503020000020004" pitchFamily="50" charset="-127"/>
              </a:rPr>
              <a:t>전수 실행 전 마지막 질문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12CB86-091B-8127-92F6-8A373267DBAD}"/>
              </a:ext>
            </a:extLst>
          </p:cNvPr>
          <p:cNvSpPr txBox="1"/>
          <p:nvPr/>
        </p:nvSpPr>
        <p:spPr>
          <a:xfrm>
            <a:off x="762000" y="5562600"/>
            <a:ext cx="1066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900" b="1">
                <a:solidFill>
                  <a:srgbClr val="FFFFFF"/>
                </a:solidFill>
                <a:latin typeface="Malgun Gothic" panose="020B0503020000020004" pitchFamily="50" charset="-127"/>
              </a:rPr>
              <a:t>모든 승인 계약이 입력 계약 </a:t>
            </a:r>
            <a:r>
              <a:rPr lang="en-US" altLang="ko-KR" sz="1900" b="1">
                <a:solidFill>
                  <a:srgbClr val="FFFFFF"/>
                </a:solidFill>
                <a:latin typeface="Malgun Gothic" panose="020B0503020000020004" pitchFamily="50" charset="-127"/>
              </a:rPr>
              <a:t>ID</a:t>
            </a:r>
            <a:r>
              <a:rPr lang="ko-KR" altLang="en-US" sz="1900" b="1">
                <a:solidFill>
                  <a:srgbClr val="FFFFFF"/>
                </a:solidFill>
                <a:latin typeface="Malgun Gothic" panose="020B0503020000020004" pitchFamily="50" charset="-127"/>
              </a:rPr>
              <a:t>와 묶였는가</a:t>
            </a:r>
            <a:r>
              <a:rPr lang="en-US" altLang="ko-KR" sz="1900" b="1">
                <a:solidFill>
                  <a:srgbClr val="FFFFFF"/>
                </a:solidFill>
                <a:latin typeface="Malgun Gothic" panose="020B0503020000020004" pitchFamily="50" charset="-127"/>
              </a:rPr>
              <a:t>?  →  GO</a:t>
            </a:r>
            <a:r>
              <a:rPr lang="ko-KR" altLang="en-US" sz="1900" b="1">
                <a:solidFill>
                  <a:srgbClr val="FFFFFF"/>
                </a:solidFill>
                <a:latin typeface="Malgun Gothic" panose="020B0503020000020004" pitchFamily="50" charset="-127"/>
              </a:rPr>
              <a:t>일 때만 시작한다</a:t>
            </a:r>
            <a:r>
              <a:rPr lang="en-US" altLang="ko-KR" sz="1900" b="1">
                <a:solidFill>
                  <a:srgbClr val="FFFFFF"/>
                </a:solidFill>
                <a:latin typeface="Malgun Gothic" panose="020B0503020000020004" pitchFamily="50" charset="-127"/>
              </a:rPr>
              <a:t>.</a:t>
            </a:r>
            <a:endParaRPr lang="ko-KR" altLang="en-US" sz="19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CE1C9-D8AA-BAA3-37BC-1D17BCAAF902}"/>
              </a:ext>
            </a:extLst>
          </p:cNvPr>
          <p:cNvSpPr txBox="1"/>
          <p:nvPr/>
        </p:nvSpPr>
        <p:spPr>
          <a:xfrm>
            <a:off x="762000" y="6350000"/>
            <a:ext cx="1066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1000">
                <a:solidFill>
                  <a:srgbClr val="B7CACF"/>
                </a:solidFill>
                <a:latin typeface="Malgun Gothic" panose="020B0503020000020004" pitchFamily="50" charset="-127"/>
              </a:rPr>
              <a:t>산출물</a:t>
            </a:r>
            <a:r>
              <a:rPr lang="en-US" altLang="ko-KR" sz="1000">
                <a:solidFill>
                  <a:srgbClr val="B7CACF"/>
                </a:solidFill>
                <a:latin typeface="Malgun Gothic" panose="020B0503020000020004" pitchFamily="50" charset="-127"/>
              </a:rPr>
              <a:t>: 6-tier TextGrid · </a:t>
            </a:r>
            <a:r>
              <a:rPr lang="ko-KR" altLang="en-US" sz="1000">
                <a:solidFill>
                  <a:srgbClr val="B7CACF"/>
                </a:solidFill>
                <a:latin typeface="Malgun Gothic" panose="020B0503020000020004" pitchFamily="50" charset="-127"/>
              </a:rPr>
              <a:t>연도별 </a:t>
            </a:r>
            <a:r>
              <a:rPr lang="en-US" altLang="ko-KR" sz="1000">
                <a:solidFill>
                  <a:srgbClr val="B7CACF"/>
                </a:solidFill>
                <a:latin typeface="Malgun Gothic" panose="020B0503020000020004" pitchFamily="50" charset="-127"/>
              </a:rPr>
              <a:t>gzip/Parquet · </a:t>
            </a:r>
            <a:r>
              <a:rPr lang="ko-KR" altLang="en-US" sz="1000">
                <a:solidFill>
                  <a:srgbClr val="B7CACF"/>
                </a:solidFill>
                <a:latin typeface="Malgun Gothic" panose="020B0503020000020004" pitchFamily="50" charset="-127"/>
              </a:rPr>
              <a:t>제외 </a:t>
            </a:r>
            <a:r>
              <a:rPr lang="en-US" altLang="ko-KR" sz="1000">
                <a:solidFill>
                  <a:srgbClr val="B7CACF"/>
                </a:solidFill>
                <a:latin typeface="Malgun Gothic" panose="020B0503020000020004" pitchFamily="50" charset="-127"/>
              </a:rPr>
              <a:t>inventory · </a:t>
            </a:r>
            <a:r>
              <a:rPr lang="ko-KR" altLang="en-US" sz="1000">
                <a:solidFill>
                  <a:srgbClr val="B7CACF"/>
                </a:solidFill>
                <a:latin typeface="Malgun Gothic" panose="020B0503020000020004" pitchFamily="50" charset="-127"/>
              </a:rPr>
              <a:t>실행 </a:t>
            </a:r>
            <a:r>
              <a:rPr lang="en-US" altLang="ko-KR" sz="1000">
                <a:solidFill>
                  <a:srgbClr val="B7CACF"/>
                </a:solidFill>
                <a:latin typeface="Malgun Gothic" panose="020B0503020000020004" pitchFamily="50" charset="-127"/>
              </a:rPr>
              <a:t>manifest · </a:t>
            </a:r>
            <a:r>
              <a:rPr lang="ko-KR" altLang="en-US" sz="1000">
                <a:solidFill>
                  <a:srgbClr val="B7CACF"/>
                </a:solidFill>
                <a:latin typeface="Malgun Gothic" panose="020B0503020000020004" pitchFamily="50" charset="-127"/>
              </a:rPr>
              <a:t>수동 판정표</a:t>
            </a:r>
          </a:p>
        </p:txBody>
      </p:sp>
    </p:spTree>
    <p:extLst>
      <p:ext uri="{BB962C8B-B14F-4D97-AF65-F5344CB8AC3E}">
        <p14:creationId xmlns:p14="http://schemas.microsoft.com/office/powerpoint/2010/main" val="787530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2510</Words>
  <Application>Microsoft Office PowerPoint</Application>
  <PresentationFormat>사용자 지정</PresentationFormat>
  <Paragraphs>335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맑은 고딕</vt:lpstr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</dc:creator>
  <cp:lastModifiedBy>w</cp:lastModifiedBy>
  <cp:revision>1</cp:revision>
  <dcterms:created xsi:type="dcterms:W3CDTF">2026-08-01T05:30:15Z</dcterms:created>
  <dcterms:modified xsi:type="dcterms:W3CDTF">2026-08-01T05:30:15Z</dcterms:modified>
</cp:coreProperties>
</file>