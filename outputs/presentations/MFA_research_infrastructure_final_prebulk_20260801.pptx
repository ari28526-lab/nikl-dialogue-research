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8" y="6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1EF66E-ABDB-4997-9297-22CAE6C0F03C}" type="datetimeFigureOut">
              <a:rPr lang="ko-KR" altLang="en-US" smtClean="0"/>
              <a:t>2026-08-01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58F5F9-59A5-4407-87D2-86A17158B0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0477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[Sources]</a:t>
            </a:r>
          </a:p>
          <a:p>
            <a:r>
              <a:rPr lang="en-US" altLang="ko-KR"/>
              <a:t>- C:\Users\ari30\research\2026_summer_research\docs\decisions\PROPOSAL_full_production_TextGrid_CSV_contract_20260801.md</a:t>
            </a:r>
          </a:p>
          <a:p>
            <a:r>
              <a:rPr lang="en-US" altLang="ko-KR"/>
              <a:t>- C:\Users\ari30\research\2026_summer_research\docs\environment\linguistics-research-environment-master-notes.md</a:t>
            </a:r>
          </a:p>
          <a:p>
            <a:r>
              <a:rPr lang="en-US" altLang="ko-KR"/>
              <a:t>[/Sources]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58F5F9-59A5-4407-87D2-86A17158B0E7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18101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[Sources]</a:t>
            </a:r>
          </a:p>
          <a:p>
            <a:r>
              <a:rPr lang="en-US" altLang="ko-KR"/>
              <a:t>- C:\Users\ari30\research\2026_summer_research\docs\decisions\PROPOSAL_full_production_TextGrid_CSV_contract_20260801.md</a:t>
            </a:r>
          </a:p>
          <a:p>
            <a:r>
              <a:rPr lang="en-US" altLang="ko-KR"/>
              <a:t>[/Sources]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58F5F9-59A5-4407-87D2-86A17158B0E7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1372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[Sources]</a:t>
            </a:r>
          </a:p>
          <a:p>
            <a:r>
              <a:rPr lang="en-US" altLang="ko-KR"/>
              <a:t>- C:\Users\ari30\Downloads\WorkshopLecture1-v4.pdf (pp.3, 10)</a:t>
            </a:r>
          </a:p>
          <a:p>
            <a:r>
              <a:rPr lang="en-US" altLang="ko-KR"/>
              <a:t>- C:\Users\ari30\Downloads\KCI_FI002007633.pdf (pp.3–4, 6–7)</a:t>
            </a:r>
          </a:p>
          <a:p>
            <a:r>
              <a:rPr lang="en-US" altLang="ko-KR"/>
              <a:t>[/Sources]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58F5F9-59A5-4407-87D2-86A17158B0E7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95187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[Sources]</a:t>
            </a:r>
          </a:p>
          <a:p>
            <a:r>
              <a:rPr lang="en-US" altLang="ko-KR"/>
              <a:t>- C:\Users\ari30\research\2026_summer_research\docs\decisions\PROPOSAL_full_production_TextGrid_CSV_contract_20260801.md</a:t>
            </a:r>
          </a:p>
          <a:p>
            <a:r>
              <a:rPr lang="en-US" altLang="ko-KR"/>
              <a:t>[/Sources]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58F5F9-59A5-4407-87D2-86A17158B0E7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48578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[Sources]</a:t>
            </a:r>
          </a:p>
          <a:p>
            <a:r>
              <a:rPr lang="en-US" altLang="ko-KR"/>
              <a:t>- C:\Users\ari30\research\2026_summer_research\docs\decisions\PROPOSAL_full_production_TextGrid_CSV_contract_20260801.md</a:t>
            </a:r>
          </a:p>
          <a:p>
            <a:r>
              <a:rPr lang="en-US" altLang="ko-KR"/>
              <a:t>[/Sources]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58F5F9-59A5-4407-87D2-86A17158B0E7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34046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[Sources]</a:t>
            </a:r>
          </a:p>
          <a:p>
            <a:r>
              <a:rPr lang="en-US" altLang="ko-KR"/>
              <a:t>- C:\Users\ari30\research\2026_summer_research\docs\decisions\PROPOSAL_full_production_TextGrid_CSV_contract_20260801.md</a:t>
            </a:r>
          </a:p>
          <a:p>
            <a:r>
              <a:rPr lang="en-US" altLang="ko-KR"/>
              <a:t>- C:\Users\ari30\research\2026_summer_research\outputs\reports\RESULT_research_6tier_candidate_60_20260801.md</a:t>
            </a:r>
          </a:p>
          <a:p>
            <a:r>
              <a:rPr lang="en-US" altLang="ko-KR"/>
              <a:t>[/Sources]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58F5F9-59A5-4407-87D2-86A17158B0E7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68866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[Sources]</a:t>
            </a:r>
          </a:p>
          <a:p>
            <a:r>
              <a:rPr lang="en-US" altLang="ko-KR"/>
              <a:t>- C:\Users\ari30\research\2026_summer_research\docs\decisions\PROPOSAL_full_production_TextGrid_CSV_contract_20260801.md</a:t>
            </a:r>
          </a:p>
          <a:p>
            <a:r>
              <a:rPr lang="en-US" altLang="ko-KR"/>
              <a:t>- C:\Users\ari30\research\2026_summer_research\config\research_companion_tables_schema_v2.json</a:t>
            </a:r>
          </a:p>
          <a:p>
            <a:r>
              <a:rPr lang="en-US" altLang="ko-KR"/>
              <a:t>[/Sources]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58F5F9-59A5-4407-87D2-86A17158B0E7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79883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[Sources]</a:t>
            </a:r>
          </a:p>
          <a:p>
            <a:r>
              <a:rPr lang="en-US" altLang="ko-KR"/>
              <a:t>- C:\Users\ari30\research\2026_summer_research\docs\decisions\PROPOSAL_full_production_TextGrid_CSV_contract_20260801.md</a:t>
            </a:r>
          </a:p>
          <a:p>
            <a:r>
              <a:rPr lang="en-US" altLang="ko-KR"/>
              <a:t>[/Sources]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58F5F9-59A5-4407-87D2-86A17158B0E7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40532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[Sources]</a:t>
            </a:r>
          </a:p>
          <a:p>
            <a:r>
              <a:rPr lang="en-US" altLang="ko-KR"/>
              <a:t>- C:\Users\ari30\research\2026_summer_research\docs\decisions\PROPOSAL_full_production_TextGrid_CSV_contract_20260801.md</a:t>
            </a:r>
          </a:p>
          <a:p>
            <a:r>
              <a:rPr lang="en-US" altLang="ko-KR"/>
              <a:t>- C:\Users\ari30\Downloads\KCI_FI002007633.pdf (pp.4–6; </a:t>
            </a:r>
            <a:r>
              <a:rPr lang="ko-KR" altLang="en-US"/>
              <a:t>자동 경계 후 수동 교정 절차의 비교 참고</a:t>
            </a:r>
            <a:r>
              <a:rPr lang="en-US" altLang="ko-KR"/>
              <a:t>)</a:t>
            </a:r>
          </a:p>
          <a:p>
            <a:r>
              <a:rPr lang="en-US" altLang="ko-KR"/>
              <a:t>[/Sources]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58F5F9-59A5-4407-87D2-86A17158B0E7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71224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[Sources]</a:t>
            </a:r>
          </a:p>
          <a:p>
            <a:r>
              <a:rPr lang="en-US" altLang="ko-KR"/>
              <a:t>- C:\Users\ari30\research\2026_summer_research\docs\decisions\PROPOSAL_full_production_TextGrid_CSV_contract_20260801.md</a:t>
            </a:r>
          </a:p>
          <a:p>
            <a:r>
              <a:rPr lang="en-US" altLang="ko-KR"/>
              <a:t>- C:\Users\ari30\research\2026_summer_research\docs\environment\linguistics-research-environment-master-notes.md</a:t>
            </a:r>
          </a:p>
          <a:p>
            <a:r>
              <a:rPr lang="en-US" altLang="ko-KR"/>
              <a:t>[/Sources]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58F5F9-59A5-4407-87D2-86A17158B0E7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95469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[Sources]</a:t>
            </a:r>
          </a:p>
          <a:p>
            <a:r>
              <a:rPr lang="en-US" altLang="ko-KR"/>
              <a:t>- C:\Users\ari30\research\2026_summer_research\docs\decisions\PROPOSAL_full_production_TextGrid_CSV_contract_20260801.md</a:t>
            </a:r>
          </a:p>
          <a:p>
            <a:r>
              <a:rPr lang="en-US" altLang="ko-KR"/>
              <a:t>- C:\Users\ari30\Downloads\WorkshopLecture1-v4.pdf (pp.10, 21; </a:t>
            </a:r>
            <a:r>
              <a:rPr lang="ko-KR" altLang="en-US"/>
              <a:t>경계 양쪽 </a:t>
            </a:r>
            <a:r>
              <a:rPr lang="en-US" altLang="ko-KR"/>
              <a:t>target </a:t>
            </a:r>
            <a:r>
              <a:rPr lang="ko-KR" altLang="en-US"/>
              <a:t>검색 사례</a:t>
            </a:r>
            <a:r>
              <a:rPr lang="en-US" altLang="ko-KR"/>
              <a:t>)</a:t>
            </a:r>
          </a:p>
          <a:p>
            <a:r>
              <a:rPr lang="en-US" altLang="ko-KR"/>
              <a:t>[/Sources]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58F5F9-59A5-4407-87D2-86A17158B0E7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3986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[Sources]</a:t>
            </a:r>
          </a:p>
          <a:p>
            <a:r>
              <a:rPr lang="en-US" altLang="ko-KR"/>
              <a:t>- C:\Users\ari30\research\2026_summer_research\docs\decisions\DECISION_incremental_unattended_year_MFA_20260801.md</a:t>
            </a:r>
          </a:p>
          <a:p>
            <a:r>
              <a:rPr lang="en-US" altLang="ko-KR"/>
              <a:t>- C:\Users\ari30\research\2026_summer_research\scripts\run_mfa_year_queue_safe.ps1</a:t>
            </a:r>
          </a:p>
          <a:p>
            <a:r>
              <a:rPr lang="en-US" altLang="ko-KR"/>
              <a:t>- C:\Users\ari30\research\2026_summer_research\scripts\run_eojeol_realign.ps1</a:t>
            </a:r>
          </a:p>
          <a:p>
            <a:r>
              <a:rPr lang="en-US" altLang="ko-KR"/>
              <a:t>[/Sources]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58F5F9-59A5-4407-87D2-86A17158B0E7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92336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[Sources]</a:t>
            </a:r>
          </a:p>
          <a:p>
            <a:r>
              <a:rPr lang="en-US" altLang="ko-KR"/>
              <a:t>- C:\Users\ari30\research\2026_summer_research\outputs\reports\PREFLIGHT_mfa_year_queue_mfa_r2_full6y_20260801.json</a:t>
            </a:r>
          </a:p>
          <a:p>
            <a:r>
              <a:rPr lang="en-US" altLang="ko-KR"/>
              <a:t>- C:\Users\ari30\research\2026_summer_research\outputs\reports\PREFLIGHT_mfa_adoption_mfa_r2_full6y_20260801.json</a:t>
            </a:r>
          </a:p>
          <a:p>
            <a:r>
              <a:rPr lang="en-US" altLang="ko-KR"/>
              <a:t>[/Sources]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58F5F9-59A5-4407-87D2-86A17158B0E7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33586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[Sources]</a:t>
            </a:r>
          </a:p>
          <a:p>
            <a:r>
              <a:rPr lang="en-US" altLang="ko-KR"/>
              <a:t>- C:\Users\ari30\research\2026_summer_research\scripts\run_mfa_year_queue_safe.ps1</a:t>
            </a:r>
          </a:p>
          <a:p>
            <a:r>
              <a:rPr lang="en-US" altLang="ko-KR"/>
              <a:t>- C:\Users\ari30\research\2026_summer_research\scripts\preflight_mfa_year_queue.ps1</a:t>
            </a:r>
          </a:p>
          <a:p>
            <a:r>
              <a:rPr lang="en-US" altLang="ko-KR"/>
              <a:t>- C:\Users\ari30\research\2026_summer_research\docs\decisions\DECISION_incremental_unattended_year_MFA_20260801.md</a:t>
            </a:r>
          </a:p>
          <a:p>
            <a:r>
              <a:rPr lang="en-US" altLang="ko-KR"/>
              <a:t>[/Sources]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58F5F9-59A5-4407-87D2-86A17158B0E7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325416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[Sources]</a:t>
            </a:r>
          </a:p>
          <a:p>
            <a:r>
              <a:rPr lang="en-US" altLang="ko-KR"/>
              <a:t>- C:\Users\ari30\research\2026_summer_research\docs\decisions\PROPOSAL_full_production_TextGrid_CSV_contract_20260801.md</a:t>
            </a:r>
          </a:p>
          <a:p>
            <a:r>
              <a:rPr lang="en-US" altLang="ko-KR"/>
              <a:t>- C:\Users\ari30\research\2026_summer_research\docs\decisions\DECISION_incremental_unattended_year_MFA_20260801.md</a:t>
            </a:r>
          </a:p>
          <a:p>
            <a:r>
              <a:rPr lang="en-US" altLang="ko-KR"/>
              <a:t>[/Sources]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58F5F9-59A5-4407-87D2-86A17158B0E7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51531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C9A578-76B8-A19C-28A2-659F7C4B6E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1AB94BD-1550-9DDC-50D5-E95BAC3228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3AA310B-7830-EE8A-9811-2D41B9AD4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06E2F-B4EF-437A-9E51-118F8D56CC4B}" type="datetimeFigureOut">
              <a:rPr lang="ko-KR" altLang="en-US" smtClean="0"/>
              <a:t>2026-08-01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4A08B5C-A615-75F6-1D1C-2CF8FF701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B7C902F-6F0C-BCD8-812E-50834F435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9EEB6-6CAE-4EEF-8261-C376FD6834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191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6827B1-9D46-D557-B673-C9198817C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8684AB9-7842-4C84-69A0-38CEFD353C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D53DEB-810E-E19C-CF84-B8D2FB6B6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06E2F-B4EF-437A-9E51-118F8D56CC4B}" type="datetimeFigureOut">
              <a:rPr lang="ko-KR" altLang="en-US" smtClean="0"/>
              <a:t>2026-08-01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D92BD6D-6F8D-12B0-E1CD-ADC06B446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48EDFB8-D752-49E0-4D9F-7FCE65A28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9EEB6-6CAE-4EEF-8261-C376FD6834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76763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01ACFC-C357-E44F-6DC1-80EBAB8C5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0AA4F2E-CEDD-3613-2429-A466B2B68D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8482861-8E3B-907F-7A0B-8F09CDB18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06E2F-B4EF-437A-9E51-118F8D56CC4B}" type="datetimeFigureOut">
              <a:rPr lang="ko-KR" altLang="en-US" smtClean="0"/>
              <a:t>2026-08-01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DC3C79-ED3D-695A-8B2B-D63384E08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80A0816-B56F-31E7-46D0-A71E3D94F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9EEB6-6CAE-4EEF-8261-C376FD6834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69224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3B974B-8A40-3782-8B19-D02B42E75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9E2BB7-CE12-B93B-8378-61C9C5EF7E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CE06E86-487A-BE10-9857-D195F7E7CB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C07072F-2E5C-0763-21FD-D05707641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06E2F-B4EF-437A-9E51-118F8D56CC4B}" type="datetimeFigureOut">
              <a:rPr lang="ko-KR" altLang="en-US" smtClean="0"/>
              <a:t>2026-08-01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5A4A4EC-1CB0-FE76-A917-664D12EB1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B400F7C-4E21-1B7E-5250-4595A1AEA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9EEB6-6CAE-4EEF-8261-C376FD6834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95808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3B9F32-9D89-57BE-3A48-5AFFD44047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352CEA0-692A-2D58-FADB-7A7F6400DF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4D9673D-4835-7F35-4229-F849BDE4B5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9551515-198A-A3FF-B44F-42557E8040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DE165B8-E5A8-0B60-4CB1-618F413B56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C0FC9F0-32EC-5E0C-7534-56904E09A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06E2F-B4EF-437A-9E51-118F8D56CC4B}" type="datetimeFigureOut">
              <a:rPr lang="ko-KR" altLang="en-US" smtClean="0"/>
              <a:t>2026-08-01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8C14123-4A62-1422-8F19-4DD2A5ABA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9960C77-6256-E4EE-07FA-3EEF231C9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9EEB6-6CAE-4EEF-8261-C376FD6834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2493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8B0A55-10BE-3697-FAA9-9DC7FC1D0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B5B3562-F4FF-DD9C-6F65-663EA88E9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06E2F-B4EF-437A-9E51-118F8D56CC4B}" type="datetimeFigureOut">
              <a:rPr lang="ko-KR" altLang="en-US" smtClean="0"/>
              <a:t>2026-08-01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DD8060B-56C1-B3D1-CE75-3174A5EF5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0FD1E47-56F3-9975-67AA-4DA9A0B52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9EEB6-6CAE-4EEF-8261-C376FD6834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19321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C865148-CA45-101F-D60F-4EB8929D1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06E2F-B4EF-437A-9E51-118F8D56CC4B}" type="datetimeFigureOut">
              <a:rPr lang="ko-KR" altLang="en-US" smtClean="0"/>
              <a:t>2026-08-01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EFC17B8-DF53-58CA-285A-55D1B3925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9F7005A-71BC-7980-A1A4-B56090EC5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9EEB6-6CAE-4EEF-8261-C376FD6834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56096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6BAD77-45B8-AC96-0EA1-2E60C7B5B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B61BD9F-6BB9-C305-B381-DF8AF02C3F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F9CAB7C-64F1-16A8-25A7-63133FA9F6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A474888-CE21-0452-E602-8E6C60B4F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06E2F-B4EF-437A-9E51-118F8D56CC4B}" type="datetimeFigureOut">
              <a:rPr lang="ko-KR" altLang="en-US" smtClean="0"/>
              <a:t>2026-08-01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B156D34-3363-20C5-806D-8004C4FBB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BD288AB-5C9D-4D58-880D-6355C14EE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9EEB6-6CAE-4EEF-8261-C376FD6834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15620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37E66C-A4CF-6C25-A207-384828FB8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122E380-88C5-BF24-4CEB-F18E418A44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A883835-87B8-5869-D635-3362B3B346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EF6C72C-6AD9-DBB8-985D-C0FEAED31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06E2F-B4EF-437A-9E51-118F8D56CC4B}" type="datetimeFigureOut">
              <a:rPr lang="ko-KR" altLang="en-US" smtClean="0"/>
              <a:t>2026-08-01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EABDEB5-6405-F4DD-3457-70BF4A619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E103DC1-A571-4FE9-5A2D-9EFA85981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9EEB6-6CAE-4EEF-8261-C376FD6834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76766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0724F9-61DF-66F6-D003-2F6C7E49A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2C28D34-5365-8638-7290-531F468E35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E3E7A1-9C0E-8BFF-9AC4-FF46E88D3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06E2F-B4EF-437A-9E51-118F8D56CC4B}" type="datetimeFigureOut">
              <a:rPr lang="ko-KR" altLang="en-US" smtClean="0"/>
              <a:t>2026-08-01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A33D13-7133-D652-1DBF-289573A5F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A03B3F-A99C-812A-BF44-8A3EDFCF9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9EEB6-6CAE-4EEF-8261-C376FD6834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7839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6B92BC6-878F-12FB-38B9-A1CB421045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D43B8EA-D85B-A0CE-31A7-63CEEFE866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913FA9B-7550-AB6C-66D8-9E933733C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06E2F-B4EF-437A-9E51-118F8D56CC4B}" type="datetimeFigureOut">
              <a:rPr lang="ko-KR" altLang="en-US" smtClean="0"/>
              <a:t>2026-08-01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06555C5-4FC2-E866-834E-7E82C1EF4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6532D41-2724-E1AF-1F46-EBAF20F76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9EEB6-6CAE-4EEF-8261-C376FD6834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808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D287F27-D889-ADD1-1499-82B7B5DA0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9620F8B-1D33-C6F7-944C-5FFC315B47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B1565CD-F492-78EB-65C1-B58412EED1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C06E2F-B4EF-437A-9E51-118F8D56CC4B}" type="datetimeFigureOut">
              <a:rPr lang="ko-KR" altLang="en-US" smtClean="0"/>
              <a:t>2026-08-01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F6CA89F-8BD5-C777-9500-0F27DAC107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BAE187-8D44-D993-6CCD-74E93DC656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69EEB6-6CAE-4EEF-8261-C376FD6834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39630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2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5BAD3F39-A0CA-DD95-939F-546E2C56A88E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D5C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B8D117-66F7-D7AA-43D0-0DC52BDBA621}"/>
              </a:ext>
            </a:extLst>
          </p:cNvPr>
          <p:cNvSpPr txBox="1"/>
          <p:nvPr/>
        </p:nvSpPr>
        <p:spPr>
          <a:xfrm>
            <a:off x="812800" y="914400"/>
            <a:ext cx="9779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500" b="1">
                <a:solidFill>
                  <a:srgbClr val="48A5A5"/>
                </a:solidFill>
                <a:latin typeface="Malgun Gothic" panose="020B0503020000020004" pitchFamily="50" charset="-127"/>
              </a:rPr>
              <a:t>2020–2025 </a:t>
            </a:r>
            <a:r>
              <a:rPr lang="ko-KR" altLang="en-US" sz="1500" b="1">
                <a:solidFill>
                  <a:srgbClr val="48A5A5"/>
                </a:solidFill>
                <a:latin typeface="Malgun Gothic" panose="020B0503020000020004" pitchFamily="50" charset="-127"/>
              </a:rPr>
              <a:t>대화 음성 연구 인프라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1CC95B-194F-FB43-5D55-C9BD5ECB74CB}"/>
              </a:ext>
            </a:extLst>
          </p:cNvPr>
          <p:cNvSpPr txBox="1"/>
          <p:nvPr/>
        </p:nvSpPr>
        <p:spPr>
          <a:xfrm>
            <a:off x="812800" y="1473200"/>
            <a:ext cx="9969500" cy="147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4300" b="1">
                <a:solidFill>
                  <a:srgbClr val="FFFFFF"/>
                </a:solidFill>
                <a:latin typeface="Malgun Gothic" panose="020B0503020000020004" pitchFamily="50" charset="-127"/>
              </a:rPr>
              <a:t>찾고</a:t>
            </a:r>
            <a:r>
              <a:rPr lang="en-US" altLang="ko-KR" sz="4300" b="1">
                <a:solidFill>
                  <a:srgbClr val="FFFFFF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4300" b="1">
                <a:solidFill>
                  <a:srgbClr val="FFFFFF"/>
                </a:solidFill>
                <a:latin typeface="Malgun Gothic" panose="020B0503020000020004" pitchFamily="50" charset="-127"/>
              </a:rPr>
              <a:t>정렬하고</a:t>
            </a:r>
            <a:r>
              <a:rPr lang="en-US" altLang="ko-KR" sz="4300" b="1">
                <a:solidFill>
                  <a:srgbClr val="FFFFFF"/>
                </a:solidFill>
                <a:latin typeface="Malgun Gothic" panose="020B0503020000020004" pitchFamily="50" charset="-127"/>
              </a:rPr>
              <a:t>,</a:t>
            </a:r>
          </a:p>
          <a:p>
            <a:r>
              <a:rPr lang="ko-KR" altLang="en-US" sz="4300" b="1">
                <a:solidFill>
                  <a:srgbClr val="FFFFFF"/>
                </a:solidFill>
                <a:latin typeface="Malgun Gothic" panose="020B0503020000020004" pitchFamily="50" charset="-127"/>
              </a:rPr>
              <a:t>직접 판정할 수 있게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A000E9-3BB8-C184-7799-926E4976A0F8}"/>
              </a:ext>
            </a:extLst>
          </p:cNvPr>
          <p:cNvSpPr txBox="1"/>
          <p:nvPr/>
        </p:nvSpPr>
        <p:spPr>
          <a:xfrm>
            <a:off x="850900" y="3124200"/>
            <a:ext cx="10287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700">
                <a:solidFill>
                  <a:srgbClr val="D3E1E3"/>
                </a:solidFill>
                <a:latin typeface="Malgun Gothic" panose="020B0503020000020004" pitchFamily="50" charset="-127"/>
              </a:rPr>
              <a:t>공통 </a:t>
            </a:r>
            <a:r>
              <a:rPr lang="en-US" altLang="ko-KR" sz="1700">
                <a:solidFill>
                  <a:srgbClr val="D3E1E3"/>
                </a:solidFill>
                <a:latin typeface="Malgun Gothic" panose="020B0503020000020004" pitchFamily="50" charset="-127"/>
              </a:rPr>
              <a:t>Jamo </a:t>
            </a:r>
            <a:r>
              <a:rPr lang="ko-KR" altLang="en-US" sz="1700">
                <a:solidFill>
                  <a:srgbClr val="D3E1E3"/>
                </a:solidFill>
                <a:latin typeface="Malgun Gothic" panose="020B0503020000020004" pitchFamily="50" charset="-127"/>
              </a:rPr>
              <a:t>발음사전 </a:t>
            </a:r>
            <a:r>
              <a:rPr lang="en-US" altLang="ko-KR" sz="1700">
                <a:solidFill>
                  <a:srgbClr val="D3E1E3"/>
                </a:solidFill>
                <a:latin typeface="Malgun Gothic" panose="020B0503020000020004" pitchFamily="50" charset="-127"/>
              </a:rPr>
              <a:t>· MFA · 6-tier TextGrid · </a:t>
            </a:r>
            <a:r>
              <a:rPr lang="ko-KR" altLang="en-US" sz="1700">
                <a:solidFill>
                  <a:srgbClr val="D3E1E3"/>
                </a:solidFill>
                <a:latin typeface="Malgun Gothic" panose="020B0503020000020004" pitchFamily="50" charset="-127"/>
              </a:rPr>
              <a:t>검색용 </a:t>
            </a:r>
            <a:r>
              <a:rPr lang="en-US" altLang="ko-KR" sz="1700">
                <a:solidFill>
                  <a:srgbClr val="D3E1E3"/>
                </a:solidFill>
                <a:latin typeface="Malgun Gothic" panose="020B0503020000020004" pitchFamily="50" charset="-127"/>
              </a:rPr>
              <a:t>CSV/Parquet · </a:t>
            </a:r>
            <a:r>
              <a:rPr lang="ko-KR" altLang="en-US" sz="1700">
                <a:solidFill>
                  <a:srgbClr val="D3E1E3"/>
                </a:solidFill>
                <a:latin typeface="Malgun Gothic" panose="020B0503020000020004" pitchFamily="50" charset="-127"/>
              </a:rPr>
              <a:t>연도별 복구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B059A17C-0233-0C76-47FB-5938638CFBB0}"/>
              </a:ext>
            </a:extLst>
          </p:cNvPr>
          <p:cNvCxnSpPr/>
          <p:nvPr/>
        </p:nvCxnSpPr>
        <p:spPr>
          <a:xfrm>
            <a:off x="2705100" y="4660900"/>
            <a:ext cx="736600" cy="0"/>
          </a:xfrm>
          <a:prstGeom prst="line">
            <a:avLst/>
          </a:prstGeom>
          <a:ln w="25400">
            <a:solidFill>
              <a:srgbClr val="48A5A5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0332950D-C80E-3D28-F881-EFF154EFAC6A}"/>
              </a:ext>
            </a:extLst>
          </p:cNvPr>
          <p:cNvSpPr/>
          <p:nvPr/>
        </p:nvSpPr>
        <p:spPr>
          <a:xfrm>
            <a:off x="825500" y="4292600"/>
            <a:ext cx="1905000" cy="736600"/>
          </a:xfrm>
          <a:prstGeom prst="roundRect">
            <a:avLst/>
          </a:prstGeom>
          <a:solidFill>
            <a:srgbClr val="26436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C90256-DB4D-44B7-F21C-E2ABAFCD7929}"/>
              </a:ext>
            </a:extLst>
          </p:cNvPr>
          <p:cNvSpPr txBox="1"/>
          <p:nvPr/>
        </p:nvSpPr>
        <p:spPr>
          <a:xfrm>
            <a:off x="825500" y="4457700"/>
            <a:ext cx="1905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ko-KR" altLang="en-US" sz="1500" b="1">
                <a:solidFill>
                  <a:srgbClr val="FFFFFF"/>
                </a:solidFill>
                <a:latin typeface="Malgun Gothic" panose="020B0503020000020004" pitchFamily="50" charset="-127"/>
              </a:rPr>
              <a:t>동결 </a:t>
            </a:r>
            <a:r>
              <a:rPr lang="en-US" altLang="ko-KR" sz="1500" b="1">
                <a:solidFill>
                  <a:srgbClr val="FFFFFF"/>
                </a:solidFill>
                <a:latin typeface="Malgun Gothic" panose="020B0503020000020004" pitchFamily="50" charset="-127"/>
              </a:rPr>
              <a:t>CSV</a:t>
            </a:r>
            <a:endParaRPr lang="ko-KR" altLang="en-US" sz="15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4A47D2F9-FB58-08AD-2FF2-39A87D976779}"/>
              </a:ext>
            </a:extLst>
          </p:cNvPr>
          <p:cNvCxnSpPr/>
          <p:nvPr/>
        </p:nvCxnSpPr>
        <p:spPr>
          <a:xfrm>
            <a:off x="5448300" y="4660900"/>
            <a:ext cx="736600" cy="0"/>
          </a:xfrm>
          <a:prstGeom prst="line">
            <a:avLst/>
          </a:prstGeom>
          <a:ln w="25400">
            <a:solidFill>
              <a:srgbClr val="48A5A5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40A7017B-2BCE-FABC-8092-CB9B6EB5F961}"/>
              </a:ext>
            </a:extLst>
          </p:cNvPr>
          <p:cNvSpPr/>
          <p:nvPr/>
        </p:nvSpPr>
        <p:spPr>
          <a:xfrm>
            <a:off x="3568700" y="4292600"/>
            <a:ext cx="1905000" cy="736600"/>
          </a:xfrm>
          <a:prstGeom prst="roundRect">
            <a:avLst/>
          </a:prstGeom>
          <a:solidFill>
            <a:srgbClr val="26436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ADD14A-5EF8-B9A6-C453-690AD63E5A38}"/>
              </a:ext>
            </a:extLst>
          </p:cNvPr>
          <p:cNvSpPr txBox="1"/>
          <p:nvPr/>
        </p:nvSpPr>
        <p:spPr>
          <a:xfrm>
            <a:off x="3568700" y="4457700"/>
            <a:ext cx="1905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ko-KR" altLang="en-US" sz="1500" b="1">
                <a:solidFill>
                  <a:srgbClr val="FFFFFF"/>
                </a:solidFill>
                <a:latin typeface="Malgun Gothic" panose="020B0503020000020004" pitchFamily="50" charset="-127"/>
              </a:rPr>
              <a:t>후보 검색</a:t>
            </a: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3348394A-23FE-2275-50B3-4A302859FAC0}"/>
              </a:ext>
            </a:extLst>
          </p:cNvPr>
          <p:cNvCxnSpPr/>
          <p:nvPr/>
        </p:nvCxnSpPr>
        <p:spPr>
          <a:xfrm>
            <a:off x="8191500" y="4660900"/>
            <a:ext cx="736600" cy="0"/>
          </a:xfrm>
          <a:prstGeom prst="line">
            <a:avLst/>
          </a:prstGeom>
          <a:ln w="25400">
            <a:solidFill>
              <a:srgbClr val="48A5A5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652C03F7-490F-F7B8-85B9-6781BE2B4FE9}"/>
              </a:ext>
            </a:extLst>
          </p:cNvPr>
          <p:cNvSpPr/>
          <p:nvPr/>
        </p:nvSpPr>
        <p:spPr>
          <a:xfrm>
            <a:off x="6311900" y="4292600"/>
            <a:ext cx="1905000" cy="736600"/>
          </a:xfrm>
          <a:prstGeom prst="roundRect">
            <a:avLst/>
          </a:prstGeom>
          <a:solidFill>
            <a:srgbClr val="26436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52A5E7-182C-2FE8-5F55-3E30A5619909}"/>
              </a:ext>
            </a:extLst>
          </p:cNvPr>
          <p:cNvSpPr txBox="1"/>
          <p:nvPr/>
        </p:nvSpPr>
        <p:spPr>
          <a:xfrm>
            <a:off x="6311900" y="4457700"/>
            <a:ext cx="1905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ko-KR" sz="1500" b="1">
                <a:solidFill>
                  <a:srgbClr val="FFFFFF"/>
                </a:solidFill>
                <a:latin typeface="Malgun Gothic" panose="020B0503020000020004" pitchFamily="50" charset="-127"/>
              </a:rPr>
              <a:t>WAV + TextGrid</a:t>
            </a:r>
            <a:endParaRPr lang="ko-KR" altLang="en-US" sz="15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BB03A70F-C1C7-5230-9324-4A9B0A100314}"/>
              </a:ext>
            </a:extLst>
          </p:cNvPr>
          <p:cNvSpPr/>
          <p:nvPr/>
        </p:nvSpPr>
        <p:spPr>
          <a:xfrm>
            <a:off x="9055100" y="4292600"/>
            <a:ext cx="1905000" cy="736600"/>
          </a:xfrm>
          <a:prstGeom prst="roundRect">
            <a:avLst/>
          </a:prstGeom>
          <a:solidFill>
            <a:srgbClr val="CD5C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438E4C3-23AD-F115-CFE7-DEC16332A93B}"/>
              </a:ext>
            </a:extLst>
          </p:cNvPr>
          <p:cNvSpPr txBox="1"/>
          <p:nvPr/>
        </p:nvSpPr>
        <p:spPr>
          <a:xfrm>
            <a:off x="9055100" y="4457700"/>
            <a:ext cx="1905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ko-KR" altLang="en-US" sz="1500" b="1">
                <a:solidFill>
                  <a:srgbClr val="FFFFFF"/>
                </a:solidFill>
                <a:latin typeface="Malgun Gothic" panose="020B0503020000020004" pitchFamily="50" charset="-127"/>
              </a:rPr>
              <a:t>연구자 판정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E09C92C-161F-A92B-57D7-E760960688A7}"/>
              </a:ext>
            </a:extLst>
          </p:cNvPr>
          <p:cNvSpPr txBox="1"/>
          <p:nvPr/>
        </p:nvSpPr>
        <p:spPr>
          <a:xfrm>
            <a:off x="825500" y="5562600"/>
            <a:ext cx="10414000" cy="44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b="1">
                <a:solidFill>
                  <a:srgbClr val="FFFFFF"/>
                </a:solidFill>
                <a:latin typeface="Malgun Gothic" panose="020B0503020000020004" pitchFamily="50" charset="-127"/>
              </a:rPr>
              <a:t>핵심 원칙</a:t>
            </a:r>
            <a:r>
              <a:rPr lang="en-US" altLang="ko-KR" b="1">
                <a:solidFill>
                  <a:srgbClr val="FFFFFF"/>
                </a:solidFill>
                <a:latin typeface="Malgun Gothic" panose="020B0503020000020004" pitchFamily="50" charset="-127"/>
              </a:rPr>
              <a:t>: </a:t>
            </a:r>
            <a:r>
              <a:rPr lang="ko-KR" altLang="en-US" b="1">
                <a:solidFill>
                  <a:srgbClr val="FFFFFF"/>
                </a:solidFill>
                <a:latin typeface="Malgun Gothic" panose="020B0503020000020004" pitchFamily="50" charset="-127"/>
              </a:rPr>
              <a:t>자동 </a:t>
            </a:r>
            <a:r>
              <a:rPr lang="en-US" altLang="ko-KR" b="1">
                <a:solidFill>
                  <a:srgbClr val="FFFFFF"/>
                </a:solidFill>
                <a:latin typeface="Malgun Gothic" panose="020B0503020000020004" pitchFamily="50" charset="-127"/>
              </a:rPr>
              <a:t>phone</a:t>
            </a:r>
            <a:r>
              <a:rPr lang="ko-KR" altLang="en-US" b="1">
                <a:solidFill>
                  <a:srgbClr val="FFFFFF"/>
                </a:solidFill>
                <a:latin typeface="Malgun Gothic" panose="020B0503020000020004" pitchFamily="50" charset="-127"/>
              </a:rPr>
              <a:t>은 위치 안내다</a:t>
            </a:r>
            <a:r>
              <a:rPr lang="en-US" altLang="ko-KR" b="1">
                <a:solidFill>
                  <a:srgbClr val="FFFFFF"/>
                </a:solidFill>
                <a:latin typeface="Malgun Gothic" panose="020B0503020000020004" pitchFamily="50" charset="-127"/>
              </a:rPr>
              <a:t>. </a:t>
            </a:r>
            <a:r>
              <a:rPr lang="ko-KR" altLang="en-US" b="1">
                <a:solidFill>
                  <a:srgbClr val="FFFFFF"/>
                </a:solidFill>
                <a:latin typeface="Malgun Gothic" panose="020B0503020000020004" pitchFamily="50" charset="-127"/>
              </a:rPr>
              <a:t>실제 실현 여부는 연구자가 듣고 본다</a:t>
            </a:r>
            <a:r>
              <a:rPr lang="en-US" altLang="ko-KR" b="1">
                <a:solidFill>
                  <a:srgbClr val="FFFFFF"/>
                </a:solidFill>
                <a:latin typeface="Malgun Gothic" panose="020B0503020000020004" pitchFamily="50" charset="-127"/>
              </a:rPr>
              <a:t>.</a:t>
            </a:r>
            <a:endParaRPr lang="ko-KR" altLang="en-US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1A96580-85A5-519D-51F9-AB18E5C72D33}"/>
              </a:ext>
            </a:extLst>
          </p:cNvPr>
          <p:cNvSpPr txBox="1"/>
          <p:nvPr/>
        </p:nvSpPr>
        <p:spPr>
          <a:xfrm>
            <a:off x="825500" y="6273800"/>
            <a:ext cx="6350000" cy="215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000">
                <a:solidFill>
                  <a:srgbClr val="BBCCD2"/>
                </a:solidFill>
                <a:latin typeface="Malgun Gothic" panose="020B0503020000020004" pitchFamily="50" charset="-127"/>
              </a:rPr>
              <a:t>전수 실행 직전 최종 설계</a:t>
            </a:r>
            <a:r>
              <a:rPr lang="en-US" altLang="ko-KR" sz="1000">
                <a:solidFill>
                  <a:srgbClr val="BBCCD2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1000">
                <a:solidFill>
                  <a:srgbClr val="BBCCD2"/>
                </a:solidFill>
                <a:latin typeface="Malgun Gothic" panose="020B0503020000020004" pitchFamily="50" charset="-127"/>
              </a:rPr>
              <a:t>점검 </a:t>
            </a:r>
            <a:r>
              <a:rPr lang="en-US" altLang="ko-KR" sz="1000">
                <a:solidFill>
                  <a:srgbClr val="BBCCD2"/>
                </a:solidFill>
                <a:latin typeface="Malgun Gothic" panose="020B0503020000020004" pitchFamily="50" charset="-127"/>
              </a:rPr>
              <a:t>· 2026-08-01</a:t>
            </a:r>
            <a:endParaRPr lang="ko-KR" altLang="en-US" sz="1000">
              <a:solidFill>
                <a:srgbClr val="BBCCD2"/>
              </a:solidFill>
              <a:latin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544804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5B55C3B-D362-D98E-F636-032834AA9121}"/>
              </a:ext>
            </a:extLst>
          </p:cNvPr>
          <p:cNvSpPr txBox="1"/>
          <p:nvPr/>
        </p:nvSpPr>
        <p:spPr>
          <a:xfrm>
            <a:off x="685800" y="317500"/>
            <a:ext cx="3556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100" b="1">
                <a:solidFill>
                  <a:srgbClr val="1B7E84"/>
                </a:solidFill>
                <a:latin typeface="Malgun Gothic" panose="020B0503020000020004" pitchFamily="50" charset="-127"/>
              </a:rPr>
              <a:t>01 · </a:t>
            </a:r>
            <a:r>
              <a:rPr lang="ko-KR" altLang="en-US" sz="1100" b="1">
                <a:solidFill>
                  <a:srgbClr val="1B7E84"/>
                </a:solidFill>
                <a:latin typeface="Malgun Gothic" panose="020B0503020000020004" pitchFamily="50" charset="-127"/>
              </a:rPr>
              <a:t>연구 문제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A2733E-82FD-1567-2DF2-E00DF22B0D0B}"/>
              </a:ext>
            </a:extLst>
          </p:cNvPr>
          <p:cNvSpPr txBox="1"/>
          <p:nvPr/>
        </p:nvSpPr>
        <p:spPr>
          <a:xfrm>
            <a:off x="685800" y="622300"/>
            <a:ext cx="108204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2900" b="1">
                <a:solidFill>
                  <a:srgbClr val="1B324D"/>
                </a:solidFill>
                <a:latin typeface="Malgun Gothic" panose="020B0503020000020004" pitchFamily="50" charset="-127"/>
              </a:rPr>
              <a:t>인프라가 답해야 할 질문은 세 가지다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AA6D8C5-8248-44AF-99CA-50D0BE698C16}"/>
              </a:ext>
            </a:extLst>
          </p:cNvPr>
          <p:cNvSpPr/>
          <p:nvPr/>
        </p:nvSpPr>
        <p:spPr>
          <a:xfrm>
            <a:off x="685800" y="1282700"/>
            <a:ext cx="736600" cy="50800"/>
          </a:xfrm>
          <a:prstGeom prst="rect">
            <a:avLst/>
          </a:prstGeom>
          <a:solidFill>
            <a:srgbClr val="CD5C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6C09F6-5878-B8D7-D054-8AD05C0AE0EE}"/>
              </a:ext>
            </a:extLst>
          </p:cNvPr>
          <p:cNvSpPr txBox="1"/>
          <p:nvPr/>
        </p:nvSpPr>
        <p:spPr>
          <a:xfrm>
            <a:off x="711200" y="1879600"/>
            <a:ext cx="7366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2800" b="1">
                <a:solidFill>
                  <a:srgbClr val="CD5C46"/>
                </a:solidFill>
                <a:latin typeface="Malgun Gothic" panose="020B0503020000020004" pitchFamily="50" charset="-127"/>
              </a:rPr>
              <a:t>01</a:t>
            </a:r>
            <a:endParaRPr lang="ko-KR" altLang="en-US" sz="2800" b="1">
              <a:solidFill>
                <a:srgbClr val="CD5C46"/>
              </a:solidFill>
              <a:latin typeface="Malgun Gothic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DC196C-9053-B50E-D1C9-1236C249DB4D}"/>
              </a:ext>
            </a:extLst>
          </p:cNvPr>
          <p:cNvSpPr txBox="1"/>
          <p:nvPr/>
        </p:nvSpPr>
        <p:spPr>
          <a:xfrm>
            <a:off x="723900" y="2565400"/>
            <a:ext cx="33020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2100" b="1">
                <a:solidFill>
                  <a:srgbClr val="1B324D"/>
                </a:solidFill>
                <a:latin typeface="Malgun Gothic" panose="020B0503020000020004" pitchFamily="50" charset="-127"/>
              </a:rPr>
              <a:t>찾을 수 있는가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67F18B-C2E4-3FCB-F8D5-3DB78502498B}"/>
              </a:ext>
            </a:extLst>
          </p:cNvPr>
          <p:cNvSpPr txBox="1"/>
          <p:nvPr/>
        </p:nvSpPr>
        <p:spPr>
          <a:xfrm>
            <a:off x="723900" y="3136900"/>
            <a:ext cx="3225800" cy="914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500">
                <a:solidFill>
                  <a:srgbClr val="636D77"/>
                </a:solidFill>
                <a:latin typeface="Malgun Gothic" panose="020B0503020000020004" pitchFamily="50" charset="-127"/>
              </a:rPr>
              <a:t>형태소</a:t>
            </a:r>
            <a:r>
              <a:rPr lang="en-US" altLang="ko-KR" sz="1500">
                <a:solidFill>
                  <a:srgbClr val="636D77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1500">
                <a:solidFill>
                  <a:srgbClr val="636D77"/>
                </a:solidFill>
                <a:latin typeface="Malgun Gothic" panose="020B0503020000020004" pitchFamily="50" charset="-127"/>
              </a:rPr>
              <a:t>표기 환경</a:t>
            </a:r>
            <a:r>
              <a:rPr lang="en-US" altLang="ko-KR" sz="1500">
                <a:solidFill>
                  <a:srgbClr val="636D77"/>
                </a:solidFill>
                <a:latin typeface="Malgun Gothic" panose="020B0503020000020004" pitchFamily="50" charset="-127"/>
              </a:rPr>
              <a:t>·Roman·POS</a:t>
            </a:r>
            <a:r>
              <a:rPr lang="ko-KR" altLang="en-US" sz="1500">
                <a:solidFill>
                  <a:srgbClr val="636D77"/>
                </a:solidFill>
                <a:latin typeface="Malgun Gothic" panose="020B0503020000020004" pitchFamily="50" charset="-127"/>
              </a:rPr>
              <a:t>로</a:t>
            </a:r>
          </a:p>
          <a:p>
            <a:r>
              <a:rPr lang="ko-KR" altLang="en-US" sz="1500">
                <a:solidFill>
                  <a:srgbClr val="636D77"/>
                </a:solidFill>
                <a:latin typeface="Malgun Gothic" panose="020B0503020000020004" pitchFamily="50" charset="-127"/>
              </a:rPr>
              <a:t>후보를 재현 가능하게 추출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C91F4620-ED71-BD27-9874-A09AC8FDACAD}"/>
              </a:ext>
            </a:extLst>
          </p:cNvPr>
          <p:cNvCxnSpPr/>
          <p:nvPr/>
        </p:nvCxnSpPr>
        <p:spPr>
          <a:xfrm>
            <a:off x="4140200" y="1905000"/>
            <a:ext cx="0" cy="2387600"/>
          </a:xfrm>
          <a:prstGeom prst="line">
            <a:avLst/>
          </a:prstGeom>
          <a:ln w="12700">
            <a:solidFill>
              <a:srgbClr val="B1BB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8883625-BF16-2752-EE89-4191C47BEE47}"/>
              </a:ext>
            </a:extLst>
          </p:cNvPr>
          <p:cNvSpPr txBox="1"/>
          <p:nvPr/>
        </p:nvSpPr>
        <p:spPr>
          <a:xfrm>
            <a:off x="4445000" y="1879600"/>
            <a:ext cx="7366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2800" b="1">
                <a:solidFill>
                  <a:srgbClr val="CD5C46"/>
                </a:solidFill>
                <a:latin typeface="Malgun Gothic" panose="020B0503020000020004" pitchFamily="50" charset="-127"/>
              </a:rPr>
              <a:t>02</a:t>
            </a:r>
            <a:endParaRPr lang="ko-KR" altLang="en-US" sz="2800" b="1">
              <a:solidFill>
                <a:srgbClr val="CD5C46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F18A45-599C-3129-5FD7-2D2CE96CCB8E}"/>
              </a:ext>
            </a:extLst>
          </p:cNvPr>
          <p:cNvSpPr txBox="1"/>
          <p:nvPr/>
        </p:nvSpPr>
        <p:spPr>
          <a:xfrm>
            <a:off x="4457700" y="2565400"/>
            <a:ext cx="33020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2100" b="1">
                <a:solidFill>
                  <a:srgbClr val="1B324D"/>
                </a:solidFill>
                <a:latin typeface="Malgun Gothic" panose="020B0503020000020004" pitchFamily="50" charset="-127"/>
              </a:rPr>
              <a:t>바로 들을 수 있는가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D8832A-763B-C8EA-7EDA-519129CBB48C}"/>
              </a:ext>
            </a:extLst>
          </p:cNvPr>
          <p:cNvSpPr txBox="1"/>
          <p:nvPr/>
        </p:nvSpPr>
        <p:spPr>
          <a:xfrm>
            <a:off x="4457700" y="3136900"/>
            <a:ext cx="3225800" cy="914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500">
                <a:solidFill>
                  <a:srgbClr val="636D77"/>
                </a:solidFill>
                <a:latin typeface="Malgun Gothic" panose="020B0503020000020004" pitchFamily="50" charset="-127"/>
              </a:rPr>
              <a:t>utt_id</a:t>
            </a:r>
            <a:r>
              <a:rPr lang="ko-KR" altLang="en-US" sz="1500">
                <a:solidFill>
                  <a:srgbClr val="636D77"/>
                </a:solidFill>
                <a:latin typeface="Malgun Gothic" panose="020B0503020000020004" pitchFamily="50" charset="-127"/>
              </a:rPr>
              <a:t>로 </a:t>
            </a:r>
            <a:r>
              <a:rPr lang="en-US" altLang="ko-KR" sz="1500">
                <a:solidFill>
                  <a:srgbClr val="636D77"/>
                </a:solidFill>
                <a:latin typeface="Malgun Gothic" panose="020B0503020000020004" pitchFamily="50" charset="-127"/>
              </a:rPr>
              <a:t>WAV·TextGrid·</a:t>
            </a:r>
            <a:r>
              <a:rPr lang="ko-KR" altLang="en-US" sz="1500">
                <a:solidFill>
                  <a:srgbClr val="636D77"/>
                </a:solidFill>
                <a:latin typeface="Malgun Gothic" panose="020B0503020000020004" pitchFamily="50" charset="-127"/>
              </a:rPr>
              <a:t>동반표를</a:t>
            </a:r>
          </a:p>
          <a:p>
            <a:r>
              <a:rPr lang="ko-KR" altLang="en-US" sz="1500">
                <a:solidFill>
                  <a:srgbClr val="636D77"/>
                </a:solidFill>
                <a:latin typeface="Malgun Gothic" panose="020B0503020000020004" pitchFamily="50" charset="-127"/>
              </a:rPr>
              <a:t>한 번에 모아 청취</a:t>
            </a: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C04D9D1F-0F7A-4697-1100-C6C407428644}"/>
              </a:ext>
            </a:extLst>
          </p:cNvPr>
          <p:cNvCxnSpPr/>
          <p:nvPr/>
        </p:nvCxnSpPr>
        <p:spPr>
          <a:xfrm>
            <a:off x="7874000" y="1905000"/>
            <a:ext cx="0" cy="2387600"/>
          </a:xfrm>
          <a:prstGeom prst="line">
            <a:avLst/>
          </a:prstGeom>
          <a:ln w="12700">
            <a:solidFill>
              <a:srgbClr val="B1BB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EEF51D5-B226-41E9-E9E8-9D2B5B6C3715}"/>
              </a:ext>
            </a:extLst>
          </p:cNvPr>
          <p:cNvSpPr txBox="1"/>
          <p:nvPr/>
        </p:nvSpPr>
        <p:spPr>
          <a:xfrm>
            <a:off x="8178800" y="1879600"/>
            <a:ext cx="7366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2800" b="1">
                <a:solidFill>
                  <a:srgbClr val="CD5C46"/>
                </a:solidFill>
                <a:latin typeface="Malgun Gothic" panose="020B0503020000020004" pitchFamily="50" charset="-127"/>
              </a:rPr>
              <a:t>03</a:t>
            </a:r>
            <a:endParaRPr lang="ko-KR" altLang="en-US" sz="2800" b="1">
              <a:solidFill>
                <a:srgbClr val="CD5C46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A150999-8D28-A50B-F18C-60BBBF0A4C46}"/>
              </a:ext>
            </a:extLst>
          </p:cNvPr>
          <p:cNvSpPr txBox="1"/>
          <p:nvPr/>
        </p:nvSpPr>
        <p:spPr>
          <a:xfrm>
            <a:off x="8191500" y="2565400"/>
            <a:ext cx="33020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2100" b="1">
                <a:solidFill>
                  <a:srgbClr val="1B324D"/>
                </a:solidFill>
                <a:latin typeface="Malgun Gothic" panose="020B0503020000020004" pitchFamily="50" charset="-127"/>
              </a:rPr>
              <a:t>판정을 섞지 않는가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1CBAD36-1C02-AD30-927C-F47350655A54}"/>
              </a:ext>
            </a:extLst>
          </p:cNvPr>
          <p:cNvSpPr txBox="1"/>
          <p:nvPr/>
        </p:nvSpPr>
        <p:spPr>
          <a:xfrm>
            <a:off x="8191500" y="3136900"/>
            <a:ext cx="3225800" cy="914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500">
                <a:solidFill>
                  <a:srgbClr val="636D77"/>
                </a:solidFill>
                <a:latin typeface="Malgun Gothic" panose="020B0503020000020004" pitchFamily="50" charset="-127"/>
              </a:rPr>
              <a:t>원자료</a:t>
            </a:r>
            <a:r>
              <a:rPr lang="en-US" altLang="ko-KR" sz="1500">
                <a:solidFill>
                  <a:srgbClr val="636D77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1500">
                <a:solidFill>
                  <a:srgbClr val="636D77"/>
                </a:solidFill>
                <a:latin typeface="Malgun Gothic" panose="020B0503020000020004" pitchFamily="50" charset="-127"/>
              </a:rPr>
              <a:t>자동 파생</a:t>
            </a:r>
            <a:r>
              <a:rPr lang="en-US" altLang="ko-KR" sz="1500">
                <a:solidFill>
                  <a:srgbClr val="636D77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1500">
                <a:solidFill>
                  <a:srgbClr val="636D77"/>
                </a:solidFill>
                <a:latin typeface="Malgun Gothic" panose="020B0503020000020004" pitchFamily="50" charset="-127"/>
              </a:rPr>
              <a:t>연구자 판단의</a:t>
            </a:r>
          </a:p>
          <a:p>
            <a:r>
              <a:rPr lang="ko-KR" altLang="en-US" sz="1500">
                <a:solidFill>
                  <a:srgbClr val="636D77"/>
                </a:solidFill>
                <a:latin typeface="Malgun Gothic" panose="020B0503020000020004" pitchFamily="50" charset="-127"/>
              </a:rPr>
              <a:t>출처를 분리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C8A26F00-5F5B-850C-ED72-C15372502BC7}"/>
              </a:ext>
            </a:extLst>
          </p:cNvPr>
          <p:cNvSpPr/>
          <p:nvPr/>
        </p:nvSpPr>
        <p:spPr>
          <a:xfrm>
            <a:off x="685800" y="4686300"/>
            <a:ext cx="10820400" cy="1168400"/>
          </a:xfrm>
          <a:prstGeom prst="roundRect">
            <a:avLst/>
          </a:prstGeom>
          <a:solidFill>
            <a:srgbClr val="ECF2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0CFAAAF-DC37-B17D-6B4A-8CCE2DF7C295}"/>
              </a:ext>
            </a:extLst>
          </p:cNvPr>
          <p:cNvSpPr txBox="1"/>
          <p:nvPr/>
        </p:nvSpPr>
        <p:spPr>
          <a:xfrm>
            <a:off x="965200" y="4940300"/>
            <a:ext cx="2286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300" b="1">
                <a:solidFill>
                  <a:srgbClr val="1B7E84"/>
                </a:solidFill>
                <a:latin typeface="Malgun Gothic" panose="020B0503020000020004" pitchFamily="50" charset="-127"/>
              </a:rPr>
              <a:t>인프라의 성공 기준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1261F84-F8D6-ABDC-79DB-FECD14242D29}"/>
              </a:ext>
            </a:extLst>
          </p:cNvPr>
          <p:cNvSpPr txBox="1"/>
          <p:nvPr/>
        </p:nvSpPr>
        <p:spPr>
          <a:xfrm>
            <a:off x="965200" y="5232400"/>
            <a:ext cx="10033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b="1">
                <a:solidFill>
                  <a:srgbClr val="222A34"/>
                </a:solidFill>
                <a:latin typeface="Malgun Gothic" panose="020B0503020000020004" pitchFamily="50" charset="-127"/>
              </a:rPr>
              <a:t>“ㄴ 삽입이 실현됐다”를 자동 판정하는 것이 아니라</a:t>
            </a:r>
            <a:r>
              <a:rPr lang="en-US" altLang="ko-KR" b="1">
                <a:solidFill>
                  <a:srgbClr val="222A34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b="1">
                <a:solidFill>
                  <a:srgbClr val="222A34"/>
                </a:solidFill>
                <a:latin typeface="Malgun Gothic" panose="020B0503020000020004" pitchFamily="50" charset="-127"/>
              </a:rPr>
              <a:t>그 판단에 필요한 발화</a:t>
            </a:r>
            <a:r>
              <a:rPr lang="en-US" altLang="ko-KR" b="1">
                <a:solidFill>
                  <a:srgbClr val="222A34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b="1">
                <a:solidFill>
                  <a:srgbClr val="222A34"/>
                </a:solidFill>
                <a:latin typeface="Malgun Gothic" panose="020B0503020000020004" pitchFamily="50" charset="-127"/>
              </a:rPr>
              <a:t>음성</a:t>
            </a:r>
            <a:r>
              <a:rPr lang="en-US" altLang="ko-KR" b="1">
                <a:solidFill>
                  <a:srgbClr val="222A34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b="1">
                <a:solidFill>
                  <a:srgbClr val="222A34"/>
                </a:solidFill>
                <a:latin typeface="Malgun Gothic" panose="020B0503020000020004" pitchFamily="50" charset="-127"/>
              </a:rPr>
              <a:t>정렬</a:t>
            </a:r>
            <a:r>
              <a:rPr lang="en-US" altLang="ko-KR" b="1">
                <a:solidFill>
                  <a:srgbClr val="222A34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b="1">
                <a:solidFill>
                  <a:srgbClr val="222A34"/>
                </a:solidFill>
                <a:latin typeface="Malgun Gothic" panose="020B0503020000020004" pitchFamily="50" charset="-127"/>
              </a:rPr>
              <a:t>환경을 빠짐없이 연결하는 것</a:t>
            </a:r>
            <a:r>
              <a:rPr lang="en-US" altLang="ko-KR" b="1">
                <a:solidFill>
                  <a:srgbClr val="222A34"/>
                </a:solidFill>
                <a:latin typeface="Malgun Gothic" panose="020B0503020000020004" pitchFamily="50" charset="-127"/>
              </a:rPr>
              <a:t>.</a:t>
            </a:r>
            <a:endParaRPr lang="ko-KR" altLang="en-US" b="1">
              <a:solidFill>
                <a:srgbClr val="222A34"/>
              </a:solidFill>
              <a:latin typeface="Malgun Gothic" panose="020B0503020000020004" pitchFamily="50" charset="-127"/>
            </a:endParaRP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4F0C8A4C-CC38-A08A-E92E-98205547AD8B}"/>
              </a:ext>
            </a:extLst>
          </p:cNvPr>
          <p:cNvCxnSpPr/>
          <p:nvPr/>
        </p:nvCxnSpPr>
        <p:spPr>
          <a:xfrm>
            <a:off x="685800" y="6451600"/>
            <a:ext cx="10820400" cy="0"/>
          </a:xfrm>
          <a:prstGeom prst="line">
            <a:avLst/>
          </a:prstGeom>
          <a:ln w="7620">
            <a:solidFill>
              <a:srgbClr val="B1BB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32AA49BE-9AA3-BE49-BED9-3246F947608D}"/>
              </a:ext>
            </a:extLst>
          </p:cNvPr>
          <p:cNvSpPr txBox="1"/>
          <p:nvPr/>
        </p:nvSpPr>
        <p:spPr>
          <a:xfrm>
            <a:off x="685800" y="6515100"/>
            <a:ext cx="6350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>
                <a:solidFill>
                  <a:srgbClr val="636D77"/>
                </a:solidFill>
                <a:latin typeface="Malgun Gothic" panose="020B0503020000020004" pitchFamily="50" charset="-127"/>
              </a:rPr>
              <a:t>2026 </a:t>
            </a:r>
            <a:r>
              <a:rPr lang="ko-KR" altLang="en-US" sz="900">
                <a:solidFill>
                  <a:srgbClr val="636D77"/>
                </a:solidFill>
                <a:latin typeface="Malgun Gothic" panose="020B0503020000020004" pitchFamily="50" charset="-127"/>
              </a:rPr>
              <a:t>여름 연구 </a:t>
            </a:r>
            <a:r>
              <a:rPr lang="en-US" altLang="ko-KR" sz="900">
                <a:solidFill>
                  <a:srgbClr val="636D77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900">
                <a:solidFill>
                  <a:srgbClr val="636D77"/>
                </a:solidFill>
                <a:latin typeface="Malgun Gothic" panose="020B0503020000020004" pitchFamily="50" charset="-127"/>
              </a:rPr>
              <a:t>전수 </a:t>
            </a:r>
            <a:r>
              <a:rPr lang="en-US" altLang="ko-KR" sz="900">
                <a:solidFill>
                  <a:srgbClr val="636D77"/>
                </a:solidFill>
                <a:latin typeface="Malgun Gothic" panose="020B0503020000020004" pitchFamily="50" charset="-127"/>
              </a:rPr>
              <a:t>MFA </a:t>
            </a:r>
            <a:r>
              <a:rPr lang="ko-KR" altLang="en-US" sz="900">
                <a:solidFill>
                  <a:srgbClr val="636D77"/>
                </a:solidFill>
                <a:latin typeface="Malgun Gothic" panose="020B0503020000020004" pitchFamily="50" charset="-127"/>
              </a:rPr>
              <a:t>인프라 최종 점검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5D5539B-DCC2-BD89-3A2D-9A21E3B5B12E}"/>
              </a:ext>
            </a:extLst>
          </p:cNvPr>
          <p:cNvSpPr txBox="1"/>
          <p:nvPr/>
        </p:nvSpPr>
        <p:spPr>
          <a:xfrm>
            <a:off x="10972800" y="6502400"/>
            <a:ext cx="5334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900" b="1">
                <a:solidFill>
                  <a:srgbClr val="636D77"/>
                </a:solidFill>
                <a:latin typeface="Malgun Gothic" panose="020B0503020000020004" pitchFamily="50" charset="-127"/>
              </a:rPr>
              <a:t>02</a:t>
            </a:r>
            <a:endParaRPr lang="ko-KR" altLang="en-US" sz="900" b="1">
              <a:solidFill>
                <a:srgbClr val="636D77"/>
              </a:solidFill>
              <a:latin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713790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7B1DEFB-6A70-382D-5C25-BEF0835D57C6}"/>
              </a:ext>
            </a:extLst>
          </p:cNvPr>
          <p:cNvSpPr txBox="1"/>
          <p:nvPr/>
        </p:nvSpPr>
        <p:spPr>
          <a:xfrm>
            <a:off x="685800" y="317500"/>
            <a:ext cx="3556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100" b="1">
                <a:solidFill>
                  <a:srgbClr val="1B7E84"/>
                </a:solidFill>
                <a:latin typeface="Malgun Gothic" panose="020B0503020000020004" pitchFamily="50" charset="-127"/>
              </a:rPr>
              <a:t>02 · </a:t>
            </a:r>
            <a:r>
              <a:rPr lang="ko-KR" altLang="en-US" sz="1100" b="1">
                <a:solidFill>
                  <a:srgbClr val="1B7E84"/>
                </a:solidFill>
                <a:latin typeface="Malgun Gothic" panose="020B0503020000020004" pitchFamily="50" charset="-127"/>
              </a:rPr>
              <a:t>서울코퍼스에서 배운 점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170273-D368-5824-4D4F-8B320634C798}"/>
              </a:ext>
            </a:extLst>
          </p:cNvPr>
          <p:cNvSpPr txBox="1"/>
          <p:nvPr/>
        </p:nvSpPr>
        <p:spPr>
          <a:xfrm>
            <a:off x="685800" y="622300"/>
            <a:ext cx="108204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2900" b="1">
                <a:solidFill>
                  <a:srgbClr val="1B324D"/>
                </a:solidFill>
                <a:latin typeface="Malgun Gothic" panose="020B0503020000020004" pitchFamily="50" charset="-127"/>
              </a:rPr>
              <a:t>레이블은 보기용이 아니라 검색→추출→분석의 인터페이스다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38C4C19-B912-2CB1-AD3C-7777E2233728}"/>
              </a:ext>
            </a:extLst>
          </p:cNvPr>
          <p:cNvSpPr/>
          <p:nvPr/>
        </p:nvSpPr>
        <p:spPr>
          <a:xfrm>
            <a:off x="685800" y="1282700"/>
            <a:ext cx="736600" cy="50800"/>
          </a:xfrm>
          <a:prstGeom prst="rect">
            <a:avLst/>
          </a:prstGeom>
          <a:solidFill>
            <a:srgbClr val="CD5C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9CA56365-75C5-59DA-F8AB-F8E9E61EF504}"/>
              </a:ext>
            </a:extLst>
          </p:cNvPr>
          <p:cNvSpPr/>
          <p:nvPr/>
        </p:nvSpPr>
        <p:spPr>
          <a:xfrm>
            <a:off x="685800" y="1625600"/>
            <a:ext cx="5905500" cy="414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1BB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F95EC64-C975-16ED-A4F3-F6E261510A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9292" y="2536284"/>
            <a:ext cx="3278516" cy="231883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C9B7144-902B-4BC8-6895-3B84C31BDB52}"/>
              </a:ext>
            </a:extLst>
          </p:cNvPr>
          <p:cNvSpPr txBox="1"/>
          <p:nvPr/>
        </p:nvSpPr>
        <p:spPr>
          <a:xfrm>
            <a:off x="7086600" y="1689100"/>
            <a:ext cx="3683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900" b="1">
                <a:solidFill>
                  <a:srgbClr val="1B324D"/>
                </a:solidFill>
                <a:latin typeface="Malgun Gothic" panose="020B0503020000020004" pitchFamily="50" charset="-127"/>
              </a:rPr>
              <a:t>서울코퍼스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F7AA77-5579-86B0-3DB0-07ACEDDA7EB9}"/>
              </a:ext>
            </a:extLst>
          </p:cNvPr>
          <p:cNvSpPr txBox="1"/>
          <p:nvPr/>
        </p:nvSpPr>
        <p:spPr>
          <a:xfrm>
            <a:off x="7086600" y="2209800"/>
            <a:ext cx="4191000" cy="157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600">
                <a:solidFill>
                  <a:srgbClr val="222A34"/>
                </a:solidFill>
                <a:latin typeface="Malgun Gothic" panose="020B0503020000020004" pitchFamily="50" charset="-127"/>
              </a:rPr>
              <a:t>• </a:t>
            </a:r>
            <a:r>
              <a:rPr lang="ko-KR" altLang="en-US" sz="1600">
                <a:solidFill>
                  <a:srgbClr val="222A34"/>
                </a:solidFill>
                <a:latin typeface="Malgun Gothic" panose="020B0503020000020004" pitchFamily="50" charset="-127"/>
              </a:rPr>
              <a:t>철자형</a:t>
            </a:r>
            <a:r>
              <a:rPr lang="en-US" altLang="ko-KR" sz="1600">
                <a:solidFill>
                  <a:srgbClr val="222A34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1600">
                <a:solidFill>
                  <a:srgbClr val="222A34"/>
                </a:solidFill>
                <a:latin typeface="Malgun Gothic" panose="020B0503020000020004" pitchFamily="50" charset="-127"/>
              </a:rPr>
              <a:t>발음형</a:t>
            </a:r>
            <a:r>
              <a:rPr lang="en-US" altLang="ko-KR" sz="1600">
                <a:solidFill>
                  <a:srgbClr val="222A34"/>
                </a:solidFill>
                <a:latin typeface="Malgun Gothic" panose="020B0503020000020004" pitchFamily="50" charset="-127"/>
              </a:rPr>
              <a:t>·Roman·phoneme</a:t>
            </a:r>
            <a:r>
              <a:rPr lang="ko-KR" altLang="en-US" sz="1600">
                <a:solidFill>
                  <a:srgbClr val="222A34"/>
                </a:solidFill>
                <a:latin typeface="Malgun Gothic" panose="020B0503020000020004" pitchFamily="50" charset="-127"/>
              </a:rPr>
              <a:t>을 분리</a:t>
            </a:r>
          </a:p>
          <a:p>
            <a:r>
              <a:rPr lang="en-US" altLang="ko-KR" sz="1600">
                <a:solidFill>
                  <a:srgbClr val="222A34"/>
                </a:solidFill>
                <a:latin typeface="Malgun Gothic" panose="020B0503020000020004" pitchFamily="50" charset="-127"/>
              </a:rPr>
              <a:t>• WAV/TextGrid </a:t>
            </a:r>
            <a:r>
              <a:rPr lang="ko-KR" altLang="en-US" sz="1600">
                <a:solidFill>
                  <a:srgbClr val="222A34"/>
                </a:solidFill>
                <a:latin typeface="Malgun Gothic" panose="020B0503020000020004" pitchFamily="50" charset="-127"/>
              </a:rPr>
              <a:t>쌍을 검색 결과로 추출</a:t>
            </a:r>
          </a:p>
          <a:p>
            <a:r>
              <a:rPr lang="en-US" altLang="ko-KR" sz="1600">
                <a:solidFill>
                  <a:srgbClr val="222A34"/>
                </a:solidFill>
                <a:latin typeface="Malgun Gothic" panose="020B0503020000020004" pitchFamily="50" charset="-127"/>
              </a:rPr>
              <a:t>• </a:t>
            </a:r>
            <a:r>
              <a:rPr lang="ko-KR" altLang="en-US" sz="1600">
                <a:solidFill>
                  <a:srgbClr val="222A34"/>
                </a:solidFill>
                <a:latin typeface="Malgun Gothic" panose="020B0503020000020004" pitchFamily="50" charset="-127"/>
              </a:rPr>
              <a:t>경계 양쪽 </a:t>
            </a:r>
            <a:r>
              <a:rPr lang="en-US" altLang="ko-KR" sz="1600">
                <a:solidFill>
                  <a:srgbClr val="222A34"/>
                </a:solidFill>
                <a:latin typeface="Malgun Gothic" panose="020B0503020000020004" pitchFamily="50" charset="-127"/>
              </a:rPr>
              <a:t>target</a:t>
            </a:r>
            <a:r>
              <a:rPr lang="ko-KR" altLang="en-US" sz="1600">
                <a:solidFill>
                  <a:srgbClr val="222A34"/>
                </a:solidFill>
                <a:latin typeface="Malgun Gothic" panose="020B0503020000020004" pitchFamily="50" charset="-127"/>
              </a:rPr>
              <a:t>을 지정해 음운 환경 검색</a:t>
            </a:r>
          </a:p>
          <a:p>
            <a:r>
              <a:rPr lang="en-US" altLang="ko-KR" sz="1600">
                <a:solidFill>
                  <a:srgbClr val="222A34"/>
                </a:solidFill>
                <a:latin typeface="Malgun Gothic" panose="020B0503020000020004" pitchFamily="50" charset="-127"/>
              </a:rPr>
              <a:t>• </a:t>
            </a:r>
            <a:r>
              <a:rPr lang="ko-KR" altLang="en-US" sz="1600">
                <a:solidFill>
                  <a:srgbClr val="222A34"/>
                </a:solidFill>
                <a:latin typeface="Malgun Gothic" panose="020B0503020000020004" pitchFamily="50" charset="-127"/>
              </a:rPr>
              <a:t>검색 결과를 포먼트</a:t>
            </a:r>
            <a:r>
              <a:rPr lang="en-US" altLang="ko-KR" sz="1600">
                <a:solidFill>
                  <a:srgbClr val="222A34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1600">
                <a:solidFill>
                  <a:srgbClr val="222A34"/>
                </a:solidFill>
                <a:latin typeface="Malgun Gothic" panose="020B0503020000020004" pitchFamily="50" charset="-127"/>
              </a:rPr>
              <a:t>통계 분석으로 연결</a:t>
            </a: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28834D2A-0D0F-EA9B-E8E1-7936D06D97B7}"/>
              </a:ext>
            </a:extLst>
          </p:cNvPr>
          <p:cNvCxnSpPr/>
          <p:nvPr/>
        </p:nvCxnSpPr>
        <p:spPr>
          <a:xfrm>
            <a:off x="7086600" y="4051300"/>
            <a:ext cx="4165600" cy="0"/>
          </a:xfrm>
          <a:prstGeom prst="line">
            <a:avLst/>
          </a:prstGeom>
          <a:ln w="25400">
            <a:solidFill>
              <a:srgbClr val="CD5C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A9F067A9-B75C-3CC0-F99E-78CBE7524951}"/>
              </a:ext>
            </a:extLst>
          </p:cNvPr>
          <p:cNvSpPr txBox="1"/>
          <p:nvPr/>
        </p:nvSpPr>
        <p:spPr>
          <a:xfrm>
            <a:off x="7086600" y="4305300"/>
            <a:ext cx="38100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600" b="1">
                <a:solidFill>
                  <a:srgbClr val="1B7E84"/>
                </a:solidFill>
                <a:latin typeface="Malgun Gothic" panose="020B0503020000020004" pitchFamily="50" charset="-127"/>
              </a:rPr>
              <a:t>이번 프로젝트의 재해석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516A769-B58D-2298-B2E3-42D9E03A7678}"/>
              </a:ext>
            </a:extLst>
          </p:cNvPr>
          <p:cNvSpPr txBox="1"/>
          <p:nvPr/>
        </p:nvSpPr>
        <p:spPr>
          <a:xfrm>
            <a:off x="7086600" y="4737100"/>
            <a:ext cx="4191000" cy="914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b="1">
                <a:solidFill>
                  <a:srgbClr val="1B324D"/>
                </a:solidFill>
                <a:latin typeface="Malgun Gothic" panose="020B0503020000020004" pitchFamily="50" charset="-127"/>
              </a:rPr>
              <a:t>TextGrid</a:t>
            </a:r>
            <a:r>
              <a:rPr lang="ko-KR" altLang="en-US" b="1">
                <a:solidFill>
                  <a:srgbClr val="1B324D"/>
                </a:solidFill>
                <a:latin typeface="Malgun Gothic" panose="020B0503020000020004" pitchFamily="50" charset="-127"/>
              </a:rPr>
              <a:t>는 시간</a:t>
            </a:r>
            <a:r>
              <a:rPr lang="en-US" altLang="ko-KR" b="1">
                <a:solidFill>
                  <a:srgbClr val="1B324D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b="1">
                <a:solidFill>
                  <a:srgbClr val="1B324D"/>
                </a:solidFill>
                <a:latin typeface="Malgun Gothic" panose="020B0503020000020004" pitchFamily="50" charset="-127"/>
              </a:rPr>
              <a:t>청취 중심 </a:t>
            </a:r>
            <a:r>
              <a:rPr lang="en-US" altLang="ko-KR" b="1">
                <a:solidFill>
                  <a:srgbClr val="1B324D"/>
                </a:solidFill>
                <a:latin typeface="Malgun Gothic" panose="020B0503020000020004" pitchFamily="50" charset="-127"/>
              </a:rPr>
              <a:t>6-tier,</a:t>
            </a:r>
          </a:p>
          <a:p>
            <a:r>
              <a:rPr lang="en-US" altLang="ko-KR" b="1">
                <a:solidFill>
                  <a:srgbClr val="1B324D"/>
                </a:solidFill>
                <a:latin typeface="Malgun Gothic" panose="020B0503020000020004" pitchFamily="50" charset="-127"/>
              </a:rPr>
              <a:t>CSV/Parquet</a:t>
            </a:r>
            <a:r>
              <a:rPr lang="ko-KR" altLang="en-US" b="1">
                <a:solidFill>
                  <a:srgbClr val="1B324D"/>
                </a:solidFill>
                <a:latin typeface="Malgun Gothic" panose="020B0503020000020004" pitchFamily="50" charset="-127"/>
              </a:rPr>
              <a:t>은 형태소</a:t>
            </a:r>
            <a:r>
              <a:rPr lang="en-US" altLang="ko-KR" b="1">
                <a:solidFill>
                  <a:srgbClr val="1B324D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b="1">
                <a:solidFill>
                  <a:srgbClr val="1B324D"/>
                </a:solidFill>
                <a:latin typeface="Malgun Gothic" panose="020B0503020000020004" pitchFamily="50" charset="-127"/>
              </a:rPr>
              <a:t>위치</a:t>
            </a:r>
            <a:r>
              <a:rPr lang="en-US" altLang="ko-KR" b="1">
                <a:solidFill>
                  <a:srgbClr val="1B324D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b="1">
                <a:solidFill>
                  <a:srgbClr val="1B324D"/>
                </a:solidFill>
                <a:latin typeface="Malgun Gothic" panose="020B0503020000020004" pitchFamily="50" charset="-127"/>
              </a:rPr>
              <a:t>조인 중심</a:t>
            </a:r>
            <a:r>
              <a:rPr lang="en-US" altLang="ko-KR" b="1">
                <a:solidFill>
                  <a:srgbClr val="1B324D"/>
                </a:solidFill>
                <a:latin typeface="Malgun Gothic" panose="020B0503020000020004" pitchFamily="50" charset="-127"/>
              </a:rPr>
              <a:t>.</a:t>
            </a:r>
          </a:p>
          <a:p>
            <a:r>
              <a:rPr lang="ko-KR" altLang="en-US" b="1">
                <a:solidFill>
                  <a:srgbClr val="1B324D"/>
                </a:solidFill>
                <a:latin typeface="Malgun Gothic" panose="020B0503020000020004" pitchFamily="50" charset="-127"/>
              </a:rPr>
              <a:t>둘을 </a:t>
            </a:r>
            <a:r>
              <a:rPr lang="en-US" altLang="ko-KR" b="1">
                <a:solidFill>
                  <a:srgbClr val="1B324D"/>
                </a:solidFill>
                <a:latin typeface="Malgun Gothic" panose="020B0503020000020004" pitchFamily="50" charset="-127"/>
              </a:rPr>
              <a:t>utt_id</a:t>
            </a:r>
            <a:r>
              <a:rPr lang="ko-KR" altLang="en-US" b="1">
                <a:solidFill>
                  <a:srgbClr val="1B324D"/>
                </a:solidFill>
                <a:latin typeface="Malgun Gothic" panose="020B0503020000020004" pitchFamily="50" charset="-127"/>
              </a:rPr>
              <a:t>로 결합한다</a:t>
            </a:r>
            <a:r>
              <a:rPr lang="en-US" altLang="ko-KR" b="1">
                <a:solidFill>
                  <a:srgbClr val="1B324D"/>
                </a:solidFill>
                <a:latin typeface="Malgun Gothic" panose="020B0503020000020004" pitchFamily="50" charset="-127"/>
              </a:rPr>
              <a:t>.</a:t>
            </a:r>
            <a:endParaRPr lang="ko-KR" altLang="en-US" b="1">
              <a:solidFill>
                <a:srgbClr val="1B324D"/>
              </a:solidFill>
              <a:latin typeface="Malgun Gothic" panose="020B0503020000020004" pitchFamily="50" charset="-127"/>
            </a:endParaRP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673885E7-E99A-8015-8310-9E6F7280A3E9}"/>
              </a:ext>
            </a:extLst>
          </p:cNvPr>
          <p:cNvCxnSpPr/>
          <p:nvPr/>
        </p:nvCxnSpPr>
        <p:spPr>
          <a:xfrm>
            <a:off x="685800" y="6451600"/>
            <a:ext cx="10820400" cy="0"/>
          </a:xfrm>
          <a:prstGeom prst="line">
            <a:avLst/>
          </a:prstGeom>
          <a:ln w="7620">
            <a:solidFill>
              <a:srgbClr val="B1BB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B456AE2-D76C-3B96-6430-1C11F8CF427D}"/>
              </a:ext>
            </a:extLst>
          </p:cNvPr>
          <p:cNvSpPr txBox="1"/>
          <p:nvPr/>
        </p:nvSpPr>
        <p:spPr>
          <a:xfrm>
            <a:off x="685800" y="6515100"/>
            <a:ext cx="6350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>
                <a:solidFill>
                  <a:srgbClr val="636D77"/>
                </a:solidFill>
                <a:latin typeface="Malgun Gothic" panose="020B0503020000020004" pitchFamily="50" charset="-127"/>
              </a:rPr>
              <a:t>2026 </a:t>
            </a:r>
            <a:r>
              <a:rPr lang="ko-KR" altLang="en-US" sz="900">
                <a:solidFill>
                  <a:srgbClr val="636D77"/>
                </a:solidFill>
                <a:latin typeface="Malgun Gothic" panose="020B0503020000020004" pitchFamily="50" charset="-127"/>
              </a:rPr>
              <a:t>여름 연구 </a:t>
            </a:r>
            <a:r>
              <a:rPr lang="en-US" altLang="ko-KR" sz="900">
                <a:solidFill>
                  <a:srgbClr val="636D77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900">
                <a:solidFill>
                  <a:srgbClr val="636D77"/>
                </a:solidFill>
                <a:latin typeface="Malgun Gothic" panose="020B0503020000020004" pitchFamily="50" charset="-127"/>
              </a:rPr>
              <a:t>전수 </a:t>
            </a:r>
            <a:r>
              <a:rPr lang="en-US" altLang="ko-KR" sz="900">
                <a:solidFill>
                  <a:srgbClr val="636D77"/>
                </a:solidFill>
                <a:latin typeface="Malgun Gothic" panose="020B0503020000020004" pitchFamily="50" charset="-127"/>
              </a:rPr>
              <a:t>MFA </a:t>
            </a:r>
            <a:r>
              <a:rPr lang="ko-KR" altLang="en-US" sz="900">
                <a:solidFill>
                  <a:srgbClr val="636D77"/>
                </a:solidFill>
                <a:latin typeface="Malgun Gothic" panose="020B0503020000020004" pitchFamily="50" charset="-127"/>
              </a:rPr>
              <a:t>인프라 최종 점검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EC43095-D8AC-EE6F-102E-7A241DE80F48}"/>
              </a:ext>
            </a:extLst>
          </p:cNvPr>
          <p:cNvSpPr txBox="1"/>
          <p:nvPr/>
        </p:nvSpPr>
        <p:spPr>
          <a:xfrm>
            <a:off x="10972800" y="6502400"/>
            <a:ext cx="5334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900" b="1">
                <a:solidFill>
                  <a:srgbClr val="636D77"/>
                </a:solidFill>
                <a:latin typeface="Malgun Gothic" panose="020B0503020000020004" pitchFamily="50" charset="-127"/>
              </a:rPr>
              <a:t>03</a:t>
            </a:r>
            <a:endParaRPr lang="ko-KR" altLang="en-US" sz="900" b="1">
              <a:solidFill>
                <a:srgbClr val="636D77"/>
              </a:solidFill>
              <a:latin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436675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23CF64A-5C38-B5B7-0FE3-6A3D59713BA6}"/>
              </a:ext>
            </a:extLst>
          </p:cNvPr>
          <p:cNvSpPr txBox="1"/>
          <p:nvPr/>
        </p:nvSpPr>
        <p:spPr>
          <a:xfrm>
            <a:off x="685800" y="317500"/>
            <a:ext cx="3556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100" b="1">
                <a:solidFill>
                  <a:srgbClr val="1B7E84"/>
                </a:solidFill>
                <a:latin typeface="Malgun Gothic" panose="020B0503020000020004" pitchFamily="50" charset="-127"/>
              </a:rPr>
              <a:t>03 · </a:t>
            </a:r>
            <a:r>
              <a:rPr lang="ko-KR" altLang="en-US" sz="1100" b="1">
                <a:solidFill>
                  <a:srgbClr val="1B7E84"/>
                </a:solidFill>
                <a:latin typeface="Malgun Gothic" panose="020B0503020000020004" pitchFamily="50" charset="-127"/>
              </a:rPr>
              <a:t>연구 흐름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14D537-DFD9-F0A1-2072-9B6938CDC7FF}"/>
              </a:ext>
            </a:extLst>
          </p:cNvPr>
          <p:cNvSpPr txBox="1"/>
          <p:nvPr/>
        </p:nvSpPr>
        <p:spPr>
          <a:xfrm>
            <a:off x="685800" y="622300"/>
            <a:ext cx="108204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2900" b="1">
                <a:solidFill>
                  <a:srgbClr val="1B324D"/>
                </a:solidFill>
                <a:latin typeface="Malgun Gothic" panose="020B0503020000020004" pitchFamily="50" charset="-127"/>
              </a:rPr>
              <a:t>자동화는 후보와 근거를 준비하고</a:t>
            </a:r>
            <a:r>
              <a:rPr lang="en-US" altLang="ko-KR" sz="2900" b="1">
                <a:solidFill>
                  <a:srgbClr val="1B324D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2900" b="1">
                <a:solidFill>
                  <a:srgbClr val="1B324D"/>
                </a:solidFill>
                <a:latin typeface="Malgun Gothic" panose="020B0503020000020004" pitchFamily="50" charset="-127"/>
              </a:rPr>
              <a:t>연구자는 실현을 판단한다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A082524-3927-AE80-1756-86123B227909}"/>
              </a:ext>
            </a:extLst>
          </p:cNvPr>
          <p:cNvSpPr/>
          <p:nvPr/>
        </p:nvSpPr>
        <p:spPr>
          <a:xfrm>
            <a:off x="685800" y="1282700"/>
            <a:ext cx="736600" cy="50800"/>
          </a:xfrm>
          <a:prstGeom prst="rect">
            <a:avLst/>
          </a:prstGeom>
          <a:solidFill>
            <a:srgbClr val="CD5C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1218BD80-A563-B393-1626-44697F43BD9C}"/>
              </a:ext>
            </a:extLst>
          </p:cNvPr>
          <p:cNvCxnSpPr/>
          <p:nvPr/>
        </p:nvCxnSpPr>
        <p:spPr>
          <a:xfrm>
            <a:off x="2463800" y="3111500"/>
            <a:ext cx="330200" cy="0"/>
          </a:xfrm>
          <a:prstGeom prst="line">
            <a:avLst/>
          </a:prstGeom>
          <a:ln w="31750">
            <a:solidFill>
              <a:srgbClr val="1B7E8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DBEB4C9F-666F-0017-D613-DC0BDE1D34C6}"/>
              </a:ext>
            </a:extLst>
          </p:cNvPr>
          <p:cNvSpPr/>
          <p:nvPr/>
        </p:nvSpPr>
        <p:spPr>
          <a:xfrm>
            <a:off x="584200" y="2425700"/>
            <a:ext cx="1879600" cy="1371600"/>
          </a:xfrm>
          <a:prstGeom prst="roundRect">
            <a:avLst/>
          </a:prstGeom>
          <a:solidFill>
            <a:srgbClr val="ECF2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5490A8-3FA3-54E9-0531-23B773A8829D}"/>
              </a:ext>
            </a:extLst>
          </p:cNvPr>
          <p:cNvSpPr txBox="1"/>
          <p:nvPr/>
        </p:nvSpPr>
        <p:spPr>
          <a:xfrm>
            <a:off x="711200" y="2603500"/>
            <a:ext cx="1625600" cy="482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600" b="1">
                <a:solidFill>
                  <a:srgbClr val="222A34"/>
                </a:solidFill>
                <a:latin typeface="Malgun Gothic" panose="020B0503020000020004" pitchFamily="50" charset="-127"/>
              </a:rPr>
              <a:t>동결 </a:t>
            </a:r>
            <a:r>
              <a:rPr lang="en-US" altLang="ko-KR" sz="1600" b="1">
                <a:solidFill>
                  <a:srgbClr val="222A34"/>
                </a:solidFill>
                <a:latin typeface="Malgun Gothic" panose="020B0503020000020004" pitchFamily="50" charset="-127"/>
              </a:rPr>
              <a:t>CSV/Parquet</a:t>
            </a:r>
            <a:endParaRPr lang="ko-KR" altLang="en-US" sz="1600" b="1">
              <a:solidFill>
                <a:srgbClr val="222A34"/>
              </a:solidFill>
              <a:latin typeface="Malgun Gothic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29E3C6-901A-8005-A37B-A21B821FE147}"/>
              </a:ext>
            </a:extLst>
          </p:cNvPr>
          <p:cNvSpPr txBox="1"/>
          <p:nvPr/>
        </p:nvSpPr>
        <p:spPr>
          <a:xfrm>
            <a:off x="711200" y="3162300"/>
            <a:ext cx="16256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200">
                <a:solidFill>
                  <a:srgbClr val="222A34"/>
                </a:solidFill>
                <a:latin typeface="Malgun Gothic" panose="020B0503020000020004" pitchFamily="50" charset="-127"/>
              </a:rPr>
              <a:t>형태소</a:t>
            </a:r>
            <a:r>
              <a:rPr lang="en-US" altLang="ko-KR" sz="1200">
                <a:solidFill>
                  <a:srgbClr val="222A34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1200">
                <a:solidFill>
                  <a:srgbClr val="222A34"/>
                </a:solidFill>
                <a:latin typeface="Malgun Gothic" panose="020B0503020000020004" pitchFamily="50" charset="-127"/>
              </a:rPr>
              <a:t>표기</a:t>
            </a:r>
            <a:r>
              <a:rPr lang="en-US" altLang="ko-KR" sz="1200">
                <a:solidFill>
                  <a:srgbClr val="222A34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1200">
                <a:solidFill>
                  <a:srgbClr val="222A34"/>
                </a:solidFill>
                <a:latin typeface="Malgun Gothic" panose="020B0503020000020004" pitchFamily="50" charset="-127"/>
              </a:rPr>
              <a:t>화자</a:t>
            </a:r>
            <a:r>
              <a:rPr lang="en-US" altLang="ko-KR" sz="1200">
                <a:solidFill>
                  <a:srgbClr val="222A34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1200">
                <a:solidFill>
                  <a:srgbClr val="222A34"/>
                </a:solidFill>
                <a:latin typeface="Malgun Gothic" panose="020B0503020000020004" pitchFamily="50" charset="-127"/>
              </a:rPr>
              <a:t>대화</a:t>
            </a: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DC812E96-ADD1-1B4A-B517-BAB3DE7B6DB9}"/>
              </a:ext>
            </a:extLst>
          </p:cNvPr>
          <p:cNvCxnSpPr/>
          <p:nvPr/>
        </p:nvCxnSpPr>
        <p:spPr>
          <a:xfrm>
            <a:off x="4762500" y="3111500"/>
            <a:ext cx="330200" cy="0"/>
          </a:xfrm>
          <a:prstGeom prst="line">
            <a:avLst/>
          </a:prstGeom>
          <a:ln w="31750">
            <a:solidFill>
              <a:srgbClr val="1B7E8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7E6754B5-6B08-FA98-C854-FFA8BE884292}"/>
              </a:ext>
            </a:extLst>
          </p:cNvPr>
          <p:cNvSpPr/>
          <p:nvPr/>
        </p:nvSpPr>
        <p:spPr>
          <a:xfrm>
            <a:off x="2882900" y="2425700"/>
            <a:ext cx="1879600" cy="1371600"/>
          </a:xfrm>
          <a:prstGeom prst="roundRect">
            <a:avLst/>
          </a:prstGeom>
          <a:solidFill>
            <a:srgbClr val="ECF2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03CE0E-16A1-BA3A-2E01-48595AF9ED9A}"/>
              </a:ext>
            </a:extLst>
          </p:cNvPr>
          <p:cNvSpPr txBox="1"/>
          <p:nvPr/>
        </p:nvSpPr>
        <p:spPr>
          <a:xfrm>
            <a:off x="3009900" y="2603500"/>
            <a:ext cx="1625600" cy="482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600" b="1">
                <a:solidFill>
                  <a:srgbClr val="222A34"/>
                </a:solidFill>
                <a:latin typeface="Malgun Gothic" panose="020B0503020000020004" pitchFamily="50" charset="-127"/>
              </a:rPr>
              <a:t>후보 검색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6A61F9-0551-455D-712F-A7DB0B2C27FD}"/>
              </a:ext>
            </a:extLst>
          </p:cNvPr>
          <p:cNvSpPr txBox="1"/>
          <p:nvPr/>
        </p:nvSpPr>
        <p:spPr>
          <a:xfrm>
            <a:off x="3009900" y="3162300"/>
            <a:ext cx="16256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200">
                <a:solidFill>
                  <a:srgbClr val="222A34"/>
                </a:solidFill>
                <a:latin typeface="Malgun Gothic" panose="020B0503020000020004" pitchFamily="50" charset="-127"/>
              </a:rPr>
              <a:t>환경 </a:t>
            </a:r>
            <a:r>
              <a:rPr lang="en-US" altLang="ko-KR" sz="1200">
                <a:solidFill>
                  <a:srgbClr val="222A34"/>
                </a:solidFill>
                <a:latin typeface="Malgun Gothic" panose="020B0503020000020004" pitchFamily="50" charset="-127"/>
              </a:rPr>
              <a:t>+ </a:t>
            </a:r>
            <a:r>
              <a:rPr lang="ko-KR" altLang="en-US" sz="1200">
                <a:solidFill>
                  <a:srgbClr val="222A34"/>
                </a:solidFill>
                <a:latin typeface="Malgun Gothic" panose="020B0503020000020004" pitchFamily="50" charset="-127"/>
              </a:rPr>
              <a:t>위치 </a:t>
            </a:r>
            <a:r>
              <a:rPr lang="en-US" altLang="ko-KR" sz="1200">
                <a:solidFill>
                  <a:srgbClr val="222A34"/>
                </a:solidFill>
                <a:latin typeface="Malgun Gothic" panose="020B0503020000020004" pitchFamily="50" charset="-127"/>
              </a:rPr>
              <a:t>+ </a:t>
            </a:r>
            <a:r>
              <a:rPr lang="ko-KR" altLang="en-US" sz="1200">
                <a:solidFill>
                  <a:srgbClr val="222A34"/>
                </a:solidFill>
                <a:latin typeface="Malgun Gothic" panose="020B0503020000020004" pitchFamily="50" charset="-127"/>
              </a:rPr>
              <a:t>연도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23F79E25-40E5-DCEA-DAD0-E30F9C3AEA2D}"/>
              </a:ext>
            </a:extLst>
          </p:cNvPr>
          <p:cNvCxnSpPr/>
          <p:nvPr/>
        </p:nvCxnSpPr>
        <p:spPr>
          <a:xfrm>
            <a:off x="7061200" y="3111500"/>
            <a:ext cx="330200" cy="0"/>
          </a:xfrm>
          <a:prstGeom prst="line">
            <a:avLst/>
          </a:prstGeom>
          <a:ln w="31750">
            <a:solidFill>
              <a:srgbClr val="1B7E8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622BA818-8C55-2301-F512-67819C54867B}"/>
              </a:ext>
            </a:extLst>
          </p:cNvPr>
          <p:cNvSpPr/>
          <p:nvPr/>
        </p:nvSpPr>
        <p:spPr>
          <a:xfrm>
            <a:off x="5181600" y="2425700"/>
            <a:ext cx="1879600" cy="1371600"/>
          </a:xfrm>
          <a:prstGeom prst="roundRect">
            <a:avLst/>
          </a:prstGeom>
          <a:solidFill>
            <a:srgbClr val="ECF2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EBC86ED-F2D6-8D25-8747-8F4975EDA918}"/>
              </a:ext>
            </a:extLst>
          </p:cNvPr>
          <p:cNvSpPr txBox="1"/>
          <p:nvPr/>
        </p:nvSpPr>
        <p:spPr>
          <a:xfrm>
            <a:off x="5308600" y="2603500"/>
            <a:ext cx="1625600" cy="482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1600" b="1">
                <a:solidFill>
                  <a:srgbClr val="222A34"/>
                </a:solidFill>
                <a:latin typeface="Malgun Gothic" panose="020B0503020000020004" pitchFamily="50" charset="-127"/>
              </a:rPr>
              <a:t>bundle </a:t>
            </a:r>
            <a:r>
              <a:rPr lang="ko-KR" altLang="en-US" sz="1600" b="1">
                <a:solidFill>
                  <a:srgbClr val="222A34"/>
                </a:solidFill>
                <a:latin typeface="Malgun Gothic" panose="020B0503020000020004" pitchFamily="50" charset="-127"/>
              </a:rPr>
              <a:t>수집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0B0EF4E-3F5F-19CE-070B-BE5CF74ABA5E}"/>
              </a:ext>
            </a:extLst>
          </p:cNvPr>
          <p:cNvSpPr txBox="1"/>
          <p:nvPr/>
        </p:nvSpPr>
        <p:spPr>
          <a:xfrm>
            <a:off x="5308600" y="3162300"/>
            <a:ext cx="16256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1200">
                <a:solidFill>
                  <a:srgbClr val="222A34"/>
                </a:solidFill>
                <a:latin typeface="Malgun Gothic" panose="020B0503020000020004" pitchFamily="50" charset="-127"/>
              </a:rPr>
              <a:t>WAV · TextGrid · CSV</a:t>
            </a:r>
            <a:endParaRPr lang="ko-KR" altLang="en-US" sz="1200">
              <a:solidFill>
                <a:srgbClr val="222A34"/>
              </a:solidFill>
              <a:latin typeface="Malgun Gothic" panose="020B0503020000020004" pitchFamily="50" charset="-127"/>
            </a:endParaRP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A909A20F-F25C-4D80-BFF1-9F0FE9C1239A}"/>
              </a:ext>
            </a:extLst>
          </p:cNvPr>
          <p:cNvCxnSpPr/>
          <p:nvPr/>
        </p:nvCxnSpPr>
        <p:spPr>
          <a:xfrm>
            <a:off x="9359900" y="3111500"/>
            <a:ext cx="330200" cy="0"/>
          </a:xfrm>
          <a:prstGeom prst="line">
            <a:avLst/>
          </a:prstGeom>
          <a:ln w="31750">
            <a:solidFill>
              <a:srgbClr val="1B7E8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19767608-BB72-1D5F-8571-984383032FBB}"/>
              </a:ext>
            </a:extLst>
          </p:cNvPr>
          <p:cNvSpPr/>
          <p:nvPr/>
        </p:nvSpPr>
        <p:spPr>
          <a:xfrm>
            <a:off x="7480300" y="2425700"/>
            <a:ext cx="1879600" cy="1371600"/>
          </a:xfrm>
          <a:prstGeom prst="roundRect">
            <a:avLst/>
          </a:prstGeom>
          <a:solidFill>
            <a:srgbClr val="EAE5D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22C76D6-7EC8-EC46-2071-62649AD5C7CA}"/>
              </a:ext>
            </a:extLst>
          </p:cNvPr>
          <p:cNvSpPr txBox="1"/>
          <p:nvPr/>
        </p:nvSpPr>
        <p:spPr>
          <a:xfrm>
            <a:off x="7607300" y="2603500"/>
            <a:ext cx="1625600" cy="482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600" b="1">
                <a:solidFill>
                  <a:srgbClr val="222A34"/>
                </a:solidFill>
                <a:latin typeface="Malgun Gothic" panose="020B0503020000020004" pitchFamily="50" charset="-127"/>
              </a:rPr>
              <a:t>선별 보조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CE71554-C0F3-E005-BDDD-ED9E9845B94D}"/>
              </a:ext>
            </a:extLst>
          </p:cNvPr>
          <p:cNvSpPr txBox="1"/>
          <p:nvPr/>
        </p:nvSpPr>
        <p:spPr>
          <a:xfrm>
            <a:off x="7607300" y="3162300"/>
            <a:ext cx="16256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1200">
                <a:solidFill>
                  <a:srgbClr val="222A34"/>
                </a:solidFill>
                <a:latin typeface="Malgun Gothic" panose="020B0503020000020004" pitchFamily="50" charset="-127"/>
              </a:rPr>
              <a:t>KOINA · </a:t>
            </a:r>
            <a:r>
              <a:rPr lang="ko-KR" altLang="en-US" sz="1200">
                <a:solidFill>
                  <a:srgbClr val="222A34"/>
                </a:solidFill>
                <a:latin typeface="Malgun Gothic" panose="020B0503020000020004" pitchFamily="50" charset="-127"/>
              </a:rPr>
              <a:t>이어붙이기 </a:t>
            </a:r>
            <a:r>
              <a:rPr lang="en-US" altLang="ko-KR" sz="1200">
                <a:solidFill>
                  <a:srgbClr val="222A34"/>
                </a:solidFill>
                <a:latin typeface="Malgun Gothic" panose="020B0503020000020004" pitchFamily="50" charset="-127"/>
              </a:rPr>
              <a:t>· wav2vec2</a:t>
            </a:r>
            <a:endParaRPr lang="ko-KR" altLang="en-US" sz="1200">
              <a:solidFill>
                <a:srgbClr val="222A34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29A8016A-EC58-C05C-0056-73A6BF40F7F4}"/>
              </a:ext>
            </a:extLst>
          </p:cNvPr>
          <p:cNvSpPr/>
          <p:nvPr/>
        </p:nvSpPr>
        <p:spPr>
          <a:xfrm>
            <a:off x="9779000" y="2425700"/>
            <a:ext cx="1879600" cy="1371600"/>
          </a:xfrm>
          <a:prstGeom prst="roundRect">
            <a:avLst/>
          </a:prstGeom>
          <a:solidFill>
            <a:srgbClr val="CD5C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CB4D146-82E2-CE6A-BB6B-E65F9F306AEB}"/>
              </a:ext>
            </a:extLst>
          </p:cNvPr>
          <p:cNvSpPr txBox="1"/>
          <p:nvPr/>
        </p:nvSpPr>
        <p:spPr>
          <a:xfrm>
            <a:off x="9906000" y="2603500"/>
            <a:ext cx="1625600" cy="482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600" b="1">
                <a:solidFill>
                  <a:srgbClr val="FFFFFF"/>
                </a:solidFill>
                <a:latin typeface="Malgun Gothic" panose="020B0503020000020004" pitchFamily="50" charset="-127"/>
              </a:rPr>
              <a:t>수동 판정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0946831-4758-7DF8-3A59-B2270DC48FE9}"/>
              </a:ext>
            </a:extLst>
          </p:cNvPr>
          <p:cNvSpPr txBox="1"/>
          <p:nvPr/>
        </p:nvSpPr>
        <p:spPr>
          <a:xfrm>
            <a:off x="9906000" y="3162300"/>
            <a:ext cx="16256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200">
                <a:solidFill>
                  <a:srgbClr val="FFFFFF"/>
                </a:solidFill>
                <a:latin typeface="Malgun Gothic" panose="020B0503020000020004" pitchFamily="50" charset="-127"/>
              </a:rPr>
              <a:t>실현 여부 </a:t>
            </a:r>
            <a:r>
              <a:rPr lang="en-US" altLang="ko-KR" sz="1200">
                <a:solidFill>
                  <a:srgbClr val="FFFFFF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1200">
                <a:solidFill>
                  <a:srgbClr val="FFFFFF"/>
                </a:solidFill>
                <a:latin typeface="Malgun Gothic" panose="020B0503020000020004" pitchFamily="50" charset="-127"/>
              </a:rPr>
              <a:t>음향 근거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052ED080-C78F-7F34-03D6-290B159CE545}"/>
              </a:ext>
            </a:extLst>
          </p:cNvPr>
          <p:cNvSpPr/>
          <p:nvPr/>
        </p:nvSpPr>
        <p:spPr>
          <a:xfrm>
            <a:off x="685800" y="4419600"/>
            <a:ext cx="10820400" cy="1168400"/>
          </a:xfrm>
          <a:prstGeom prst="roundRect">
            <a:avLst/>
          </a:prstGeom>
          <a:solidFill>
            <a:srgbClr val="1B324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5C832A3-7587-213F-D6CD-DEA191567B4A}"/>
              </a:ext>
            </a:extLst>
          </p:cNvPr>
          <p:cNvSpPr txBox="1"/>
          <p:nvPr/>
        </p:nvSpPr>
        <p:spPr>
          <a:xfrm>
            <a:off x="965200" y="4673600"/>
            <a:ext cx="18034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300" b="1">
                <a:solidFill>
                  <a:srgbClr val="48A5A5"/>
                </a:solidFill>
                <a:latin typeface="Malgun Gothic" panose="020B0503020000020004" pitchFamily="50" charset="-127"/>
              </a:rPr>
              <a:t>자동값의 지위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A46CDBA-046D-0174-0B65-827619EE596E}"/>
              </a:ext>
            </a:extLst>
          </p:cNvPr>
          <p:cNvSpPr txBox="1"/>
          <p:nvPr/>
        </p:nvSpPr>
        <p:spPr>
          <a:xfrm>
            <a:off x="965200" y="5054600"/>
            <a:ext cx="10033000" cy="482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600" b="1">
                <a:solidFill>
                  <a:srgbClr val="FFFFFF"/>
                </a:solidFill>
                <a:latin typeface="Malgun Gothic" panose="020B0503020000020004" pitchFamily="50" charset="-127"/>
              </a:rPr>
              <a:t>G2P·</a:t>
            </a:r>
            <a:r>
              <a:rPr lang="ko-KR" altLang="en-US" sz="1600" b="1">
                <a:solidFill>
                  <a:srgbClr val="FFFFFF"/>
                </a:solidFill>
                <a:latin typeface="Malgun Gothic" panose="020B0503020000020004" pitchFamily="50" charset="-127"/>
              </a:rPr>
              <a:t>사전</a:t>
            </a:r>
            <a:r>
              <a:rPr lang="en-US" altLang="ko-KR" sz="1600" b="1">
                <a:solidFill>
                  <a:srgbClr val="FFFFFF"/>
                </a:solidFill>
                <a:latin typeface="Malgun Gothic" panose="020B0503020000020004" pitchFamily="50" charset="-127"/>
              </a:rPr>
              <a:t>·MFA·wav2vec2</a:t>
            </a:r>
            <a:r>
              <a:rPr lang="ko-KR" altLang="en-US" sz="1600" b="1">
                <a:solidFill>
                  <a:srgbClr val="FFFFFF"/>
                </a:solidFill>
                <a:latin typeface="Malgun Gothic" panose="020B0503020000020004" pitchFamily="50" charset="-127"/>
              </a:rPr>
              <a:t>는 서로 다른 출처의 보조값이다</a:t>
            </a:r>
            <a:r>
              <a:rPr lang="en-US" altLang="ko-KR" sz="1600" b="1">
                <a:solidFill>
                  <a:srgbClr val="FFFFFF"/>
                </a:solidFill>
                <a:latin typeface="Malgun Gothic" panose="020B0503020000020004" pitchFamily="50" charset="-127"/>
              </a:rPr>
              <a:t>. </a:t>
            </a:r>
            <a:r>
              <a:rPr lang="ko-KR" altLang="en-US" sz="1600" b="1">
                <a:solidFill>
                  <a:srgbClr val="FFFFFF"/>
                </a:solidFill>
                <a:latin typeface="Malgun Gothic" panose="020B0503020000020004" pitchFamily="50" charset="-127"/>
              </a:rPr>
              <a:t>어느 열도 </a:t>
            </a:r>
            <a:r>
              <a:rPr lang="en-US" altLang="ko-KR" sz="1600" b="1">
                <a:solidFill>
                  <a:srgbClr val="FFFFFF"/>
                </a:solidFill>
                <a:latin typeface="Malgun Gothic" panose="020B0503020000020004" pitchFamily="50" charset="-127"/>
              </a:rPr>
              <a:t>manual judgment</a:t>
            </a:r>
            <a:r>
              <a:rPr lang="ko-KR" altLang="en-US" sz="1600" b="1">
                <a:solidFill>
                  <a:srgbClr val="FFFFFF"/>
                </a:solidFill>
                <a:latin typeface="Malgun Gothic" panose="020B0503020000020004" pitchFamily="50" charset="-127"/>
              </a:rPr>
              <a:t>를 덮어쓰지 않는다</a:t>
            </a:r>
            <a:r>
              <a:rPr lang="en-US" altLang="ko-KR" sz="1600" b="1">
                <a:solidFill>
                  <a:srgbClr val="FFFFFF"/>
                </a:solidFill>
                <a:latin typeface="Malgun Gothic" panose="020B0503020000020004" pitchFamily="50" charset="-127"/>
              </a:rPr>
              <a:t>.</a:t>
            </a:r>
            <a:endParaRPr lang="ko-KR" altLang="en-US" sz="16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925F2364-A960-B097-8A16-938B945DA8AF}"/>
              </a:ext>
            </a:extLst>
          </p:cNvPr>
          <p:cNvCxnSpPr/>
          <p:nvPr/>
        </p:nvCxnSpPr>
        <p:spPr>
          <a:xfrm>
            <a:off x="685800" y="6451600"/>
            <a:ext cx="10820400" cy="0"/>
          </a:xfrm>
          <a:prstGeom prst="line">
            <a:avLst/>
          </a:prstGeom>
          <a:ln w="7620">
            <a:solidFill>
              <a:srgbClr val="B1BB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CCBE12AE-6802-8CF1-9C15-C2C68E70BBF4}"/>
              </a:ext>
            </a:extLst>
          </p:cNvPr>
          <p:cNvSpPr txBox="1"/>
          <p:nvPr/>
        </p:nvSpPr>
        <p:spPr>
          <a:xfrm>
            <a:off x="685800" y="6515100"/>
            <a:ext cx="6350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>
                <a:solidFill>
                  <a:srgbClr val="636D77"/>
                </a:solidFill>
                <a:latin typeface="Malgun Gothic" panose="020B0503020000020004" pitchFamily="50" charset="-127"/>
              </a:rPr>
              <a:t>2026 </a:t>
            </a:r>
            <a:r>
              <a:rPr lang="ko-KR" altLang="en-US" sz="900">
                <a:solidFill>
                  <a:srgbClr val="636D77"/>
                </a:solidFill>
                <a:latin typeface="Malgun Gothic" panose="020B0503020000020004" pitchFamily="50" charset="-127"/>
              </a:rPr>
              <a:t>여름 연구 </a:t>
            </a:r>
            <a:r>
              <a:rPr lang="en-US" altLang="ko-KR" sz="900">
                <a:solidFill>
                  <a:srgbClr val="636D77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900">
                <a:solidFill>
                  <a:srgbClr val="636D77"/>
                </a:solidFill>
                <a:latin typeface="Malgun Gothic" panose="020B0503020000020004" pitchFamily="50" charset="-127"/>
              </a:rPr>
              <a:t>전수 </a:t>
            </a:r>
            <a:r>
              <a:rPr lang="en-US" altLang="ko-KR" sz="900">
                <a:solidFill>
                  <a:srgbClr val="636D77"/>
                </a:solidFill>
                <a:latin typeface="Malgun Gothic" panose="020B0503020000020004" pitchFamily="50" charset="-127"/>
              </a:rPr>
              <a:t>MFA </a:t>
            </a:r>
            <a:r>
              <a:rPr lang="ko-KR" altLang="en-US" sz="900">
                <a:solidFill>
                  <a:srgbClr val="636D77"/>
                </a:solidFill>
                <a:latin typeface="Malgun Gothic" panose="020B0503020000020004" pitchFamily="50" charset="-127"/>
              </a:rPr>
              <a:t>인프라 최종 점검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E6EA366-44F0-F445-A90C-B1D8591EA762}"/>
              </a:ext>
            </a:extLst>
          </p:cNvPr>
          <p:cNvSpPr txBox="1"/>
          <p:nvPr/>
        </p:nvSpPr>
        <p:spPr>
          <a:xfrm>
            <a:off x="10972800" y="6502400"/>
            <a:ext cx="5334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900" b="1">
                <a:solidFill>
                  <a:srgbClr val="636D77"/>
                </a:solidFill>
                <a:latin typeface="Malgun Gothic" panose="020B0503020000020004" pitchFamily="50" charset="-127"/>
              </a:rPr>
              <a:t>04</a:t>
            </a:r>
            <a:endParaRPr lang="ko-KR" altLang="en-US" sz="900" b="1">
              <a:solidFill>
                <a:srgbClr val="636D77"/>
              </a:solidFill>
              <a:latin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867948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C2B1E4-5364-A030-CB64-5DB5272E7E3B}"/>
              </a:ext>
            </a:extLst>
          </p:cNvPr>
          <p:cNvSpPr txBox="1"/>
          <p:nvPr/>
        </p:nvSpPr>
        <p:spPr>
          <a:xfrm>
            <a:off x="685800" y="317500"/>
            <a:ext cx="3556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100" b="1">
                <a:solidFill>
                  <a:srgbClr val="1B7E84"/>
                </a:solidFill>
                <a:latin typeface="Malgun Gothic" panose="020B0503020000020004" pitchFamily="50" charset="-127"/>
              </a:rPr>
              <a:t>04 · </a:t>
            </a:r>
            <a:r>
              <a:rPr lang="ko-KR" altLang="en-US" sz="1100" b="1">
                <a:solidFill>
                  <a:srgbClr val="1B7E84"/>
                </a:solidFill>
                <a:latin typeface="Malgun Gothic" panose="020B0503020000020004" pitchFamily="50" charset="-127"/>
              </a:rPr>
              <a:t>출처 층위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E1BC3B-E88B-37DD-8E2A-7D5C1FFA9814}"/>
              </a:ext>
            </a:extLst>
          </p:cNvPr>
          <p:cNvSpPr txBox="1"/>
          <p:nvPr/>
        </p:nvSpPr>
        <p:spPr>
          <a:xfrm>
            <a:off x="685800" y="622300"/>
            <a:ext cx="108204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2900" b="1">
                <a:solidFill>
                  <a:srgbClr val="1B324D"/>
                </a:solidFill>
                <a:latin typeface="Malgun Gothic" panose="020B0503020000020004" pitchFamily="50" charset="-127"/>
              </a:rPr>
              <a:t>같은 “발음 정보”처럼 보여도 생성 주체와 해석 범위가 다르다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14CE5FF-7DDB-8230-C53A-71FF94B8548E}"/>
              </a:ext>
            </a:extLst>
          </p:cNvPr>
          <p:cNvSpPr/>
          <p:nvPr/>
        </p:nvSpPr>
        <p:spPr>
          <a:xfrm>
            <a:off x="685800" y="1282700"/>
            <a:ext cx="736600" cy="50800"/>
          </a:xfrm>
          <a:prstGeom prst="rect">
            <a:avLst/>
          </a:prstGeom>
          <a:solidFill>
            <a:srgbClr val="CD5C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A8D6B25-E80A-62E7-68CC-2CBCFD6AE8BC}"/>
              </a:ext>
            </a:extLst>
          </p:cNvPr>
          <p:cNvSpPr/>
          <p:nvPr/>
        </p:nvSpPr>
        <p:spPr>
          <a:xfrm>
            <a:off x="685800" y="1739900"/>
            <a:ext cx="139700" cy="736600"/>
          </a:xfrm>
          <a:prstGeom prst="rect">
            <a:avLst/>
          </a:prstGeom>
          <a:solidFill>
            <a:srgbClr val="1B324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1184D2-8D18-FA65-4180-137A62B10555}"/>
              </a:ext>
            </a:extLst>
          </p:cNvPr>
          <p:cNvSpPr txBox="1"/>
          <p:nvPr/>
        </p:nvSpPr>
        <p:spPr>
          <a:xfrm>
            <a:off x="1041400" y="1803400"/>
            <a:ext cx="19685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700" b="1">
                <a:solidFill>
                  <a:srgbClr val="1B324D"/>
                </a:solidFill>
                <a:latin typeface="Malgun Gothic" panose="020B0503020000020004" pitchFamily="50" charset="-127"/>
              </a:rPr>
              <a:t>원자료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D38E70-E07A-4083-DFED-7609D89C8C9C}"/>
              </a:ext>
            </a:extLst>
          </p:cNvPr>
          <p:cNvSpPr txBox="1"/>
          <p:nvPr/>
        </p:nvSpPr>
        <p:spPr>
          <a:xfrm>
            <a:off x="3086100" y="1803400"/>
            <a:ext cx="59182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500" b="1">
                <a:solidFill>
                  <a:srgbClr val="222A34"/>
                </a:solidFill>
                <a:latin typeface="Malgun Gothic" panose="020B0503020000020004" pitchFamily="50" charset="-127"/>
              </a:rPr>
              <a:t>JSON original_form · </a:t>
            </a:r>
            <a:r>
              <a:rPr lang="ko-KR" altLang="en-US" sz="1500" b="1">
                <a:solidFill>
                  <a:srgbClr val="222A34"/>
                </a:solidFill>
                <a:latin typeface="Malgun Gothic" panose="020B0503020000020004" pitchFamily="50" charset="-127"/>
              </a:rPr>
              <a:t>화자</a:t>
            </a:r>
            <a:r>
              <a:rPr lang="en-US" altLang="ko-KR" sz="1500" b="1">
                <a:solidFill>
                  <a:srgbClr val="222A34"/>
                </a:solidFill>
                <a:latin typeface="Malgun Gothic" panose="020B0503020000020004" pitchFamily="50" charset="-127"/>
              </a:rPr>
              <a:t>/</a:t>
            </a:r>
            <a:r>
              <a:rPr lang="ko-KR" altLang="en-US" sz="1500" b="1">
                <a:solidFill>
                  <a:srgbClr val="222A34"/>
                </a:solidFill>
                <a:latin typeface="Malgun Gothic" panose="020B0503020000020004" pitchFamily="50" charset="-127"/>
              </a:rPr>
              <a:t>대화 </a:t>
            </a:r>
            <a:r>
              <a:rPr lang="en-US" altLang="ko-KR" sz="1500" b="1">
                <a:solidFill>
                  <a:srgbClr val="222A34"/>
                </a:solidFill>
                <a:latin typeface="Malgun Gothic" panose="020B0503020000020004" pitchFamily="50" charset="-127"/>
              </a:rPr>
              <a:t>ID · </a:t>
            </a:r>
            <a:r>
              <a:rPr lang="ko-KR" altLang="en-US" sz="1500" b="1">
                <a:solidFill>
                  <a:srgbClr val="222A34"/>
                </a:solidFill>
                <a:latin typeface="Malgun Gothic" panose="020B0503020000020004" pitchFamily="50" charset="-127"/>
              </a:rPr>
              <a:t>시간 </a:t>
            </a:r>
            <a:r>
              <a:rPr lang="en-US" altLang="ko-KR" sz="1500" b="1">
                <a:solidFill>
                  <a:srgbClr val="222A34"/>
                </a:solidFill>
                <a:latin typeface="Malgun Gothic" panose="020B0503020000020004" pitchFamily="50" charset="-127"/>
              </a:rPr>
              <a:t>· note</a:t>
            </a:r>
            <a:endParaRPr lang="ko-KR" altLang="en-US" sz="1500" b="1">
              <a:solidFill>
                <a:srgbClr val="222A34"/>
              </a:solidFill>
              <a:latin typeface="Malgun Gothic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D4A4FB-0086-5063-9DAF-479AFDF40467}"/>
              </a:ext>
            </a:extLst>
          </p:cNvPr>
          <p:cNvSpPr txBox="1"/>
          <p:nvPr/>
        </p:nvSpPr>
        <p:spPr>
          <a:xfrm>
            <a:off x="9080500" y="1803400"/>
            <a:ext cx="21717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ko-KR" altLang="en-US" sz="1300">
                <a:solidFill>
                  <a:srgbClr val="636D77"/>
                </a:solidFill>
                <a:latin typeface="Malgun Gothic" panose="020B0503020000020004" pitchFamily="50" charset="-127"/>
              </a:rPr>
              <a:t>자동 수정 금지</a:t>
            </a: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72F619A7-7EE5-9EF4-9607-5E4D212661E6}"/>
              </a:ext>
            </a:extLst>
          </p:cNvPr>
          <p:cNvCxnSpPr/>
          <p:nvPr/>
        </p:nvCxnSpPr>
        <p:spPr>
          <a:xfrm>
            <a:off x="1041400" y="2400300"/>
            <a:ext cx="10210800" cy="0"/>
          </a:xfrm>
          <a:prstGeom prst="line">
            <a:avLst/>
          </a:prstGeom>
          <a:ln w="7620">
            <a:solidFill>
              <a:srgbClr val="B1BB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06E10E0-9627-DEEB-718A-733E0AFC5983}"/>
              </a:ext>
            </a:extLst>
          </p:cNvPr>
          <p:cNvSpPr/>
          <p:nvPr/>
        </p:nvSpPr>
        <p:spPr>
          <a:xfrm>
            <a:off x="685800" y="2730500"/>
            <a:ext cx="139700" cy="736600"/>
          </a:xfrm>
          <a:prstGeom prst="rect">
            <a:avLst/>
          </a:prstGeom>
          <a:solidFill>
            <a:srgbClr val="1B7E8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FF1D7B-E1E4-53EE-BD9C-6FEEB55CEDC2}"/>
              </a:ext>
            </a:extLst>
          </p:cNvPr>
          <p:cNvSpPr txBox="1"/>
          <p:nvPr/>
        </p:nvSpPr>
        <p:spPr>
          <a:xfrm>
            <a:off x="1041400" y="2794000"/>
            <a:ext cx="19685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700" b="1">
                <a:solidFill>
                  <a:srgbClr val="1B7E84"/>
                </a:solidFill>
                <a:latin typeface="Malgun Gothic" panose="020B0503020000020004" pitchFamily="50" charset="-127"/>
              </a:rPr>
              <a:t>연구자 정책</a:t>
            </a:r>
            <a:r>
              <a:rPr lang="en-US" altLang="ko-KR" sz="1700" b="1">
                <a:solidFill>
                  <a:srgbClr val="1B7E84"/>
                </a:solidFill>
                <a:latin typeface="Malgun Gothic" panose="020B0503020000020004" pitchFamily="50" charset="-127"/>
              </a:rPr>
              <a:t>/</a:t>
            </a:r>
            <a:r>
              <a:rPr lang="ko-KR" altLang="en-US" sz="1700" b="1">
                <a:solidFill>
                  <a:srgbClr val="1B7E84"/>
                </a:solidFill>
                <a:latin typeface="Malgun Gothic" panose="020B0503020000020004" pitchFamily="50" charset="-127"/>
              </a:rPr>
              <a:t>부착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04119D8-B7BE-7C6D-23FE-6AB3CE3FD5EF}"/>
              </a:ext>
            </a:extLst>
          </p:cNvPr>
          <p:cNvSpPr txBox="1"/>
          <p:nvPr/>
        </p:nvSpPr>
        <p:spPr>
          <a:xfrm>
            <a:off x="3086100" y="2794000"/>
            <a:ext cx="59182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500" b="1">
                <a:solidFill>
                  <a:srgbClr val="222A34"/>
                </a:solidFill>
                <a:latin typeface="Malgun Gothic" panose="020B0503020000020004" pitchFamily="50" charset="-127"/>
              </a:rPr>
              <a:t>6-tier </a:t>
            </a:r>
            <a:r>
              <a:rPr lang="ko-KR" altLang="en-US" sz="1500" b="1">
                <a:solidFill>
                  <a:srgbClr val="222A34"/>
                </a:solidFill>
                <a:latin typeface="Malgun Gothic" panose="020B0503020000020004" pitchFamily="50" charset="-127"/>
              </a:rPr>
              <a:t>선택 </a:t>
            </a:r>
            <a:r>
              <a:rPr lang="en-US" altLang="ko-KR" sz="1500" b="1">
                <a:solidFill>
                  <a:srgbClr val="222A34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1500" b="1">
                <a:solidFill>
                  <a:srgbClr val="222A34"/>
                </a:solidFill>
                <a:latin typeface="Malgun Gothic" panose="020B0503020000020004" pitchFamily="50" charset="-127"/>
              </a:rPr>
              <a:t>형태소 전체</a:t>
            </a:r>
            <a:r>
              <a:rPr lang="en-US" altLang="ko-KR" sz="1500" b="1">
                <a:solidFill>
                  <a:srgbClr val="222A34"/>
                </a:solidFill>
                <a:latin typeface="Malgun Gothic" panose="020B0503020000020004" pitchFamily="50" charset="-127"/>
              </a:rPr>
              <a:t>-span · </a:t>
            </a:r>
            <a:r>
              <a:rPr lang="ko-KR" altLang="en-US" sz="1500" b="1">
                <a:solidFill>
                  <a:srgbClr val="222A34"/>
                </a:solidFill>
                <a:latin typeface="Malgun Gothic" panose="020B0503020000020004" pitchFamily="50" charset="-127"/>
              </a:rPr>
              <a:t>선별 </a:t>
            </a:r>
            <a:r>
              <a:rPr lang="en-US" altLang="ko-KR" sz="1500" b="1">
                <a:solidFill>
                  <a:srgbClr val="222A34"/>
                </a:solidFill>
                <a:latin typeface="Malgun Gothic" panose="020B0503020000020004" pitchFamily="50" charset="-127"/>
              </a:rPr>
              <a:t>KOINA</a:t>
            </a:r>
            <a:endParaRPr lang="ko-KR" altLang="en-US" sz="1500" b="1">
              <a:solidFill>
                <a:srgbClr val="222A34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3EFBC6E-6AEF-A5C2-F5B9-35052E1A50C2}"/>
              </a:ext>
            </a:extLst>
          </p:cNvPr>
          <p:cNvSpPr txBox="1"/>
          <p:nvPr/>
        </p:nvSpPr>
        <p:spPr>
          <a:xfrm>
            <a:off x="9080500" y="2794000"/>
            <a:ext cx="21717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ko-KR" altLang="en-US" sz="1300">
                <a:solidFill>
                  <a:srgbClr val="636D77"/>
                </a:solidFill>
                <a:latin typeface="Malgun Gothic" panose="020B0503020000020004" pitchFamily="50" charset="-127"/>
              </a:rPr>
              <a:t>방법 설계로 기록</a:t>
            </a: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14F16D02-1AB8-E69C-C0F4-9B2850683CC6}"/>
              </a:ext>
            </a:extLst>
          </p:cNvPr>
          <p:cNvCxnSpPr/>
          <p:nvPr/>
        </p:nvCxnSpPr>
        <p:spPr>
          <a:xfrm>
            <a:off x="1041400" y="3390900"/>
            <a:ext cx="10210800" cy="0"/>
          </a:xfrm>
          <a:prstGeom prst="line">
            <a:avLst/>
          </a:prstGeom>
          <a:ln w="7620">
            <a:solidFill>
              <a:srgbClr val="B1BB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1A76314-2BB6-D96E-E1DE-E89EDE94BFCB}"/>
              </a:ext>
            </a:extLst>
          </p:cNvPr>
          <p:cNvSpPr/>
          <p:nvPr/>
        </p:nvSpPr>
        <p:spPr>
          <a:xfrm>
            <a:off x="685800" y="3721100"/>
            <a:ext cx="139700" cy="736600"/>
          </a:xfrm>
          <a:prstGeom prst="rect">
            <a:avLst/>
          </a:prstGeom>
          <a:solidFill>
            <a:srgbClr val="E0AE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420627A-F809-D608-0CE8-7B0FAB2C477B}"/>
              </a:ext>
            </a:extLst>
          </p:cNvPr>
          <p:cNvSpPr txBox="1"/>
          <p:nvPr/>
        </p:nvSpPr>
        <p:spPr>
          <a:xfrm>
            <a:off x="1041400" y="3784600"/>
            <a:ext cx="19685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700" b="1">
                <a:solidFill>
                  <a:srgbClr val="E0AE47"/>
                </a:solidFill>
                <a:latin typeface="Malgun Gothic" panose="020B0503020000020004" pitchFamily="50" charset="-127"/>
              </a:rPr>
              <a:t>기계 파생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1D84CA3-BF80-947A-77F3-2B64FC6805AD}"/>
              </a:ext>
            </a:extLst>
          </p:cNvPr>
          <p:cNvSpPr txBox="1"/>
          <p:nvPr/>
        </p:nvSpPr>
        <p:spPr>
          <a:xfrm>
            <a:off x="3086100" y="3784600"/>
            <a:ext cx="59182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500" b="1">
                <a:solidFill>
                  <a:srgbClr val="222A34"/>
                </a:solidFill>
                <a:latin typeface="Malgun Gothic" panose="020B0503020000020004" pitchFamily="50" charset="-127"/>
              </a:rPr>
              <a:t>Roman · </a:t>
            </a:r>
            <a:r>
              <a:rPr lang="ko-KR" altLang="en-US" sz="1500" b="1">
                <a:solidFill>
                  <a:srgbClr val="222A34"/>
                </a:solidFill>
                <a:latin typeface="Malgun Gothic" panose="020B0503020000020004" pitchFamily="50" charset="-127"/>
              </a:rPr>
              <a:t>공통사전 </a:t>
            </a:r>
            <a:r>
              <a:rPr lang="en-US" altLang="ko-KR" sz="1500" b="1">
                <a:solidFill>
                  <a:srgbClr val="222A34"/>
                </a:solidFill>
                <a:latin typeface="Malgun Gothic" panose="020B0503020000020004" pitchFamily="50" charset="-127"/>
              </a:rPr>
              <a:t>phone · MFA interval · broad phoneme</a:t>
            </a:r>
            <a:endParaRPr lang="ko-KR" altLang="en-US" sz="1500" b="1">
              <a:solidFill>
                <a:srgbClr val="222A34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0E97EC2-440C-A6A1-A6F4-B8DCB34FAD3E}"/>
              </a:ext>
            </a:extLst>
          </p:cNvPr>
          <p:cNvSpPr txBox="1"/>
          <p:nvPr/>
        </p:nvSpPr>
        <p:spPr>
          <a:xfrm>
            <a:off x="9080500" y="3784600"/>
            <a:ext cx="21717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ko-KR" altLang="en-US" sz="1300">
                <a:solidFill>
                  <a:srgbClr val="636D77"/>
                </a:solidFill>
                <a:latin typeface="Malgun Gothic" panose="020B0503020000020004" pitchFamily="50" charset="-127"/>
              </a:rPr>
              <a:t>출처와 버전 고정</a:t>
            </a: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C2A708D2-BA4D-4A72-5256-E2E864AC6FC9}"/>
              </a:ext>
            </a:extLst>
          </p:cNvPr>
          <p:cNvCxnSpPr/>
          <p:nvPr/>
        </p:nvCxnSpPr>
        <p:spPr>
          <a:xfrm>
            <a:off x="1041400" y="4381500"/>
            <a:ext cx="10210800" cy="0"/>
          </a:xfrm>
          <a:prstGeom prst="line">
            <a:avLst/>
          </a:prstGeom>
          <a:ln w="7620">
            <a:solidFill>
              <a:srgbClr val="B1BB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7B95455-4B28-2021-198D-F9EA7E14BA45}"/>
              </a:ext>
            </a:extLst>
          </p:cNvPr>
          <p:cNvSpPr/>
          <p:nvPr/>
        </p:nvSpPr>
        <p:spPr>
          <a:xfrm>
            <a:off x="685800" y="4711700"/>
            <a:ext cx="139700" cy="736600"/>
          </a:xfrm>
          <a:prstGeom prst="rect">
            <a:avLst/>
          </a:prstGeom>
          <a:solidFill>
            <a:srgbClr val="CD5C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5682FF3-B3AE-E350-47C8-DE7B48E1F437}"/>
              </a:ext>
            </a:extLst>
          </p:cNvPr>
          <p:cNvSpPr txBox="1"/>
          <p:nvPr/>
        </p:nvSpPr>
        <p:spPr>
          <a:xfrm>
            <a:off x="1041400" y="4775200"/>
            <a:ext cx="19685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700" b="1">
                <a:solidFill>
                  <a:srgbClr val="CD5C46"/>
                </a:solidFill>
                <a:latin typeface="Malgun Gothic" panose="020B0503020000020004" pitchFamily="50" charset="-127"/>
              </a:rPr>
              <a:t>수동 판정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3BEBB3D-6292-4338-11C0-3BA58C530619}"/>
              </a:ext>
            </a:extLst>
          </p:cNvPr>
          <p:cNvSpPr txBox="1"/>
          <p:nvPr/>
        </p:nvSpPr>
        <p:spPr>
          <a:xfrm>
            <a:off x="3086100" y="4775200"/>
            <a:ext cx="59182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500" b="1">
                <a:solidFill>
                  <a:srgbClr val="222A34"/>
                </a:solidFill>
                <a:latin typeface="Malgun Gothic" panose="020B0503020000020004" pitchFamily="50" charset="-127"/>
              </a:rPr>
              <a:t>실제 실현 여부 </a:t>
            </a:r>
            <a:r>
              <a:rPr lang="en-US" altLang="ko-KR" sz="1500" b="1">
                <a:solidFill>
                  <a:srgbClr val="222A34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1500" b="1">
                <a:solidFill>
                  <a:srgbClr val="222A34"/>
                </a:solidFill>
                <a:latin typeface="Malgun Gothic" panose="020B0503020000020004" pitchFamily="50" charset="-127"/>
              </a:rPr>
              <a:t>음향 근거 </a:t>
            </a:r>
            <a:r>
              <a:rPr lang="en-US" altLang="ko-KR" sz="1500" b="1">
                <a:solidFill>
                  <a:srgbClr val="222A34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1500" b="1">
                <a:solidFill>
                  <a:srgbClr val="222A34"/>
                </a:solidFill>
                <a:latin typeface="Malgun Gothic" panose="020B0503020000020004" pitchFamily="50" charset="-127"/>
              </a:rPr>
              <a:t>예외 처리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912B598-ECFF-9B9C-0580-6F2539E60175}"/>
              </a:ext>
            </a:extLst>
          </p:cNvPr>
          <p:cNvSpPr txBox="1"/>
          <p:nvPr/>
        </p:nvSpPr>
        <p:spPr>
          <a:xfrm>
            <a:off x="9080500" y="4775200"/>
            <a:ext cx="21717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ko-KR" altLang="en-US" sz="1300">
                <a:solidFill>
                  <a:srgbClr val="636D77"/>
                </a:solidFill>
                <a:latin typeface="Malgun Gothic" panose="020B0503020000020004" pitchFamily="50" charset="-127"/>
              </a:rPr>
              <a:t>별도 표에 기록</a:t>
            </a: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446C0BCD-1EB7-E9DC-A707-782FFC847026}"/>
              </a:ext>
            </a:extLst>
          </p:cNvPr>
          <p:cNvCxnSpPr/>
          <p:nvPr/>
        </p:nvCxnSpPr>
        <p:spPr>
          <a:xfrm>
            <a:off x="1041400" y="5372100"/>
            <a:ext cx="10210800" cy="0"/>
          </a:xfrm>
          <a:prstGeom prst="line">
            <a:avLst/>
          </a:prstGeom>
          <a:ln w="7620">
            <a:solidFill>
              <a:srgbClr val="B1BB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45F7FA57-9EB5-1510-8138-496FC58E2390}"/>
              </a:ext>
            </a:extLst>
          </p:cNvPr>
          <p:cNvSpPr txBox="1"/>
          <p:nvPr/>
        </p:nvSpPr>
        <p:spPr>
          <a:xfrm>
            <a:off x="685800" y="5778500"/>
            <a:ext cx="108204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b="1">
                <a:solidFill>
                  <a:srgbClr val="1B324D"/>
                </a:solidFill>
                <a:latin typeface="Malgun Gothic" panose="020B0503020000020004" pitchFamily="50" charset="-127"/>
              </a:rPr>
              <a:t>논문에서 “누가</a:t>
            </a:r>
            <a:r>
              <a:rPr lang="en-US" altLang="ko-KR" b="1">
                <a:solidFill>
                  <a:srgbClr val="1B324D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b="1">
                <a:solidFill>
                  <a:srgbClr val="1B324D"/>
                </a:solidFill>
                <a:latin typeface="Malgun Gothic" panose="020B0503020000020004" pitchFamily="50" charset="-127"/>
              </a:rPr>
              <a:t>무엇으로</a:t>
            </a:r>
            <a:r>
              <a:rPr lang="en-US" altLang="ko-KR" b="1">
                <a:solidFill>
                  <a:srgbClr val="1B324D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b="1">
                <a:solidFill>
                  <a:srgbClr val="1B324D"/>
                </a:solidFill>
                <a:latin typeface="Malgun Gothic" panose="020B0503020000020004" pitchFamily="50" charset="-127"/>
              </a:rPr>
              <a:t>어떤 한계 아래 만들었는가”를 열 단위로 설명할 수 있어야 한다</a:t>
            </a:r>
            <a:r>
              <a:rPr lang="en-US" altLang="ko-KR" b="1">
                <a:solidFill>
                  <a:srgbClr val="1B324D"/>
                </a:solidFill>
                <a:latin typeface="Malgun Gothic" panose="020B0503020000020004" pitchFamily="50" charset="-127"/>
              </a:rPr>
              <a:t>.</a:t>
            </a:r>
            <a:endParaRPr lang="ko-KR" altLang="en-US" b="1">
              <a:solidFill>
                <a:srgbClr val="1B324D"/>
              </a:solidFill>
              <a:latin typeface="Malgun Gothic" panose="020B0503020000020004" pitchFamily="50" charset="-127"/>
            </a:endParaRPr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0BA3D6BD-385C-431F-4A9D-2A06D7CD1125}"/>
              </a:ext>
            </a:extLst>
          </p:cNvPr>
          <p:cNvCxnSpPr/>
          <p:nvPr/>
        </p:nvCxnSpPr>
        <p:spPr>
          <a:xfrm>
            <a:off x="685800" y="6451600"/>
            <a:ext cx="10820400" cy="0"/>
          </a:xfrm>
          <a:prstGeom prst="line">
            <a:avLst/>
          </a:prstGeom>
          <a:ln w="7620">
            <a:solidFill>
              <a:srgbClr val="B1BB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8522FA48-97E6-E29D-D698-FE8E76CAF858}"/>
              </a:ext>
            </a:extLst>
          </p:cNvPr>
          <p:cNvSpPr txBox="1"/>
          <p:nvPr/>
        </p:nvSpPr>
        <p:spPr>
          <a:xfrm>
            <a:off x="685800" y="6515100"/>
            <a:ext cx="6350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>
                <a:solidFill>
                  <a:srgbClr val="636D77"/>
                </a:solidFill>
                <a:latin typeface="Malgun Gothic" panose="020B0503020000020004" pitchFamily="50" charset="-127"/>
              </a:rPr>
              <a:t>2026 </a:t>
            </a:r>
            <a:r>
              <a:rPr lang="ko-KR" altLang="en-US" sz="900">
                <a:solidFill>
                  <a:srgbClr val="636D77"/>
                </a:solidFill>
                <a:latin typeface="Malgun Gothic" panose="020B0503020000020004" pitchFamily="50" charset="-127"/>
              </a:rPr>
              <a:t>여름 연구 </a:t>
            </a:r>
            <a:r>
              <a:rPr lang="en-US" altLang="ko-KR" sz="900">
                <a:solidFill>
                  <a:srgbClr val="636D77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900">
                <a:solidFill>
                  <a:srgbClr val="636D77"/>
                </a:solidFill>
                <a:latin typeface="Malgun Gothic" panose="020B0503020000020004" pitchFamily="50" charset="-127"/>
              </a:rPr>
              <a:t>전수 </a:t>
            </a:r>
            <a:r>
              <a:rPr lang="en-US" altLang="ko-KR" sz="900">
                <a:solidFill>
                  <a:srgbClr val="636D77"/>
                </a:solidFill>
                <a:latin typeface="Malgun Gothic" panose="020B0503020000020004" pitchFamily="50" charset="-127"/>
              </a:rPr>
              <a:t>MFA </a:t>
            </a:r>
            <a:r>
              <a:rPr lang="ko-KR" altLang="en-US" sz="900">
                <a:solidFill>
                  <a:srgbClr val="636D77"/>
                </a:solidFill>
                <a:latin typeface="Malgun Gothic" panose="020B0503020000020004" pitchFamily="50" charset="-127"/>
              </a:rPr>
              <a:t>인프라 최종 점검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CCD4F77-70AF-1E4C-85E7-A6822719E0F6}"/>
              </a:ext>
            </a:extLst>
          </p:cNvPr>
          <p:cNvSpPr txBox="1"/>
          <p:nvPr/>
        </p:nvSpPr>
        <p:spPr>
          <a:xfrm>
            <a:off x="10972800" y="6502400"/>
            <a:ext cx="5334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900" b="1">
                <a:solidFill>
                  <a:srgbClr val="636D77"/>
                </a:solidFill>
                <a:latin typeface="Malgun Gothic" panose="020B0503020000020004" pitchFamily="50" charset="-127"/>
              </a:rPr>
              <a:t>05</a:t>
            </a:r>
            <a:endParaRPr lang="ko-KR" altLang="en-US" sz="900" b="1">
              <a:solidFill>
                <a:srgbClr val="636D77"/>
              </a:solidFill>
              <a:latin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636477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DCA565-9262-D093-71FB-383765962B52}"/>
              </a:ext>
            </a:extLst>
          </p:cNvPr>
          <p:cNvSpPr txBox="1"/>
          <p:nvPr/>
        </p:nvSpPr>
        <p:spPr>
          <a:xfrm>
            <a:off x="685800" y="317500"/>
            <a:ext cx="3556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100" b="1">
                <a:solidFill>
                  <a:srgbClr val="1B7E84"/>
                </a:solidFill>
                <a:latin typeface="Malgun Gothic" panose="020B0503020000020004" pitchFamily="50" charset="-127"/>
              </a:rPr>
              <a:t>05 · TextGrid 6-tier</a:t>
            </a:r>
            <a:endParaRPr lang="ko-KR" altLang="en-US" sz="1100" b="1">
              <a:solidFill>
                <a:srgbClr val="1B7E84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87847F-CB1B-F441-1592-BAC69A8FB983}"/>
              </a:ext>
            </a:extLst>
          </p:cNvPr>
          <p:cNvSpPr txBox="1"/>
          <p:nvPr/>
        </p:nvSpPr>
        <p:spPr>
          <a:xfrm>
            <a:off x="685800" y="622300"/>
            <a:ext cx="108204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2900" b="1">
                <a:solidFill>
                  <a:srgbClr val="1B324D"/>
                </a:solidFill>
                <a:latin typeface="Malgun Gothic" panose="020B0503020000020004" pitchFamily="50" charset="-127"/>
              </a:rPr>
              <a:t>시간을 실제로 아는 층위와 발화 전체</a:t>
            </a:r>
            <a:r>
              <a:rPr lang="en-US" altLang="ko-KR" sz="2900" b="1">
                <a:solidFill>
                  <a:srgbClr val="1B324D"/>
                </a:solidFill>
                <a:latin typeface="Malgun Gothic" panose="020B0503020000020004" pitchFamily="50" charset="-127"/>
              </a:rPr>
              <a:t>-span </a:t>
            </a:r>
            <a:r>
              <a:rPr lang="ko-KR" altLang="en-US" sz="2900" b="1">
                <a:solidFill>
                  <a:srgbClr val="1B324D"/>
                </a:solidFill>
                <a:latin typeface="Malgun Gothic" panose="020B0503020000020004" pitchFamily="50" charset="-127"/>
              </a:rPr>
              <a:t>참조층을 구분한다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EB98D8C-1567-944A-5C64-3FE120C8D992}"/>
              </a:ext>
            </a:extLst>
          </p:cNvPr>
          <p:cNvSpPr/>
          <p:nvPr/>
        </p:nvSpPr>
        <p:spPr>
          <a:xfrm>
            <a:off x="685800" y="1282700"/>
            <a:ext cx="736600" cy="50800"/>
          </a:xfrm>
          <a:prstGeom prst="rect">
            <a:avLst/>
          </a:prstGeom>
          <a:solidFill>
            <a:srgbClr val="CD5C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C2614A-DE95-0B6C-4691-3BC936E86B5A}"/>
              </a:ext>
            </a:extLst>
          </p:cNvPr>
          <p:cNvSpPr txBox="1"/>
          <p:nvPr/>
        </p:nvSpPr>
        <p:spPr>
          <a:xfrm>
            <a:off x="685800" y="1892300"/>
            <a:ext cx="18542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1300" b="1">
                <a:solidFill>
                  <a:srgbClr val="1B7E84"/>
                </a:solidFill>
                <a:latin typeface="Malgun Gothic" panose="020B0503020000020004" pitchFamily="50" charset="-127"/>
              </a:rPr>
              <a:t>words</a:t>
            </a:r>
            <a:endParaRPr lang="ko-KR" altLang="en-US" sz="1300" b="1">
              <a:solidFill>
                <a:srgbClr val="1B7E84"/>
              </a:solidFill>
              <a:latin typeface="Malgun Gothic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2285D62-A04E-5CD8-7C32-86D902B9C043}"/>
              </a:ext>
            </a:extLst>
          </p:cNvPr>
          <p:cNvSpPr/>
          <p:nvPr/>
        </p:nvSpPr>
        <p:spPr>
          <a:xfrm>
            <a:off x="2667000" y="1739900"/>
            <a:ext cx="863600" cy="571500"/>
          </a:xfrm>
          <a:prstGeom prst="rect">
            <a:avLst/>
          </a:prstGeom>
          <a:solidFill>
            <a:srgbClr val="FFFFFF"/>
          </a:solidFill>
          <a:ln w="12700">
            <a:solidFill>
              <a:srgbClr val="B1BB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37CFC59-DDF5-EDBF-4C3D-7EEE9278A221}"/>
              </a:ext>
            </a:extLst>
          </p:cNvPr>
          <p:cNvSpPr/>
          <p:nvPr/>
        </p:nvSpPr>
        <p:spPr>
          <a:xfrm>
            <a:off x="3530600" y="1739900"/>
            <a:ext cx="2794000" cy="571500"/>
          </a:xfrm>
          <a:prstGeom prst="rect">
            <a:avLst/>
          </a:prstGeom>
          <a:solidFill>
            <a:srgbClr val="E6F2F1"/>
          </a:solidFill>
          <a:ln w="12700">
            <a:solidFill>
              <a:srgbClr val="B1BB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A8934F-1A7A-3B96-EE56-F6833A450EC8}"/>
              </a:ext>
            </a:extLst>
          </p:cNvPr>
          <p:cNvSpPr txBox="1"/>
          <p:nvPr/>
        </p:nvSpPr>
        <p:spPr>
          <a:xfrm>
            <a:off x="3581400" y="1879600"/>
            <a:ext cx="26924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ko-KR" altLang="en-US" sz="1400">
                <a:solidFill>
                  <a:srgbClr val="222A34"/>
                </a:solidFill>
                <a:latin typeface="Malgun Gothic" panose="020B0503020000020004" pitchFamily="50" charset="-127"/>
              </a:rPr>
              <a:t>혹시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4A3055E-D7A0-4161-4B01-A4D2B1D2BA64}"/>
              </a:ext>
            </a:extLst>
          </p:cNvPr>
          <p:cNvSpPr/>
          <p:nvPr/>
        </p:nvSpPr>
        <p:spPr>
          <a:xfrm>
            <a:off x="6324600" y="1739900"/>
            <a:ext cx="2794000" cy="571500"/>
          </a:xfrm>
          <a:prstGeom prst="rect">
            <a:avLst/>
          </a:prstGeom>
          <a:solidFill>
            <a:srgbClr val="E6F2F1"/>
          </a:solidFill>
          <a:ln w="12700">
            <a:solidFill>
              <a:srgbClr val="B1BB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481800-5A6A-97C1-3607-A9156676715D}"/>
              </a:ext>
            </a:extLst>
          </p:cNvPr>
          <p:cNvSpPr txBox="1"/>
          <p:nvPr/>
        </p:nvSpPr>
        <p:spPr>
          <a:xfrm>
            <a:off x="6375400" y="1879600"/>
            <a:ext cx="26924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ko-KR" altLang="en-US" sz="1400">
                <a:solidFill>
                  <a:srgbClr val="222A34"/>
                </a:solidFill>
                <a:latin typeface="Malgun Gothic" panose="020B0503020000020004" pitchFamily="50" charset="-127"/>
              </a:rPr>
              <a:t>요즘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81322B4-8BA2-A8E8-525F-054456333153}"/>
              </a:ext>
            </a:extLst>
          </p:cNvPr>
          <p:cNvSpPr/>
          <p:nvPr/>
        </p:nvSpPr>
        <p:spPr>
          <a:xfrm>
            <a:off x="9118600" y="1739900"/>
            <a:ext cx="863600" cy="571500"/>
          </a:xfrm>
          <a:prstGeom prst="rect">
            <a:avLst/>
          </a:prstGeom>
          <a:solidFill>
            <a:srgbClr val="FFFFFF"/>
          </a:solidFill>
          <a:ln w="12700">
            <a:solidFill>
              <a:srgbClr val="B1BB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55D8E4A-27BC-E8AF-144B-07EE43126204}"/>
              </a:ext>
            </a:extLst>
          </p:cNvPr>
          <p:cNvSpPr txBox="1"/>
          <p:nvPr/>
        </p:nvSpPr>
        <p:spPr>
          <a:xfrm>
            <a:off x="685800" y="2552700"/>
            <a:ext cx="18542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1300" b="1">
                <a:solidFill>
                  <a:srgbClr val="1B7E84"/>
                </a:solidFill>
                <a:latin typeface="Malgun Gothic" panose="020B0503020000020004" pitchFamily="50" charset="-127"/>
              </a:rPr>
              <a:t>phones_mfa</a:t>
            </a:r>
            <a:endParaRPr lang="ko-KR" altLang="en-US" sz="1300" b="1">
              <a:solidFill>
                <a:srgbClr val="1B7E84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80E08CB-0E28-2D0E-937B-8A91CA47B539}"/>
              </a:ext>
            </a:extLst>
          </p:cNvPr>
          <p:cNvSpPr/>
          <p:nvPr/>
        </p:nvSpPr>
        <p:spPr>
          <a:xfrm>
            <a:off x="2667000" y="2400300"/>
            <a:ext cx="863600" cy="571500"/>
          </a:xfrm>
          <a:prstGeom prst="rect">
            <a:avLst/>
          </a:prstGeom>
          <a:solidFill>
            <a:srgbClr val="FFFFFF"/>
          </a:solidFill>
          <a:ln w="12700">
            <a:solidFill>
              <a:srgbClr val="B1BB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97F7EA1-013B-296E-9710-D9343DBF08E1}"/>
              </a:ext>
            </a:extLst>
          </p:cNvPr>
          <p:cNvSpPr/>
          <p:nvPr/>
        </p:nvSpPr>
        <p:spPr>
          <a:xfrm>
            <a:off x="3530600" y="2400300"/>
            <a:ext cx="2794000" cy="571500"/>
          </a:xfrm>
          <a:prstGeom prst="rect">
            <a:avLst/>
          </a:prstGeom>
          <a:solidFill>
            <a:srgbClr val="E6F2F1"/>
          </a:solidFill>
          <a:ln w="12700">
            <a:solidFill>
              <a:srgbClr val="B1BB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BC93777-EABA-6400-2C53-E8B294546272}"/>
              </a:ext>
            </a:extLst>
          </p:cNvPr>
          <p:cNvSpPr txBox="1"/>
          <p:nvPr/>
        </p:nvSpPr>
        <p:spPr>
          <a:xfrm>
            <a:off x="3581400" y="2540000"/>
            <a:ext cx="26924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ko-KR" sz="1200">
                <a:solidFill>
                  <a:srgbClr val="222A34"/>
                </a:solidFill>
                <a:latin typeface="Malgun Gothic" panose="020B0503020000020004" pitchFamily="50" charset="-127"/>
              </a:rPr>
              <a:t>ɸʷ o k ɕ͈ i</a:t>
            </a:r>
            <a:endParaRPr lang="ko-KR" altLang="en-US" sz="1200">
              <a:solidFill>
                <a:srgbClr val="222A34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B8B8844-750A-B67A-1212-20DDE8F230F7}"/>
              </a:ext>
            </a:extLst>
          </p:cNvPr>
          <p:cNvSpPr/>
          <p:nvPr/>
        </p:nvSpPr>
        <p:spPr>
          <a:xfrm>
            <a:off x="6324600" y="2400300"/>
            <a:ext cx="2794000" cy="571500"/>
          </a:xfrm>
          <a:prstGeom prst="rect">
            <a:avLst/>
          </a:prstGeom>
          <a:solidFill>
            <a:srgbClr val="E6F2F1"/>
          </a:solidFill>
          <a:ln w="12700">
            <a:solidFill>
              <a:srgbClr val="B1BB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DA2E9A9-2602-F95A-FF05-7588003AD073}"/>
              </a:ext>
            </a:extLst>
          </p:cNvPr>
          <p:cNvSpPr txBox="1"/>
          <p:nvPr/>
        </p:nvSpPr>
        <p:spPr>
          <a:xfrm>
            <a:off x="6375400" y="2540000"/>
            <a:ext cx="26924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ko-KR" sz="1200">
                <a:solidFill>
                  <a:srgbClr val="222A34"/>
                </a:solidFill>
                <a:latin typeface="Malgun Gothic" panose="020B0503020000020004" pitchFamily="50" charset="-127"/>
              </a:rPr>
              <a:t>j o dʑ m</a:t>
            </a:r>
            <a:endParaRPr lang="ko-KR" altLang="en-US" sz="1200">
              <a:solidFill>
                <a:srgbClr val="222A34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A13F7E5-8393-8DCF-1A60-FD9DF979ABAB}"/>
              </a:ext>
            </a:extLst>
          </p:cNvPr>
          <p:cNvSpPr/>
          <p:nvPr/>
        </p:nvSpPr>
        <p:spPr>
          <a:xfrm>
            <a:off x="9118600" y="2400300"/>
            <a:ext cx="863600" cy="571500"/>
          </a:xfrm>
          <a:prstGeom prst="rect">
            <a:avLst/>
          </a:prstGeom>
          <a:solidFill>
            <a:srgbClr val="FFFFFF"/>
          </a:solidFill>
          <a:ln w="12700">
            <a:solidFill>
              <a:srgbClr val="B1BB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76FDB48-4D61-BF1F-4A97-86FDAB0A383C}"/>
              </a:ext>
            </a:extLst>
          </p:cNvPr>
          <p:cNvSpPr txBox="1"/>
          <p:nvPr/>
        </p:nvSpPr>
        <p:spPr>
          <a:xfrm>
            <a:off x="685800" y="3213100"/>
            <a:ext cx="18542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1300" b="1">
                <a:solidFill>
                  <a:srgbClr val="1B7E84"/>
                </a:solidFill>
                <a:latin typeface="Malgun Gothic" panose="020B0503020000020004" pitchFamily="50" charset="-127"/>
              </a:rPr>
              <a:t>phoneme_r_auto</a:t>
            </a:r>
            <a:endParaRPr lang="ko-KR" altLang="en-US" sz="1300" b="1">
              <a:solidFill>
                <a:srgbClr val="1B7E84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7C52D19-76A7-905F-BDE7-78E3D5243154}"/>
              </a:ext>
            </a:extLst>
          </p:cNvPr>
          <p:cNvSpPr/>
          <p:nvPr/>
        </p:nvSpPr>
        <p:spPr>
          <a:xfrm>
            <a:off x="2667000" y="3060700"/>
            <a:ext cx="863600" cy="571500"/>
          </a:xfrm>
          <a:prstGeom prst="rect">
            <a:avLst/>
          </a:prstGeom>
          <a:solidFill>
            <a:srgbClr val="FFFFFF"/>
          </a:solidFill>
          <a:ln w="12700">
            <a:solidFill>
              <a:srgbClr val="B1BB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686166F-99BA-CEF0-8ABC-1254A853CFD5}"/>
              </a:ext>
            </a:extLst>
          </p:cNvPr>
          <p:cNvSpPr/>
          <p:nvPr/>
        </p:nvSpPr>
        <p:spPr>
          <a:xfrm>
            <a:off x="3530600" y="3060700"/>
            <a:ext cx="2794000" cy="571500"/>
          </a:xfrm>
          <a:prstGeom prst="rect">
            <a:avLst/>
          </a:prstGeom>
          <a:solidFill>
            <a:srgbClr val="E6F2F1"/>
          </a:solidFill>
          <a:ln w="12700">
            <a:solidFill>
              <a:srgbClr val="B1BB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88D1239-48A0-9DF9-513F-0B814AEB2EB9}"/>
              </a:ext>
            </a:extLst>
          </p:cNvPr>
          <p:cNvSpPr txBox="1"/>
          <p:nvPr/>
        </p:nvSpPr>
        <p:spPr>
          <a:xfrm>
            <a:off x="3581400" y="3200400"/>
            <a:ext cx="26924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altLang="ko-KR" sz="1400">
                <a:solidFill>
                  <a:srgbClr val="222A34"/>
                </a:solidFill>
                <a:latin typeface="Malgun Gothic" panose="020B0503020000020004" pitchFamily="50" charset="-127"/>
              </a:rPr>
              <a:t>H O G SS I</a:t>
            </a:r>
            <a:endParaRPr lang="ko-KR" altLang="en-US" sz="1400">
              <a:solidFill>
                <a:srgbClr val="222A34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0FEF7A74-EFE2-1C4C-239D-A62370234968}"/>
              </a:ext>
            </a:extLst>
          </p:cNvPr>
          <p:cNvSpPr/>
          <p:nvPr/>
        </p:nvSpPr>
        <p:spPr>
          <a:xfrm>
            <a:off x="6324600" y="3060700"/>
            <a:ext cx="2794000" cy="571500"/>
          </a:xfrm>
          <a:prstGeom prst="rect">
            <a:avLst/>
          </a:prstGeom>
          <a:solidFill>
            <a:srgbClr val="E6F2F1"/>
          </a:solidFill>
          <a:ln w="12700">
            <a:solidFill>
              <a:srgbClr val="B1BB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35C13E3-DFF8-9C0F-687E-A5F06D73253A}"/>
              </a:ext>
            </a:extLst>
          </p:cNvPr>
          <p:cNvSpPr txBox="1"/>
          <p:nvPr/>
        </p:nvSpPr>
        <p:spPr>
          <a:xfrm>
            <a:off x="6375400" y="3200400"/>
            <a:ext cx="26924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ko-KR" sz="1400">
                <a:solidFill>
                  <a:srgbClr val="222A34"/>
                </a:solidFill>
                <a:latin typeface="Malgun Gothic" panose="020B0503020000020004" pitchFamily="50" charset="-127"/>
              </a:rPr>
              <a:t>Y O J M</a:t>
            </a:r>
            <a:endParaRPr lang="ko-KR" altLang="en-US" sz="1400">
              <a:solidFill>
                <a:srgbClr val="222A34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978EA22B-370B-DF2F-56CE-6444EE95189A}"/>
              </a:ext>
            </a:extLst>
          </p:cNvPr>
          <p:cNvSpPr/>
          <p:nvPr/>
        </p:nvSpPr>
        <p:spPr>
          <a:xfrm>
            <a:off x="9118600" y="3060700"/>
            <a:ext cx="863600" cy="571500"/>
          </a:xfrm>
          <a:prstGeom prst="rect">
            <a:avLst/>
          </a:prstGeom>
          <a:solidFill>
            <a:srgbClr val="FFFFFF"/>
          </a:solidFill>
          <a:ln w="12700">
            <a:solidFill>
              <a:srgbClr val="B1BB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8FF10B4-9DE0-D659-F596-7EC57FAA3BC9}"/>
              </a:ext>
            </a:extLst>
          </p:cNvPr>
          <p:cNvSpPr txBox="1"/>
          <p:nvPr/>
        </p:nvSpPr>
        <p:spPr>
          <a:xfrm>
            <a:off x="685800" y="3873500"/>
            <a:ext cx="18542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1300" b="1">
                <a:solidFill>
                  <a:srgbClr val="1B324D"/>
                </a:solidFill>
                <a:latin typeface="Malgun Gothic" panose="020B0503020000020004" pitchFamily="50" charset="-127"/>
              </a:rPr>
              <a:t>utterance</a:t>
            </a:r>
            <a:endParaRPr lang="ko-KR" altLang="en-US" sz="1300" b="1">
              <a:solidFill>
                <a:srgbClr val="1B324D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25AF589-8118-125B-6A04-2938BBAFFCD6}"/>
              </a:ext>
            </a:extLst>
          </p:cNvPr>
          <p:cNvSpPr/>
          <p:nvPr/>
        </p:nvSpPr>
        <p:spPr>
          <a:xfrm>
            <a:off x="2667000" y="3721100"/>
            <a:ext cx="863600" cy="571500"/>
          </a:xfrm>
          <a:prstGeom prst="rect">
            <a:avLst/>
          </a:prstGeom>
          <a:solidFill>
            <a:srgbClr val="FFFFFF"/>
          </a:solidFill>
          <a:ln w="12700">
            <a:solidFill>
              <a:srgbClr val="B1BB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EF95A8B-2B48-3958-0DE2-FE32B1C25260}"/>
              </a:ext>
            </a:extLst>
          </p:cNvPr>
          <p:cNvSpPr/>
          <p:nvPr/>
        </p:nvSpPr>
        <p:spPr>
          <a:xfrm>
            <a:off x="3530600" y="3721100"/>
            <a:ext cx="5588000" cy="571500"/>
          </a:xfrm>
          <a:prstGeom prst="rect">
            <a:avLst/>
          </a:prstGeom>
          <a:solidFill>
            <a:srgbClr val="F4F1E8"/>
          </a:solidFill>
          <a:ln w="12700">
            <a:solidFill>
              <a:srgbClr val="B1BB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F8A3A5E-0274-CCC0-1E00-C6C1CBA80731}"/>
              </a:ext>
            </a:extLst>
          </p:cNvPr>
          <p:cNvSpPr txBox="1"/>
          <p:nvPr/>
        </p:nvSpPr>
        <p:spPr>
          <a:xfrm>
            <a:off x="3581400" y="3860800"/>
            <a:ext cx="54864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ko-KR" altLang="en-US" sz="1400">
                <a:solidFill>
                  <a:srgbClr val="222A34"/>
                </a:solidFill>
                <a:latin typeface="Malgun Gothic" panose="020B0503020000020004" pitchFamily="50" charset="-127"/>
              </a:rPr>
              <a:t>혹시 요즘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53EEEA33-D0BB-3231-FB64-5793C525F75F}"/>
              </a:ext>
            </a:extLst>
          </p:cNvPr>
          <p:cNvSpPr/>
          <p:nvPr/>
        </p:nvSpPr>
        <p:spPr>
          <a:xfrm>
            <a:off x="9118600" y="3721100"/>
            <a:ext cx="863600" cy="571500"/>
          </a:xfrm>
          <a:prstGeom prst="rect">
            <a:avLst/>
          </a:prstGeom>
          <a:solidFill>
            <a:srgbClr val="FFFFFF"/>
          </a:solidFill>
          <a:ln w="12700">
            <a:solidFill>
              <a:srgbClr val="B1BB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373F7F0-E821-F616-552A-857002DEA1E9}"/>
              </a:ext>
            </a:extLst>
          </p:cNvPr>
          <p:cNvSpPr txBox="1"/>
          <p:nvPr/>
        </p:nvSpPr>
        <p:spPr>
          <a:xfrm>
            <a:off x="685800" y="4533900"/>
            <a:ext cx="18542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1300" b="1">
                <a:solidFill>
                  <a:srgbClr val="1B324D"/>
                </a:solidFill>
                <a:latin typeface="Malgun Gothic" panose="020B0503020000020004" pitchFamily="50" charset="-127"/>
              </a:rPr>
              <a:t>utterance_orth_r</a:t>
            </a:r>
            <a:endParaRPr lang="ko-KR" altLang="en-US" sz="1300" b="1">
              <a:solidFill>
                <a:srgbClr val="1B324D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458C084-2041-9E67-6E3F-6FCDEBE4A850}"/>
              </a:ext>
            </a:extLst>
          </p:cNvPr>
          <p:cNvSpPr/>
          <p:nvPr/>
        </p:nvSpPr>
        <p:spPr>
          <a:xfrm>
            <a:off x="2667000" y="4381500"/>
            <a:ext cx="863600" cy="571500"/>
          </a:xfrm>
          <a:prstGeom prst="rect">
            <a:avLst/>
          </a:prstGeom>
          <a:solidFill>
            <a:srgbClr val="FFFFFF"/>
          </a:solidFill>
          <a:ln w="12700">
            <a:solidFill>
              <a:srgbClr val="B1BB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50C2B686-82E3-600D-F30B-4CCC5D4F7147}"/>
              </a:ext>
            </a:extLst>
          </p:cNvPr>
          <p:cNvSpPr/>
          <p:nvPr/>
        </p:nvSpPr>
        <p:spPr>
          <a:xfrm>
            <a:off x="3530600" y="4381500"/>
            <a:ext cx="5588000" cy="571500"/>
          </a:xfrm>
          <a:prstGeom prst="rect">
            <a:avLst/>
          </a:prstGeom>
          <a:solidFill>
            <a:srgbClr val="F4F1E8"/>
          </a:solidFill>
          <a:ln w="12700">
            <a:solidFill>
              <a:srgbClr val="B1BB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3E9AEDD-C93F-31B4-F4AF-FE5A5E6E03D3}"/>
              </a:ext>
            </a:extLst>
          </p:cNvPr>
          <p:cNvSpPr txBox="1"/>
          <p:nvPr/>
        </p:nvSpPr>
        <p:spPr>
          <a:xfrm>
            <a:off x="3581400" y="4521200"/>
            <a:ext cx="54864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altLang="ko-KR" sz="1200">
                <a:solidFill>
                  <a:srgbClr val="222A34"/>
                </a:solidFill>
                <a:latin typeface="Malgun Gothic" panose="020B0503020000020004" pitchFamily="50" charset="-127"/>
              </a:rPr>
              <a:t>H O k _ SS I | Y O _ J EU m</a:t>
            </a:r>
            <a:endParaRPr lang="ko-KR" altLang="en-US" sz="1200">
              <a:solidFill>
                <a:srgbClr val="222A34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78995EAD-FCC8-08E6-414C-CFB89B53E14D}"/>
              </a:ext>
            </a:extLst>
          </p:cNvPr>
          <p:cNvSpPr/>
          <p:nvPr/>
        </p:nvSpPr>
        <p:spPr>
          <a:xfrm>
            <a:off x="9118600" y="4381500"/>
            <a:ext cx="863600" cy="571500"/>
          </a:xfrm>
          <a:prstGeom prst="rect">
            <a:avLst/>
          </a:prstGeom>
          <a:solidFill>
            <a:srgbClr val="FFFFFF"/>
          </a:solidFill>
          <a:ln w="12700">
            <a:solidFill>
              <a:srgbClr val="B1BB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4CDFC3F-4536-2012-CAF2-6DA0780754C6}"/>
              </a:ext>
            </a:extLst>
          </p:cNvPr>
          <p:cNvSpPr txBox="1"/>
          <p:nvPr/>
        </p:nvSpPr>
        <p:spPr>
          <a:xfrm>
            <a:off x="685800" y="5194300"/>
            <a:ext cx="18542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1300" b="1">
                <a:solidFill>
                  <a:srgbClr val="1B324D"/>
                </a:solidFill>
                <a:latin typeface="Malgun Gothic" panose="020B0503020000020004" pitchFamily="50" charset="-127"/>
              </a:rPr>
              <a:t>morph_analysis_utt</a:t>
            </a:r>
            <a:endParaRPr lang="ko-KR" altLang="en-US" sz="1300" b="1">
              <a:solidFill>
                <a:srgbClr val="1B324D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3BDDC798-A985-F1F1-EF5D-EB5D2BB09F34}"/>
              </a:ext>
            </a:extLst>
          </p:cNvPr>
          <p:cNvSpPr/>
          <p:nvPr/>
        </p:nvSpPr>
        <p:spPr>
          <a:xfrm>
            <a:off x="2667000" y="5041900"/>
            <a:ext cx="863600" cy="571500"/>
          </a:xfrm>
          <a:prstGeom prst="rect">
            <a:avLst/>
          </a:prstGeom>
          <a:solidFill>
            <a:srgbClr val="FFFFFF"/>
          </a:solidFill>
          <a:ln w="12700">
            <a:solidFill>
              <a:srgbClr val="B1BB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1FBB7339-015A-E6BC-6EA1-7CED81C25329}"/>
              </a:ext>
            </a:extLst>
          </p:cNvPr>
          <p:cNvSpPr/>
          <p:nvPr/>
        </p:nvSpPr>
        <p:spPr>
          <a:xfrm>
            <a:off x="3530600" y="5041900"/>
            <a:ext cx="5588000" cy="571500"/>
          </a:xfrm>
          <a:prstGeom prst="rect">
            <a:avLst/>
          </a:prstGeom>
          <a:solidFill>
            <a:srgbClr val="F4F1E8"/>
          </a:solidFill>
          <a:ln w="12700">
            <a:solidFill>
              <a:srgbClr val="B1BB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B980634-7A56-2A7D-CD33-A6037ABA3C74}"/>
              </a:ext>
            </a:extLst>
          </p:cNvPr>
          <p:cNvSpPr txBox="1"/>
          <p:nvPr/>
        </p:nvSpPr>
        <p:spPr>
          <a:xfrm>
            <a:off x="3581400" y="5181600"/>
            <a:ext cx="54864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ko-KR" altLang="en-US" sz="1400">
                <a:solidFill>
                  <a:srgbClr val="222A34"/>
                </a:solidFill>
                <a:latin typeface="Malgun Gothic" panose="020B0503020000020004" pitchFamily="50" charset="-127"/>
              </a:rPr>
              <a:t>혹시</a:t>
            </a:r>
            <a:r>
              <a:rPr lang="en-US" altLang="ko-KR" sz="1400">
                <a:solidFill>
                  <a:srgbClr val="222A34"/>
                </a:solidFill>
                <a:latin typeface="Malgun Gothic" panose="020B0503020000020004" pitchFamily="50" charset="-127"/>
              </a:rPr>
              <a:t>/MAG | </a:t>
            </a:r>
            <a:r>
              <a:rPr lang="ko-KR" altLang="en-US" sz="1400">
                <a:solidFill>
                  <a:srgbClr val="222A34"/>
                </a:solidFill>
                <a:latin typeface="Malgun Gothic" panose="020B0503020000020004" pitchFamily="50" charset="-127"/>
              </a:rPr>
              <a:t>요즘</a:t>
            </a:r>
            <a:r>
              <a:rPr lang="en-US" altLang="ko-KR" sz="1400">
                <a:solidFill>
                  <a:srgbClr val="222A34"/>
                </a:solidFill>
                <a:latin typeface="Malgun Gothic" panose="020B0503020000020004" pitchFamily="50" charset="-127"/>
              </a:rPr>
              <a:t>/NNG</a:t>
            </a:r>
            <a:endParaRPr lang="ko-KR" altLang="en-US" sz="1400">
              <a:solidFill>
                <a:srgbClr val="222A34"/>
              </a:solidFill>
              <a:latin typeface="Malgun Gothic" panose="020B0503020000020004" pitchFamily="50" charset="-127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8741679B-1517-81DA-50F6-4CA7508F3656}"/>
              </a:ext>
            </a:extLst>
          </p:cNvPr>
          <p:cNvSpPr/>
          <p:nvPr/>
        </p:nvSpPr>
        <p:spPr>
          <a:xfrm>
            <a:off x="9118600" y="5041900"/>
            <a:ext cx="863600" cy="571500"/>
          </a:xfrm>
          <a:prstGeom prst="rect">
            <a:avLst/>
          </a:prstGeom>
          <a:solidFill>
            <a:srgbClr val="FFFFFF"/>
          </a:solidFill>
          <a:ln w="12700">
            <a:solidFill>
              <a:srgbClr val="B1BB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35E67DAF-7019-4D3B-0023-99D4C6687AEB}"/>
              </a:ext>
            </a:extLst>
          </p:cNvPr>
          <p:cNvSpPr/>
          <p:nvPr/>
        </p:nvSpPr>
        <p:spPr>
          <a:xfrm>
            <a:off x="2540000" y="5765800"/>
            <a:ext cx="406400" cy="292100"/>
          </a:xfrm>
          <a:prstGeom prst="roundRect">
            <a:avLst/>
          </a:prstGeom>
          <a:solidFill>
            <a:srgbClr val="1B324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5968B09-1D55-0197-7D87-76AA5E7B1A72}"/>
              </a:ext>
            </a:extLst>
          </p:cNvPr>
          <p:cNvSpPr txBox="1"/>
          <p:nvPr/>
        </p:nvSpPr>
        <p:spPr>
          <a:xfrm>
            <a:off x="2540000" y="5778500"/>
            <a:ext cx="4064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ko-KR" sz="1300" b="1">
                <a:solidFill>
                  <a:srgbClr val="FFFFFF"/>
                </a:solidFill>
                <a:latin typeface="Malgun Gothic" panose="020B0503020000020004" pitchFamily="50" charset="-127"/>
              </a:rPr>
              <a:t>0</a:t>
            </a:r>
            <a:endParaRPr lang="ko-KR" altLang="en-US" sz="13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669AAD80-EF6D-6705-4CB6-2B7630B9862A}"/>
              </a:ext>
            </a:extLst>
          </p:cNvPr>
          <p:cNvSpPr/>
          <p:nvPr/>
        </p:nvSpPr>
        <p:spPr>
          <a:xfrm>
            <a:off x="9740900" y="5765800"/>
            <a:ext cx="711200" cy="292100"/>
          </a:xfrm>
          <a:prstGeom prst="roundRect">
            <a:avLst/>
          </a:prstGeom>
          <a:solidFill>
            <a:srgbClr val="1B324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BAD89B0-96B9-C821-D7B6-E07CBEB0F87E}"/>
              </a:ext>
            </a:extLst>
          </p:cNvPr>
          <p:cNvSpPr txBox="1"/>
          <p:nvPr/>
        </p:nvSpPr>
        <p:spPr>
          <a:xfrm>
            <a:off x="9740900" y="5778500"/>
            <a:ext cx="7112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ko-KR" sz="1300" b="1">
                <a:solidFill>
                  <a:srgbClr val="FFFFFF"/>
                </a:solidFill>
                <a:latin typeface="Malgun Gothic" panose="020B0503020000020004" pitchFamily="50" charset="-127"/>
              </a:rPr>
              <a:t>xmax</a:t>
            </a:r>
            <a:endParaRPr lang="ko-KR" altLang="en-US" sz="13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50EB17F-FEEE-CC84-1F3F-8565F4324EC2}"/>
              </a:ext>
            </a:extLst>
          </p:cNvPr>
          <p:cNvSpPr txBox="1"/>
          <p:nvPr/>
        </p:nvSpPr>
        <p:spPr>
          <a:xfrm>
            <a:off x="3175000" y="5778500"/>
            <a:ext cx="6350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400" b="1">
                <a:solidFill>
                  <a:srgbClr val="CD5C46"/>
                </a:solidFill>
                <a:latin typeface="Malgun Gothic" panose="020B0503020000020004" pitchFamily="50" charset="-127"/>
              </a:rPr>
              <a:t>모든 </a:t>
            </a:r>
            <a:r>
              <a:rPr lang="en-US" altLang="ko-KR" sz="1400" b="1">
                <a:solidFill>
                  <a:srgbClr val="CD5C46"/>
                </a:solidFill>
                <a:latin typeface="Malgun Gothic" panose="020B0503020000020004" pitchFamily="50" charset="-127"/>
              </a:rPr>
              <a:t>tier</a:t>
            </a:r>
            <a:r>
              <a:rPr lang="ko-KR" altLang="en-US" sz="1400" b="1">
                <a:solidFill>
                  <a:srgbClr val="CD5C46"/>
                </a:solidFill>
                <a:latin typeface="Malgun Gothic" panose="020B0503020000020004" pitchFamily="50" charset="-127"/>
              </a:rPr>
              <a:t>는 </a:t>
            </a:r>
            <a:r>
              <a:rPr lang="en-US" altLang="ko-KR" sz="1400" b="1">
                <a:solidFill>
                  <a:srgbClr val="CD5C46"/>
                </a:solidFill>
                <a:latin typeface="Malgun Gothic" panose="020B0503020000020004" pitchFamily="50" charset="-127"/>
              </a:rPr>
              <a:t>0–xmax</a:t>
            </a:r>
            <a:r>
              <a:rPr lang="ko-KR" altLang="en-US" sz="1400" b="1">
                <a:solidFill>
                  <a:srgbClr val="CD5C46"/>
                </a:solidFill>
                <a:latin typeface="Malgun Gothic" panose="020B0503020000020004" pitchFamily="50" charset="-127"/>
              </a:rPr>
              <a:t>를 연속 커버한다 </a:t>
            </a:r>
            <a:r>
              <a:rPr lang="en-US" altLang="ko-KR" sz="1400" b="1">
                <a:solidFill>
                  <a:srgbClr val="CD5C46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1400" b="1">
                <a:solidFill>
                  <a:srgbClr val="CD5C46"/>
                </a:solidFill>
                <a:latin typeface="Malgun Gothic" panose="020B0503020000020004" pitchFamily="50" charset="-127"/>
              </a:rPr>
              <a:t>형태소는 추정 시간분할하지 않는다</a:t>
            </a:r>
          </a:p>
        </p:txBody>
      </p: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C132D9DC-E45E-391C-98F3-7D6D9D986AE4}"/>
              </a:ext>
            </a:extLst>
          </p:cNvPr>
          <p:cNvCxnSpPr/>
          <p:nvPr/>
        </p:nvCxnSpPr>
        <p:spPr>
          <a:xfrm>
            <a:off x="685800" y="6451600"/>
            <a:ext cx="10820400" cy="0"/>
          </a:xfrm>
          <a:prstGeom prst="line">
            <a:avLst/>
          </a:prstGeom>
          <a:ln w="7620">
            <a:solidFill>
              <a:srgbClr val="B1BB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1392A769-B5E3-BF17-29FE-8D1AF7FCE513}"/>
              </a:ext>
            </a:extLst>
          </p:cNvPr>
          <p:cNvSpPr txBox="1"/>
          <p:nvPr/>
        </p:nvSpPr>
        <p:spPr>
          <a:xfrm>
            <a:off x="685800" y="6515100"/>
            <a:ext cx="6350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>
                <a:solidFill>
                  <a:srgbClr val="636D77"/>
                </a:solidFill>
                <a:latin typeface="Malgun Gothic" panose="020B0503020000020004" pitchFamily="50" charset="-127"/>
              </a:rPr>
              <a:t>2026 </a:t>
            </a:r>
            <a:r>
              <a:rPr lang="ko-KR" altLang="en-US" sz="900">
                <a:solidFill>
                  <a:srgbClr val="636D77"/>
                </a:solidFill>
                <a:latin typeface="Malgun Gothic" panose="020B0503020000020004" pitchFamily="50" charset="-127"/>
              </a:rPr>
              <a:t>여름 연구 </a:t>
            </a:r>
            <a:r>
              <a:rPr lang="en-US" altLang="ko-KR" sz="900">
                <a:solidFill>
                  <a:srgbClr val="636D77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900">
                <a:solidFill>
                  <a:srgbClr val="636D77"/>
                </a:solidFill>
                <a:latin typeface="Malgun Gothic" panose="020B0503020000020004" pitchFamily="50" charset="-127"/>
              </a:rPr>
              <a:t>전수 </a:t>
            </a:r>
            <a:r>
              <a:rPr lang="en-US" altLang="ko-KR" sz="900">
                <a:solidFill>
                  <a:srgbClr val="636D77"/>
                </a:solidFill>
                <a:latin typeface="Malgun Gothic" panose="020B0503020000020004" pitchFamily="50" charset="-127"/>
              </a:rPr>
              <a:t>MFA </a:t>
            </a:r>
            <a:r>
              <a:rPr lang="ko-KR" altLang="en-US" sz="900">
                <a:solidFill>
                  <a:srgbClr val="636D77"/>
                </a:solidFill>
                <a:latin typeface="Malgun Gothic" panose="020B0503020000020004" pitchFamily="50" charset="-127"/>
              </a:rPr>
              <a:t>인프라 최종 점검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96E6F90-D7B5-16E3-05E1-5F3477D03145}"/>
              </a:ext>
            </a:extLst>
          </p:cNvPr>
          <p:cNvSpPr txBox="1"/>
          <p:nvPr/>
        </p:nvSpPr>
        <p:spPr>
          <a:xfrm>
            <a:off x="10972800" y="6502400"/>
            <a:ext cx="5334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900" b="1">
                <a:solidFill>
                  <a:srgbClr val="636D77"/>
                </a:solidFill>
                <a:latin typeface="Malgun Gothic" panose="020B0503020000020004" pitchFamily="50" charset="-127"/>
              </a:rPr>
              <a:t>06</a:t>
            </a:r>
            <a:endParaRPr lang="ko-KR" altLang="en-US" sz="900" b="1">
              <a:solidFill>
                <a:srgbClr val="636D77"/>
              </a:solidFill>
              <a:latin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160247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8F5A5C2-2F8C-8B70-4F4A-3591D3976605}"/>
              </a:ext>
            </a:extLst>
          </p:cNvPr>
          <p:cNvSpPr txBox="1"/>
          <p:nvPr/>
        </p:nvSpPr>
        <p:spPr>
          <a:xfrm>
            <a:off x="685800" y="317500"/>
            <a:ext cx="3556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100" b="1">
                <a:solidFill>
                  <a:srgbClr val="1B7E84"/>
                </a:solidFill>
                <a:latin typeface="Malgun Gothic" panose="020B0503020000020004" pitchFamily="50" charset="-127"/>
              </a:rPr>
              <a:t>06 · TextGrid</a:t>
            </a:r>
            <a:r>
              <a:rPr lang="ko-KR" altLang="en-US" sz="1100" b="1">
                <a:solidFill>
                  <a:srgbClr val="1B7E84"/>
                </a:solidFill>
                <a:latin typeface="Malgun Gothic" panose="020B0503020000020004" pitchFamily="50" charset="-127"/>
              </a:rPr>
              <a:t>와 동반표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BA3F07-50B2-D9DE-2699-B3ED19D7F049}"/>
              </a:ext>
            </a:extLst>
          </p:cNvPr>
          <p:cNvSpPr txBox="1"/>
          <p:nvPr/>
        </p:nvSpPr>
        <p:spPr>
          <a:xfrm>
            <a:off x="685800" y="622300"/>
            <a:ext cx="108204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2900" b="1">
                <a:solidFill>
                  <a:srgbClr val="1B324D"/>
                </a:solidFill>
                <a:latin typeface="Malgun Gothic" panose="020B0503020000020004" pitchFamily="50" charset="-127"/>
              </a:rPr>
              <a:t>5.1M </a:t>
            </a:r>
            <a:r>
              <a:rPr lang="ko-KR" altLang="en-US" sz="2900" b="1">
                <a:solidFill>
                  <a:srgbClr val="1B324D"/>
                </a:solidFill>
                <a:latin typeface="Malgun Gothic" panose="020B0503020000020004" pitchFamily="50" charset="-127"/>
              </a:rPr>
              <a:t>개별 </a:t>
            </a:r>
            <a:r>
              <a:rPr lang="en-US" altLang="ko-KR" sz="2900" b="1">
                <a:solidFill>
                  <a:srgbClr val="1B324D"/>
                </a:solidFill>
                <a:latin typeface="Malgun Gothic" panose="020B0503020000020004" pitchFamily="50" charset="-127"/>
              </a:rPr>
              <a:t>CSV </a:t>
            </a:r>
            <a:r>
              <a:rPr lang="ko-KR" altLang="en-US" sz="2900" b="1">
                <a:solidFill>
                  <a:srgbClr val="1B324D"/>
                </a:solidFill>
                <a:latin typeface="Malgun Gothic" panose="020B0503020000020004" pitchFamily="50" charset="-127"/>
              </a:rPr>
              <a:t>대신 연도별 정본 </a:t>
            </a:r>
            <a:r>
              <a:rPr lang="en-US" altLang="ko-KR" sz="2900" b="1">
                <a:solidFill>
                  <a:srgbClr val="1B324D"/>
                </a:solidFill>
                <a:latin typeface="Malgun Gothic" panose="020B0503020000020004" pitchFamily="50" charset="-127"/>
              </a:rPr>
              <a:t>4</a:t>
            </a:r>
            <a:r>
              <a:rPr lang="ko-KR" altLang="en-US" sz="2900" b="1">
                <a:solidFill>
                  <a:srgbClr val="1B324D"/>
                </a:solidFill>
                <a:latin typeface="Malgun Gothic" panose="020B0503020000020004" pitchFamily="50" charset="-127"/>
              </a:rPr>
              <a:t>종 </a:t>
            </a:r>
            <a:r>
              <a:rPr lang="en-US" altLang="ko-KR" sz="2900" b="1">
                <a:solidFill>
                  <a:srgbClr val="1B324D"/>
                </a:solidFill>
                <a:latin typeface="Malgun Gothic" panose="020B0503020000020004" pitchFamily="50" charset="-127"/>
              </a:rPr>
              <a:t>+ </a:t>
            </a:r>
            <a:r>
              <a:rPr lang="ko-KR" altLang="en-US" sz="2900" b="1">
                <a:solidFill>
                  <a:srgbClr val="1B324D"/>
                </a:solidFill>
                <a:latin typeface="Malgun Gothic" panose="020B0503020000020004" pitchFamily="50" charset="-127"/>
              </a:rPr>
              <a:t>후보 </a:t>
            </a:r>
            <a:r>
              <a:rPr lang="en-US" altLang="ko-KR" sz="2900" b="1">
                <a:solidFill>
                  <a:srgbClr val="1B324D"/>
                </a:solidFill>
                <a:latin typeface="Malgun Gothic" panose="020B0503020000020004" pitchFamily="50" charset="-127"/>
              </a:rPr>
              <a:t>bundle </a:t>
            </a:r>
            <a:r>
              <a:rPr lang="ko-KR" altLang="en-US" sz="2900" b="1">
                <a:solidFill>
                  <a:srgbClr val="1B324D"/>
                </a:solidFill>
                <a:latin typeface="Malgun Gothic" panose="020B0503020000020004" pitchFamily="50" charset="-127"/>
              </a:rPr>
              <a:t>파생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9699175-63DD-5A1E-6E4E-ACC34C8F1B70}"/>
              </a:ext>
            </a:extLst>
          </p:cNvPr>
          <p:cNvSpPr/>
          <p:nvPr/>
        </p:nvSpPr>
        <p:spPr>
          <a:xfrm>
            <a:off x="685800" y="1282700"/>
            <a:ext cx="736600" cy="50800"/>
          </a:xfrm>
          <a:prstGeom prst="rect">
            <a:avLst/>
          </a:prstGeom>
          <a:solidFill>
            <a:srgbClr val="CD5C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942AEFEA-1065-7999-08F6-086D59EED8A0}"/>
              </a:ext>
            </a:extLst>
          </p:cNvPr>
          <p:cNvCxnSpPr/>
          <p:nvPr/>
        </p:nvCxnSpPr>
        <p:spPr>
          <a:xfrm>
            <a:off x="6096000" y="1803400"/>
            <a:ext cx="0" cy="3721100"/>
          </a:xfrm>
          <a:prstGeom prst="line">
            <a:avLst/>
          </a:prstGeom>
          <a:ln w="50800">
            <a:solidFill>
              <a:srgbClr val="CD5C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0ADC9745-0782-8CE6-E4E8-66F5F6FEF465}"/>
              </a:ext>
            </a:extLst>
          </p:cNvPr>
          <p:cNvSpPr/>
          <p:nvPr/>
        </p:nvSpPr>
        <p:spPr>
          <a:xfrm>
            <a:off x="5562600" y="1600200"/>
            <a:ext cx="1066800" cy="381000"/>
          </a:xfrm>
          <a:prstGeom prst="roundRect">
            <a:avLst/>
          </a:prstGeom>
          <a:solidFill>
            <a:srgbClr val="CD5C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D94D83-ACCF-FC60-41A8-8F9E20CE3EDE}"/>
              </a:ext>
            </a:extLst>
          </p:cNvPr>
          <p:cNvSpPr txBox="1"/>
          <p:nvPr/>
        </p:nvSpPr>
        <p:spPr>
          <a:xfrm>
            <a:off x="5562600" y="1612900"/>
            <a:ext cx="10668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ko-KR" sz="1300" b="1">
                <a:solidFill>
                  <a:srgbClr val="FFFFFF"/>
                </a:solidFill>
                <a:latin typeface="Malgun Gothic" panose="020B0503020000020004" pitchFamily="50" charset="-127"/>
              </a:rPr>
              <a:t>utt_id</a:t>
            </a:r>
            <a:endParaRPr lang="ko-KR" altLang="en-US" sz="13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044A02E5-2C0E-3BD5-E278-7FE5D382CF11}"/>
              </a:ext>
            </a:extLst>
          </p:cNvPr>
          <p:cNvSpPr/>
          <p:nvPr/>
        </p:nvSpPr>
        <p:spPr>
          <a:xfrm>
            <a:off x="889000" y="2222500"/>
            <a:ext cx="4191000" cy="1219200"/>
          </a:xfrm>
          <a:prstGeom prst="roundRect">
            <a:avLst/>
          </a:prstGeom>
          <a:solidFill>
            <a:srgbClr val="ECF2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2AD856-7807-E18C-3260-859EDBD728CB}"/>
              </a:ext>
            </a:extLst>
          </p:cNvPr>
          <p:cNvSpPr txBox="1"/>
          <p:nvPr/>
        </p:nvSpPr>
        <p:spPr>
          <a:xfrm>
            <a:off x="1143000" y="2425700"/>
            <a:ext cx="3683000" cy="292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b="1">
                <a:solidFill>
                  <a:srgbClr val="1B324D"/>
                </a:solidFill>
                <a:latin typeface="Malgun Gothic" panose="020B0503020000020004" pitchFamily="50" charset="-127"/>
              </a:rPr>
              <a:t>utterance_alignment</a:t>
            </a:r>
            <a:endParaRPr lang="ko-KR" altLang="en-US" b="1">
              <a:solidFill>
                <a:srgbClr val="1B324D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780987-7668-7072-46D6-F4671EA6B0CF}"/>
              </a:ext>
            </a:extLst>
          </p:cNvPr>
          <p:cNvSpPr txBox="1"/>
          <p:nvPr/>
        </p:nvSpPr>
        <p:spPr>
          <a:xfrm>
            <a:off x="1143000" y="2832100"/>
            <a:ext cx="3683000" cy="495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300">
                <a:solidFill>
                  <a:srgbClr val="636D77"/>
                </a:solidFill>
                <a:latin typeface="Malgun Gothic" panose="020B0503020000020004" pitchFamily="50" charset="-127"/>
              </a:rPr>
              <a:t>1</a:t>
            </a:r>
            <a:r>
              <a:rPr lang="ko-KR" altLang="en-US" sz="1300">
                <a:solidFill>
                  <a:srgbClr val="636D77"/>
                </a:solidFill>
                <a:latin typeface="Malgun Gothic" panose="020B0503020000020004" pitchFamily="50" charset="-127"/>
              </a:rPr>
              <a:t>행 </a:t>
            </a:r>
            <a:r>
              <a:rPr lang="en-US" altLang="ko-KR" sz="1300">
                <a:solidFill>
                  <a:srgbClr val="636D77"/>
                </a:solidFill>
                <a:latin typeface="Malgun Gothic" panose="020B0503020000020004" pitchFamily="50" charset="-127"/>
              </a:rPr>
              <a:t>= 1 TextGrid</a:t>
            </a:r>
          </a:p>
          <a:p>
            <a:r>
              <a:rPr lang="ko-KR" altLang="en-US" sz="1300">
                <a:solidFill>
                  <a:srgbClr val="636D77"/>
                </a:solidFill>
                <a:latin typeface="Malgun Gothic" panose="020B0503020000020004" pitchFamily="50" charset="-127"/>
              </a:rPr>
              <a:t>화자</a:t>
            </a:r>
            <a:r>
              <a:rPr lang="en-US" altLang="ko-KR" sz="1300">
                <a:solidFill>
                  <a:srgbClr val="636D77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1300">
                <a:solidFill>
                  <a:srgbClr val="636D77"/>
                </a:solidFill>
                <a:latin typeface="Malgun Gothic" panose="020B0503020000020004" pitchFamily="50" charset="-127"/>
              </a:rPr>
              <a:t>대화</a:t>
            </a:r>
            <a:r>
              <a:rPr lang="en-US" altLang="ko-KR" sz="1300">
                <a:solidFill>
                  <a:srgbClr val="636D77"/>
                </a:solidFill>
                <a:latin typeface="Malgun Gothic" panose="020B0503020000020004" pitchFamily="50" charset="-127"/>
              </a:rPr>
              <a:t>·reference·</a:t>
            </a:r>
            <a:r>
              <a:rPr lang="ko-KR" altLang="en-US" sz="1300">
                <a:solidFill>
                  <a:srgbClr val="636D77"/>
                </a:solidFill>
                <a:latin typeface="Malgun Gothic" panose="020B0503020000020004" pitchFamily="50" charset="-127"/>
              </a:rPr>
              <a:t>계약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066990B4-913E-37FC-24DC-46AD619641D1}"/>
              </a:ext>
            </a:extLst>
          </p:cNvPr>
          <p:cNvCxnSpPr/>
          <p:nvPr/>
        </p:nvCxnSpPr>
        <p:spPr>
          <a:xfrm>
            <a:off x="5080000" y="2832100"/>
            <a:ext cx="965200" cy="0"/>
          </a:xfrm>
          <a:prstGeom prst="line">
            <a:avLst/>
          </a:prstGeom>
          <a:ln w="20320">
            <a:solidFill>
              <a:srgbClr val="B1BBC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ECF67E4F-8CD1-C438-46DD-D4512796624F}"/>
              </a:ext>
            </a:extLst>
          </p:cNvPr>
          <p:cNvSpPr/>
          <p:nvPr/>
        </p:nvSpPr>
        <p:spPr>
          <a:xfrm>
            <a:off x="7112000" y="2222500"/>
            <a:ext cx="4191000" cy="1219200"/>
          </a:xfrm>
          <a:prstGeom prst="roundRect">
            <a:avLst/>
          </a:prstGeom>
          <a:solidFill>
            <a:srgbClr val="ECF2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6DE952D-864B-651B-CB2F-421E1DC82A89}"/>
              </a:ext>
            </a:extLst>
          </p:cNvPr>
          <p:cNvSpPr txBox="1"/>
          <p:nvPr/>
        </p:nvSpPr>
        <p:spPr>
          <a:xfrm>
            <a:off x="7366000" y="2425700"/>
            <a:ext cx="3683000" cy="292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b="1">
                <a:solidFill>
                  <a:srgbClr val="1B324D"/>
                </a:solidFill>
                <a:latin typeface="Malgun Gothic" panose="020B0503020000020004" pitchFamily="50" charset="-127"/>
              </a:rPr>
              <a:t>phone_intervals_mfa</a:t>
            </a:r>
            <a:endParaRPr lang="ko-KR" altLang="en-US" b="1">
              <a:solidFill>
                <a:srgbClr val="1B324D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5E97E62-0E16-697B-9E5A-FE3DBD3C7F6B}"/>
              </a:ext>
            </a:extLst>
          </p:cNvPr>
          <p:cNvSpPr txBox="1"/>
          <p:nvPr/>
        </p:nvSpPr>
        <p:spPr>
          <a:xfrm>
            <a:off x="7366000" y="2832100"/>
            <a:ext cx="3683000" cy="495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300">
                <a:solidFill>
                  <a:srgbClr val="636D77"/>
                </a:solidFill>
                <a:latin typeface="Malgun Gothic" panose="020B0503020000020004" pitchFamily="50" charset="-127"/>
              </a:rPr>
              <a:t>1</a:t>
            </a:r>
            <a:r>
              <a:rPr lang="ko-KR" altLang="en-US" sz="1300">
                <a:solidFill>
                  <a:srgbClr val="636D77"/>
                </a:solidFill>
                <a:latin typeface="Malgun Gothic" panose="020B0503020000020004" pitchFamily="50" charset="-127"/>
              </a:rPr>
              <a:t>행 </a:t>
            </a:r>
            <a:r>
              <a:rPr lang="en-US" altLang="ko-KR" sz="1300">
                <a:solidFill>
                  <a:srgbClr val="636D77"/>
                </a:solidFill>
                <a:latin typeface="Malgun Gothic" panose="020B0503020000020004" pitchFamily="50" charset="-127"/>
              </a:rPr>
              <a:t>= 1 phone interval</a:t>
            </a:r>
          </a:p>
          <a:p>
            <a:r>
              <a:rPr lang="en-US" altLang="ko-KR" sz="1300">
                <a:solidFill>
                  <a:srgbClr val="636D77"/>
                </a:solidFill>
                <a:latin typeface="Malgun Gothic" panose="020B0503020000020004" pitchFamily="50" charset="-127"/>
              </a:rPr>
              <a:t>IPA·broad Roman·</a:t>
            </a:r>
            <a:r>
              <a:rPr lang="ko-KR" altLang="en-US" sz="1300">
                <a:solidFill>
                  <a:srgbClr val="636D77"/>
                </a:solidFill>
                <a:latin typeface="Malgun Gothic" panose="020B0503020000020004" pitchFamily="50" charset="-127"/>
              </a:rPr>
              <a:t>시간</a:t>
            </a: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A4D58A3D-C6B8-8CEC-AA41-247A79BD719D}"/>
              </a:ext>
            </a:extLst>
          </p:cNvPr>
          <p:cNvCxnSpPr/>
          <p:nvPr/>
        </p:nvCxnSpPr>
        <p:spPr>
          <a:xfrm>
            <a:off x="6146800" y="2832100"/>
            <a:ext cx="965200" cy="0"/>
          </a:xfrm>
          <a:prstGeom prst="line">
            <a:avLst/>
          </a:prstGeom>
          <a:ln w="20320">
            <a:solidFill>
              <a:srgbClr val="B1BBC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EA22D789-CE8B-AD39-3F51-43BD0D4DDB7E}"/>
              </a:ext>
            </a:extLst>
          </p:cNvPr>
          <p:cNvSpPr/>
          <p:nvPr/>
        </p:nvSpPr>
        <p:spPr>
          <a:xfrm>
            <a:off x="889000" y="3898900"/>
            <a:ext cx="4191000" cy="1219200"/>
          </a:xfrm>
          <a:prstGeom prst="roundRect">
            <a:avLst/>
          </a:prstGeom>
          <a:solidFill>
            <a:srgbClr val="ECF2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996C4D3-C8CB-871F-14CE-81D55EB600EB}"/>
              </a:ext>
            </a:extLst>
          </p:cNvPr>
          <p:cNvSpPr txBox="1"/>
          <p:nvPr/>
        </p:nvSpPr>
        <p:spPr>
          <a:xfrm>
            <a:off x="1143000" y="4102100"/>
            <a:ext cx="3683000" cy="292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b="1">
                <a:solidFill>
                  <a:srgbClr val="1B324D"/>
                </a:solidFill>
                <a:latin typeface="Malgun Gothic" panose="020B0503020000020004" pitchFamily="50" charset="-127"/>
              </a:rPr>
              <a:t>word_intervals_mfa</a:t>
            </a:r>
            <a:endParaRPr lang="ko-KR" altLang="en-US" b="1">
              <a:solidFill>
                <a:srgbClr val="1B324D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741AF77-9A93-1BE1-C697-FE73D579593C}"/>
              </a:ext>
            </a:extLst>
          </p:cNvPr>
          <p:cNvSpPr txBox="1"/>
          <p:nvPr/>
        </p:nvSpPr>
        <p:spPr>
          <a:xfrm>
            <a:off x="1143000" y="4508500"/>
            <a:ext cx="3683000" cy="495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300">
                <a:solidFill>
                  <a:srgbClr val="636D77"/>
                </a:solidFill>
                <a:latin typeface="Malgun Gothic" panose="020B0503020000020004" pitchFamily="50" charset="-127"/>
              </a:rPr>
              <a:t>1</a:t>
            </a:r>
            <a:r>
              <a:rPr lang="ko-KR" altLang="en-US" sz="1300">
                <a:solidFill>
                  <a:srgbClr val="636D77"/>
                </a:solidFill>
                <a:latin typeface="Malgun Gothic" panose="020B0503020000020004" pitchFamily="50" charset="-127"/>
              </a:rPr>
              <a:t>행 </a:t>
            </a:r>
            <a:r>
              <a:rPr lang="en-US" altLang="ko-KR" sz="1300">
                <a:solidFill>
                  <a:srgbClr val="636D77"/>
                </a:solidFill>
                <a:latin typeface="Malgun Gothic" panose="020B0503020000020004" pitchFamily="50" charset="-127"/>
              </a:rPr>
              <a:t>= 1 word interval</a:t>
            </a:r>
          </a:p>
          <a:p>
            <a:r>
              <a:rPr lang="en-US" altLang="ko-KR" sz="1300">
                <a:solidFill>
                  <a:srgbClr val="636D77"/>
                </a:solidFill>
                <a:latin typeface="Malgun Gothic" panose="020B0503020000020004" pitchFamily="50" charset="-127"/>
              </a:rPr>
              <a:t>reference·lab word·phone</a:t>
            </a:r>
            <a:r>
              <a:rPr lang="ko-KR" altLang="en-US" sz="1300">
                <a:solidFill>
                  <a:srgbClr val="636D77"/>
                </a:solidFill>
                <a:latin typeface="Malgun Gothic" panose="020B0503020000020004" pitchFamily="50" charset="-127"/>
              </a:rPr>
              <a:t>열</a:t>
            </a: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21260AF9-D6CB-1BF9-4BA6-03F877785489}"/>
              </a:ext>
            </a:extLst>
          </p:cNvPr>
          <p:cNvCxnSpPr/>
          <p:nvPr/>
        </p:nvCxnSpPr>
        <p:spPr>
          <a:xfrm>
            <a:off x="5080000" y="4508500"/>
            <a:ext cx="965200" cy="0"/>
          </a:xfrm>
          <a:prstGeom prst="line">
            <a:avLst/>
          </a:prstGeom>
          <a:ln w="20320">
            <a:solidFill>
              <a:srgbClr val="B1BBC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6A2259B5-6B87-D710-B7EC-5B16ADD3A19E}"/>
              </a:ext>
            </a:extLst>
          </p:cNvPr>
          <p:cNvSpPr/>
          <p:nvPr/>
        </p:nvSpPr>
        <p:spPr>
          <a:xfrm>
            <a:off x="7112000" y="3898900"/>
            <a:ext cx="4191000" cy="1219200"/>
          </a:xfrm>
          <a:prstGeom prst="roundRect">
            <a:avLst/>
          </a:prstGeom>
          <a:solidFill>
            <a:srgbClr val="F8E8E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E015ECC-37BA-1C62-837A-E40931155DA4}"/>
              </a:ext>
            </a:extLst>
          </p:cNvPr>
          <p:cNvSpPr txBox="1"/>
          <p:nvPr/>
        </p:nvSpPr>
        <p:spPr>
          <a:xfrm>
            <a:off x="7366000" y="4102100"/>
            <a:ext cx="3683000" cy="292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b="1">
                <a:solidFill>
                  <a:srgbClr val="CD5C46"/>
                </a:solidFill>
                <a:latin typeface="Malgun Gothic" panose="020B0503020000020004" pitchFamily="50" charset="-127"/>
              </a:rPr>
              <a:t>excluded_utterances</a:t>
            </a:r>
            <a:endParaRPr lang="ko-KR" altLang="en-US" b="1">
              <a:solidFill>
                <a:srgbClr val="CD5C46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540CF48-C2DF-9FC6-6522-0FC05A086F67}"/>
              </a:ext>
            </a:extLst>
          </p:cNvPr>
          <p:cNvSpPr txBox="1"/>
          <p:nvPr/>
        </p:nvSpPr>
        <p:spPr>
          <a:xfrm>
            <a:off x="7366000" y="4508500"/>
            <a:ext cx="3683000" cy="495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300">
                <a:solidFill>
                  <a:srgbClr val="636D77"/>
                </a:solidFill>
                <a:latin typeface="Malgun Gothic" panose="020B0503020000020004" pitchFamily="50" charset="-127"/>
              </a:rPr>
              <a:t>1</a:t>
            </a:r>
            <a:r>
              <a:rPr lang="ko-KR" altLang="en-US" sz="1300">
                <a:solidFill>
                  <a:srgbClr val="636D77"/>
                </a:solidFill>
                <a:latin typeface="Malgun Gothic" panose="020B0503020000020004" pitchFamily="50" charset="-127"/>
              </a:rPr>
              <a:t>행 </a:t>
            </a:r>
            <a:r>
              <a:rPr lang="en-US" altLang="ko-KR" sz="1300">
                <a:solidFill>
                  <a:srgbClr val="636D77"/>
                </a:solidFill>
                <a:latin typeface="Malgun Gothic" panose="020B0503020000020004" pitchFamily="50" charset="-127"/>
              </a:rPr>
              <a:t>= </a:t>
            </a:r>
            <a:r>
              <a:rPr lang="ko-KR" altLang="en-US" sz="1300">
                <a:solidFill>
                  <a:srgbClr val="636D77"/>
                </a:solidFill>
                <a:latin typeface="Malgun Gothic" panose="020B0503020000020004" pitchFamily="50" charset="-127"/>
              </a:rPr>
              <a:t>승인 제외 </a:t>
            </a:r>
            <a:r>
              <a:rPr lang="en-US" altLang="ko-KR" sz="1300">
                <a:solidFill>
                  <a:srgbClr val="636D77"/>
                </a:solidFill>
                <a:latin typeface="Malgun Gothic" panose="020B0503020000020004" pitchFamily="50" charset="-127"/>
              </a:rPr>
              <a:t>1</a:t>
            </a:r>
            <a:r>
              <a:rPr lang="ko-KR" altLang="en-US" sz="1300">
                <a:solidFill>
                  <a:srgbClr val="636D77"/>
                </a:solidFill>
                <a:latin typeface="Malgun Gothic" panose="020B0503020000020004" pitchFamily="50" charset="-127"/>
              </a:rPr>
              <a:t>건</a:t>
            </a:r>
          </a:p>
          <a:p>
            <a:r>
              <a:rPr lang="ko-KR" altLang="en-US" sz="1300">
                <a:solidFill>
                  <a:srgbClr val="636D77"/>
                </a:solidFill>
                <a:latin typeface="Malgun Gothic" panose="020B0503020000020004" pitchFamily="50" charset="-127"/>
              </a:rPr>
              <a:t>사유</a:t>
            </a:r>
            <a:r>
              <a:rPr lang="en-US" altLang="ko-KR" sz="1300">
                <a:solidFill>
                  <a:srgbClr val="636D77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1300">
                <a:solidFill>
                  <a:srgbClr val="636D77"/>
                </a:solidFill>
                <a:latin typeface="Malgun Gothic" panose="020B0503020000020004" pitchFamily="50" charset="-127"/>
              </a:rPr>
              <a:t>증거</a:t>
            </a:r>
            <a:r>
              <a:rPr lang="en-US" altLang="ko-KR" sz="1300">
                <a:solidFill>
                  <a:srgbClr val="636D77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1300">
                <a:solidFill>
                  <a:srgbClr val="636D77"/>
                </a:solidFill>
                <a:latin typeface="Malgun Gothic" panose="020B0503020000020004" pitchFamily="50" charset="-127"/>
              </a:rPr>
              <a:t>계약</a:t>
            </a:r>
            <a:r>
              <a:rPr lang="en-US" altLang="ko-KR" sz="1300">
                <a:solidFill>
                  <a:srgbClr val="636D77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1300">
                <a:solidFill>
                  <a:srgbClr val="636D77"/>
                </a:solidFill>
                <a:latin typeface="Malgun Gothic" panose="020B0503020000020004" pitchFamily="50" charset="-127"/>
              </a:rPr>
              <a:t>존재 여부</a:t>
            </a: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1B10399D-3AF0-120F-B8E4-9C8F126F215B}"/>
              </a:ext>
            </a:extLst>
          </p:cNvPr>
          <p:cNvCxnSpPr/>
          <p:nvPr/>
        </p:nvCxnSpPr>
        <p:spPr>
          <a:xfrm>
            <a:off x="6146800" y="4508500"/>
            <a:ext cx="965200" cy="0"/>
          </a:xfrm>
          <a:prstGeom prst="line">
            <a:avLst/>
          </a:prstGeom>
          <a:ln w="20320">
            <a:solidFill>
              <a:srgbClr val="B1BBC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32794FCD-368B-634D-F5B4-5B6B08E9989B}"/>
              </a:ext>
            </a:extLst>
          </p:cNvPr>
          <p:cNvSpPr txBox="1"/>
          <p:nvPr/>
        </p:nvSpPr>
        <p:spPr>
          <a:xfrm>
            <a:off x="1498600" y="5562600"/>
            <a:ext cx="91948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1600" b="1">
                <a:solidFill>
                  <a:srgbClr val="1B7E84"/>
                </a:solidFill>
                <a:latin typeface="Malgun Gothic" panose="020B0503020000020004" pitchFamily="50" charset="-127"/>
              </a:rPr>
              <a:t>gzip CSV = </a:t>
            </a:r>
            <a:r>
              <a:rPr lang="ko-KR" altLang="en-US" sz="1600" b="1">
                <a:solidFill>
                  <a:srgbClr val="1B7E84"/>
                </a:solidFill>
                <a:latin typeface="Malgun Gothic" panose="020B0503020000020004" pitchFamily="50" charset="-127"/>
              </a:rPr>
              <a:t>감사</a:t>
            </a:r>
            <a:r>
              <a:rPr lang="en-US" altLang="ko-KR" sz="1600" b="1">
                <a:solidFill>
                  <a:srgbClr val="1B7E84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1600" b="1">
                <a:solidFill>
                  <a:srgbClr val="1B7E84"/>
                </a:solidFill>
                <a:latin typeface="Malgun Gothic" panose="020B0503020000020004" pitchFamily="50" charset="-127"/>
              </a:rPr>
              <a:t>보존 정본   </a:t>
            </a:r>
            <a:r>
              <a:rPr lang="en-US" altLang="ko-KR" sz="1600" b="1">
                <a:solidFill>
                  <a:srgbClr val="1B7E84"/>
                </a:solidFill>
                <a:latin typeface="Malgun Gothic" panose="020B0503020000020004" pitchFamily="50" charset="-127"/>
              </a:rPr>
              <a:t>·   Parquet = DuckDB/R/Python </a:t>
            </a:r>
            <a:r>
              <a:rPr lang="ko-KR" altLang="en-US" sz="1600" b="1">
                <a:solidFill>
                  <a:srgbClr val="1B7E84"/>
                </a:solidFill>
                <a:latin typeface="Malgun Gothic" panose="020B0503020000020004" pitchFamily="50" charset="-127"/>
              </a:rPr>
              <a:t>검색 미러</a:t>
            </a: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3358D583-17A7-9B34-BF12-52A8CB26E956}"/>
              </a:ext>
            </a:extLst>
          </p:cNvPr>
          <p:cNvCxnSpPr/>
          <p:nvPr/>
        </p:nvCxnSpPr>
        <p:spPr>
          <a:xfrm>
            <a:off x="685800" y="6451600"/>
            <a:ext cx="10820400" cy="0"/>
          </a:xfrm>
          <a:prstGeom prst="line">
            <a:avLst/>
          </a:prstGeom>
          <a:ln w="7620">
            <a:solidFill>
              <a:srgbClr val="B1BB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8E0F6628-DFEF-CBAA-01AC-B607691FCC86}"/>
              </a:ext>
            </a:extLst>
          </p:cNvPr>
          <p:cNvSpPr txBox="1"/>
          <p:nvPr/>
        </p:nvSpPr>
        <p:spPr>
          <a:xfrm>
            <a:off x="685800" y="6515100"/>
            <a:ext cx="6350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>
                <a:solidFill>
                  <a:srgbClr val="636D77"/>
                </a:solidFill>
                <a:latin typeface="Malgun Gothic" panose="020B0503020000020004" pitchFamily="50" charset="-127"/>
              </a:rPr>
              <a:t>2026 </a:t>
            </a:r>
            <a:r>
              <a:rPr lang="ko-KR" altLang="en-US" sz="900">
                <a:solidFill>
                  <a:srgbClr val="636D77"/>
                </a:solidFill>
                <a:latin typeface="Malgun Gothic" panose="020B0503020000020004" pitchFamily="50" charset="-127"/>
              </a:rPr>
              <a:t>여름 연구 </a:t>
            </a:r>
            <a:r>
              <a:rPr lang="en-US" altLang="ko-KR" sz="900">
                <a:solidFill>
                  <a:srgbClr val="636D77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900">
                <a:solidFill>
                  <a:srgbClr val="636D77"/>
                </a:solidFill>
                <a:latin typeface="Malgun Gothic" panose="020B0503020000020004" pitchFamily="50" charset="-127"/>
              </a:rPr>
              <a:t>전수 </a:t>
            </a:r>
            <a:r>
              <a:rPr lang="en-US" altLang="ko-KR" sz="900">
                <a:solidFill>
                  <a:srgbClr val="636D77"/>
                </a:solidFill>
                <a:latin typeface="Malgun Gothic" panose="020B0503020000020004" pitchFamily="50" charset="-127"/>
              </a:rPr>
              <a:t>MFA </a:t>
            </a:r>
            <a:r>
              <a:rPr lang="ko-KR" altLang="en-US" sz="900">
                <a:solidFill>
                  <a:srgbClr val="636D77"/>
                </a:solidFill>
                <a:latin typeface="Malgun Gothic" panose="020B0503020000020004" pitchFamily="50" charset="-127"/>
              </a:rPr>
              <a:t>인프라 최종 점검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471F1CF-DDCF-8697-19E4-8E0A02426225}"/>
              </a:ext>
            </a:extLst>
          </p:cNvPr>
          <p:cNvSpPr txBox="1"/>
          <p:nvPr/>
        </p:nvSpPr>
        <p:spPr>
          <a:xfrm>
            <a:off x="10972800" y="6502400"/>
            <a:ext cx="5334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900" b="1">
                <a:solidFill>
                  <a:srgbClr val="636D77"/>
                </a:solidFill>
                <a:latin typeface="Malgun Gothic" panose="020B0503020000020004" pitchFamily="50" charset="-127"/>
              </a:rPr>
              <a:t>07</a:t>
            </a:r>
            <a:endParaRPr lang="ko-KR" altLang="en-US" sz="900" b="1">
              <a:solidFill>
                <a:srgbClr val="636D77"/>
              </a:solidFill>
              <a:latin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276444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7DA9CFA-D760-A30E-30F5-D1BC6AA36BAE}"/>
              </a:ext>
            </a:extLst>
          </p:cNvPr>
          <p:cNvSpPr txBox="1"/>
          <p:nvPr/>
        </p:nvSpPr>
        <p:spPr>
          <a:xfrm>
            <a:off x="685800" y="317500"/>
            <a:ext cx="3556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100" b="1">
                <a:solidFill>
                  <a:srgbClr val="1B7E84"/>
                </a:solidFill>
                <a:latin typeface="Malgun Gothic" panose="020B0503020000020004" pitchFamily="50" charset="-127"/>
              </a:rPr>
              <a:t>07 · </a:t>
            </a:r>
            <a:r>
              <a:rPr lang="ko-KR" altLang="en-US" sz="1100" b="1">
                <a:solidFill>
                  <a:srgbClr val="1B7E84"/>
                </a:solidFill>
                <a:latin typeface="Malgun Gothic" panose="020B0503020000020004" pitchFamily="50" charset="-127"/>
              </a:rPr>
              <a:t>검색 표기와 좌표계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FDF141-846A-338D-427C-86350E4F5A6C}"/>
              </a:ext>
            </a:extLst>
          </p:cNvPr>
          <p:cNvSpPr txBox="1"/>
          <p:nvPr/>
        </p:nvSpPr>
        <p:spPr>
          <a:xfrm>
            <a:off x="685800" y="622300"/>
            <a:ext cx="108204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2900" b="1">
                <a:solidFill>
                  <a:srgbClr val="1B324D"/>
                </a:solidFill>
                <a:latin typeface="Malgun Gothic" panose="020B0503020000020004" pitchFamily="50" charset="-127"/>
              </a:rPr>
              <a:t>분절음</a:t>
            </a:r>
            <a:r>
              <a:rPr lang="en-US" altLang="ko-KR" sz="2900" b="1">
                <a:solidFill>
                  <a:srgbClr val="1B324D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2900" b="1">
                <a:solidFill>
                  <a:srgbClr val="1B324D"/>
                </a:solidFill>
                <a:latin typeface="Malgun Gothic" panose="020B0503020000020004" pitchFamily="50" charset="-127"/>
              </a:rPr>
              <a:t>음절</a:t>
            </a:r>
            <a:r>
              <a:rPr lang="en-US" altLang="ko-KR" sz="2900" b="1">
                <a:solidFill>
                  <a:srgbClr val="1B324D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2900" b="1">
                <a:solidFill>
                  <a:srgbClr val="1B324D"/>
                </a:solidFill>
                <a:latin typeface="Malgun Gothic" panose="020B0503020000020004" pitchFamily="50" charset="-127"/>
              </a:rPr>
              <a:t>형태소</a:t>
            </a:r>
            <a:r>
              <a:rPr lang="en-US" altLang="ko-KR" sz="2900" b="1">
                <a:solidFill>
                  <a:srgbClr val="1B324D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2900" b="1">
                <a:solidFill>
                  <a:srgbClr val="1B324D"/>
                </a:solidFill>
                <a:latin typeface="Malgun Gothic" panose="020B0503020000020004" pitchFamily="50" charset="-127"/>
              </a:rPr>
              <a:t>어절을 같은 구분자로 뭉개지 않는다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F9612D0-521B-EFA7-D9F1-13C8ECD61B0F}"/>
              </a:ext>
            </a:extLst>
          </p:cNvPr>
          <p:cNvSpPr/>
          <p:nvPr/>
        </p:nvSpPr>
        <p:spPr>
          <a:xfrm>
            <a:off x="685800" y="1282700"/>
            <a:ext cx="736600" cy="50800"/>
          </a:xfrm>
          <a:prstGeom prst="rect">
            <a:avLst/>
          </a:prstGeom>
          <a:solidFill>
            <a:srgbClr val="CD5C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0BD0177E-6329-A56E-D521-1426E028653B}"/>
              </a:ext>
            </a:extLst>
          </p:cNvPr>
          <p:cNvSpPr/>
          <p:nvPr/>
        </p:nvSpPr>
        <p:spPr>
          <a:xfrm>
            <a:off x="685800" y="1663700"/>
            <a:ext cx="10820400" cy="1168400"/>
          </a:xfrm>
          <a:prstGeom prst="roundRect">
            <a:avLst/>
          </a:prstGeom>
          <a:solidFill>
            <a:srgbClr val="1B324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2ECCD7-9357-1F54-7FBA-5C148CADF6F2}"/>
              </a:ext>
            </a:extLst>
          </p:cNvPr>
          <p:cNvSpPr txBox="1"/>
          <p:nvPr/>
        </p:nvSpPr>
        <p:spPr>
          <a:xfrm>
            <a:off x="965200" y="1892300"/>
            <a:ext cx="16764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300" b="1">
                <a:solidFill>
                  <a:srgbClr val="48A5A5"/>
                </a:solidFill>
                <a:latin typeface="Malgun Gothic" panose="020B0503020000020004" pitchFamily="50" charset="-127"/>
              </a:rPr>
              <a:t>철자 </a:t>
            </a:r>
            <a:r>
              <a:rPr lang="en-US" altLang="ko-KR" sz="1300" b="1">
                <a:solidFill>
                  <a:srgbClr val="48A5A5"/>
                </a:solidFill>
                <a:latin typeface="Malgun Gothic" panose="020B0503020000020004" pitchFamily="50" charset="-127"/>
              </a:rPr>
              <a:t>Roman</a:t>
            </a:r>
            <a:endParaRPr lang="ko-KR" altLang="en-US" sz="1300" b="1">
              <a:solidFill>
                <a:srgbClr val="48A5A5"/>
              </a:solidFill>
              <a:latin typeface="Malgun Gothic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C093CD-09C1-844D-978E-9394C2C670A2}"/>
              </a:ext>
            </a:extLst>
          </p:cNvPr>
          <p:cNvSpPr txBox="1"/>
          <p:nvPr/>
        </p:nvSpPr>
        <p:spPr>
          <a:xfrm>
            <a:off x="2895600" y="1841500"/>
            <a:ext cx="7747000" cy="393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2300" b="1">
                <a:solidFill>
                  <a:srgbClr val="FFFFFF"/>
                </a:solidFill>
                <a:latin typeface="Malgun Gothic" panose="020B0503020000020004" pitchFamily="50" charset="-127"/>
              </a:rPr>
              <a:t>2</a:t>
            </a:r>
            <a:r>
              <a:rPr lang="ko-KR" altLang="en-US" sz="2300" b="1">
                <a:solidFill>
                  <a:srgbClr val="FFFFFF"/>
                </a:solidFill>
                <a:latin typeface="Malgun Gothic" panose="020B0503020000020004" pitchFamily="50" charset="-127"/>
              </a:rPr>
              <a:t>사람이  →  </a:t>
            </a:r>
            <a:r>
              <a:rPr lang="en-US" altLang="ko-KR" sz="2300" b="1">
                <a:solidFill>
                  <a:srgbClr val="FFFFFF"/>
                </a:solidFill>
                <a:latin typeface="Malgun Gothic" panose="020B0503020000020004" pitchFamily="50" charset="-127"/>
              </a:rPr>
              <a:t>⟨2⟩ _ S A _ R A m _ I</a:t>
            </a:r>
            <a:endParaRPr lang="ko-KR" altLang="en-US" sz="23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0315E9-3470-5418-1C02-2974B4F62B79}"/>
              </a:ext>
            </a:extLst>
          </p:cNvPr>
          <p:cNvSpPr txBox="1"/>
          <p:nvPr/>
        </p:nvSpPr>
        <p:spPr>
          <a:xfrm>
            <a:off x="2895600" y="2336800"/>
            <a:ext cx="7747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300">
                <a:solidFill>
                  <a:srgbClr val="CDDADD"/>
                </a:solidFill>
                <a:latin typeface="Malgun Gothic" panose="020B0503020000020004" pitchFamily="50" charset="-127"/>
              </a:rPr>
              <a:t>비한글은 </a:t>
            </a:r>
            <a:r>
              <a:rPr lang="en-US" altLang="ko-KR" sz="1300">
                <a:solidFill>
                  <a:srgbClr val="CDDADD"/>
                </a:solidFill>
                <a:latin typeface="Malgun Gothic" panose="020B0503020000020004" pitchFamily="50" charset="-127"/>
              </a:rPr>
              <a:t>literal, </a:t>
            </a:r>
            <a:r>
              <a:rPr lang="ko-KR" altLang="en-US" sz="1300">
                <a:solidFill>
                  <a:srgbClr val="CDDADD"/>
                </a:solidFill>
                <a:latin typeface="Malgun Gothic" panose="020B0503020000020004" pitchFamily="50" charset="-127"/>
              </a:rPr>
              <a:t>음절 내부는 </a:t>
            </a:r>
            <a:r>
              <a:rPr lang="en-US" altLang="ko-KR" sz="1300">
                <a:solidFill>
                  <a:srgbClr val="CDDADD"/>
                </a:solidFill>
                <a:latin typeface="Malgun Gothic" panose="020B0503020000020004" pitchFamily="50" charset="-127"/>
              </a:rPr>
              <a:t>_, </a:t>
            </a:r>
            <a:r>
              <a:rPr lang="ko-KR" altLang="en-US" sz="1300">
                <a:solidFill>
                  <a:srgbClr val="CDDADD"/>
                </a:solidFill>
                <a:latin typeface="Malgun Gothic" panose="020B0503020000020004" pitchFamily="50" charset="-127"/>
              </a:rPr>
              <a:t>어절은 </a:t>
            </a:r>
            <a:r>
              <a:rPr lang="en-US" altLang="ko-KR" sz="1300">
                <a:solidFill>
                  <a:srgbClr val="CDDADD"/>
                </a:solidFill>
                <a:latin typeface="Malgun Gothic" panose="020B0503020000020004" pitchFamily="50" charset="-127"/>
              </a:rPr>
              <a:t>| — </a:t>
            </a:r>
            <a:r>
              <a:rPr lang="ko-KR" altLang="en-US" sz="1300">
                <a:solidFill>
                  <a:srgbClr val="CDDADD"/>
                </a:solidFill>
                <a:latin typeface="Malgun Gothic" panose="020B0503020000020004" pitchFamily="50" charset="-127"/>
              </a:rPr>
              <a:t>발음 추정이 아니라 검색용 전자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86FEF83-26BB-7434-3026-6ED2A6CB1377}"/>
              </a:ext>
            </a:extLst>
          </p:cNvPr>
          <p:cNvSpPr txBox="1"/>
          <p:nvPr/>
        </p:nvSpPr>
        <p:spPr>
          <a:xfrm>
            <a:off x="838200" y="3213100"/>
            <a:ext cx="14224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700" b="1">
                <a:solidFill>
                  <a:srgbClr val="1B7E84"/>
                </a:solidFill>
                <a:latin typeface="Malgun Gothic" panose="020B0503020000020004" pitchFamily="50" charset="-127"/>
              </a:rPr>
              <a:t>형태소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F86A72-AE32-0B0D-5183-66F49265D498}"/>
              </a:ext>
            </a:extLst>
          </p:cNvPr>
          <p:cNvSpPr txBox="1"/>
          <p:nvPr/>
        </p:nvSpPr>
        <p:spPr>
          <a:xfrm>
            <a:off x="2336800" y="3162300"/>
            <a:ext cx="4445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2000" b="1">
                <a:solidFill>
                  <a:srgbClr val="222A34"/>
                </a:solidFill>
                <a:latin typeface="Malgun Gothic" panose="020B0503020000020004" pitchFamily="50" charset="-127"/>
              </a:rPr>
              <a:t>혹시</a:t>
            </a:r>
            <a:r>
              <a:rPr lang="en-US" altLang="ko-KR" sz="2000" b="1">
                <a:solidFill>
                  <a:srgbClr val="222A34"/>
                </a:solidFill>
                <a:latin typeface="Malgun Gothic" panose="020B0503020000020004" pitchFamily="50" charset="-127"/>
              </a:rPr>
              <a:t>/MAG | </a:t>
            </a:r>
            <a:r>
              <a:rPr lang="ko-KR" altLang="en-US" sz="2000" b="1">
                <a:solidFill>
                  <a:srgbClr val="222A34"/>
                </a:solidFill>
                <a:latin typeface="Malgun Gothic" panose="020B0503020000020004" pitchFamily="50" charset="-127"/>
              </a:rPr>
              <a:t>요즘</a:t>
            </a:r>
            <a:r>
              <a:rPr lang="en-US" altLang="ko-KR" sz="2000" b="1">
                <a:solidFill>
                  <a:srgbClr val="222A34"/>
                </a:solidFill>
                <a:latin typeface="Malgun Gothic" panose="020B0503020000020004" pitchFamily="50" charset="-127"/>
              </a:rPr>
              <a:t>/NNG</a:t>
            </a:r>
            <a:endParaRPr lang="ko-KR" altLang="en-US" sz="2000" b="1">
              <a:solidFill>
                <a:srgbClr val="222A34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9BA91CB-3143-5A68-2F43-5468BE2974CD}"/>
              </a:ext>
            </a:extLst>
          </p:cNvPr>
          <p:cNvSpPr txBox="1"/>
          <p:nvPr/>
        </p:nvSpPr>
        <p:spPr>
          <a:xfrm>
            <a:off x="6908800" y="3200400"/>
            <a:ext cx="4191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400">
                <a:solidFill>
                  <a:srgbClr val="636D77"/>
                </a:solidFill>
                <a:latin typeface="Malgun Gothic" panose="020B0503020000020004" pitchFamily="50" charset="-127"/>
              </a:rPr>
              <a:t>형태소 경계는 </a:t>
            </a:r>
            <a:r>
              <a:rPr lang="en-US" altLang="ko-KR" sz="1400">
                <a:solidFill>
                  <a:srgbClr val="636D77"/>
                </a:solidFill>
                <a:latin typeface="Malgun Gothic" panose="020B0503020000020004" pitchFamily="50" charset="-127"/>
              </a:rPr>
              <a:t>CSV/Parquet</a:t>
            </a:r>
            <a:r>
              <a:rPr lang="ko-KR" altLang="en-US" sz="1400">
                <a:solidFill>
                  <a:srgbClr val="636D77"/>
                </a:solidFill>
                <a:latin typeface="Malgun Gothic" panose="020B0503020000020004" pitchFamily="50" charset="-127"/>
              </a:rPr>
              <a:t>에서 위치 검색</a:t>
            </a: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3DB5F821-83B6-BD4B-2856-330A7727B332}"/>
              </a:ext>
            </a:extLst>
          </p:cNvPr>
          <p:cNvCxnSpPr/>
          <p:nvPr/>
        </p:nvCxnSpPr>
        <p:spPr>
          <a:xfrm>
            <a:off x="685800" y="3721100"/>
            <a:ext cx="10820400" cy="0"/>
          </a:xfrm>
          <a:prstGeom prst="line">
            <a:avLst/>
          </a:prstGeom>
          <a:ln w="12700">
            <a:solidFill>
              <a:srgbClr val="B1BB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7B6253D-DFD3-F8E4-17A8-819995645E96}"/>
              </a:ext>
            </a:extLst>
          </p:cNvPr>
          <p:cNvSpPr txBox="1"/>
          <p:nvPr/>
        </p:nvSpPr>
        <p:spPr>
          <a:xfrm>
            <a:off x="838200" y="4025900"/>
            <a:ext cx="14224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700" b="1">
                <a:solidFill>
                  <a:srgbClr val="CD5C46"/>
                </a:solidFill>
                <a:latin typeface="Malgun Gothic" panose="020B0503020000020004" pitchFamily="50" charset="-127"/>
              </a:rPr>
              <a:t>좌표계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76A41C5C-576E-FCEE-18FB-3413433FDA44}"/>
              </a:ext>
            </a:extLst>
          </p:cNvPr>
          <p:cNvSpPr/>
          <p:nvPr/>
        </p:nvSpPr>
        <p:spPr>
          <a:xfrm>
            <a:off x="2336800" y="3975100"/>
            <a:ext cx="1968500" cy="381000"/>
          </a:xfrm>
          <a:prstGeom prst="roundRect">
            <a:avLst/>
          </a:prstGeom>
          <a:solidFill>
            <a:srgbClr val="26436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5ACFFD6-429E-3A7A-1603-92E984ECF73B}"/>
              </a:ext>
            </a:extLst>
          </p:cNvPr>
          <p:cNvSpPr txBox="1"/>
          <p:nvPr/>
        </p:nvSpPr>
        <p:spPr>
          <a:xfrm>
            <a:off x="2336800" y="3987800"/>
            <a:ext cx="19685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rgbClr val="FFFFFF"/>
                </a:solidFill>
                <a:latin typeface="Malgun Gothic" panose="020B0503020000020004" pitchFamily="50" charset="-127"/>
              </a:rPr>
              <a:t>eojeol_idx</a:t>
            </a:r>
            <a:endParaRPr lang="ko-KR" altLang="en-US" sz="10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DE4A89A7-8813-F5AA-3B31-763AC9A29150}"/>
              </a:ext>
            </a:extLst>
          </p:cNvPr>
          <p:cNvSpPr/>
          <p:nvPr/>
        </p:nvSpPr>
        <p:spPr>
          <a:xfrm>
            <a:off x="4495800" y="3975100"/>
            <a:ext cx="1968500" cy="381000"/>
          </a:xfrm>
          <a:prstGeom prst="roundRect">
            <a:avLst/>
          </a:prstGeom>
          <a:solidFill>
            <a:srgbClr val="26436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13BF96A-1B75-86DE-FD22-7DE379CD7937}"/>
              </a:ext>
            </a:extLst>
          </p:cNvPr>
          <p:cNvSpPr txBox="1"/>
          <p:nvPr/>
        </p:nvSpPr>
        <p:spPr>
          <a:xfrm>
            <a:off x="4495800" y="3987800"/>
            <a:ext cx="19685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rgbClr val="FFFFFF"/>
                </a:solidFill>
                <a:latin typeface="Malgun Gothic" panose="020B0503020000020004" pitchFamily="50" charset="-127"/>
              </a:rPr>
              <a:t>reference_eojeol_idx</a:t>
            </a:r>
            <a:endParaRPr lang="ko-KR" altLang="en-US" sz="10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BE17662A-E907-38A9-64E1-23A9F6FF396A}"/>
              </a:ext>
            </a:extLst>
          </p:cNvPr>
          <p:cNvSpPr/>
          <p:nvPr/>
        </p:nvSpPr>
        <p:spPr>
          <a:xfrm>
            <a:off x="6654800" y="3975100"/>
            <a:ext cx="1968500" cy="381000"/>
          </a:xfrm>
          <a:prstGeom prst="roundRect">
            <a:avLst/>
          </a:prstGeom>
          <a:solidFill>
            <a:srgbClr val="1B7E8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E99513F-DEC9-6F70-99B7-673AB3E1D9E8}"/>
              </a:ext>
            </a:extLst>
          </p:cNvPr>
          <p:cNvSpPr txBox="1"/>
          <p:nvPr/>
        </p:nvSpPr>
        <p:spPr>
          <a:xfrm>
            <a:off x="6654800" y="3987800"/>
            <a:ext cx="19685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rgbClr val="FFFFFF"/>
                </a:solidFill>
                <a:latin typeface="Malgun Gothic" panose="020B0503020000020004" pitchFamily="50" charset="-127"/>
              </a:rPr>
              <a:t>mfa_word_idx</a:t>
            </a:r>
            <a:endParaRPr lang="ko-KR" altLang="en-US" sz="10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091E6FA0-EC34-0B6E-C0D9-D157CEA5F974}"/>
              </a:ext>
            </a:extLst>
          </p:cNvPr>
          <p:cNvSpPr/>
          <p:nvPr/>
        </p:nvSpPr>
        <p:spPr>
          <a:xfrm>
            <a:off x="8813800" y="3975100"/>
            <a:ext cx="1968500" cy="381000"/>
          </a:xfrm>
          <a:prstGeom prst="roundRect">
            <a:avLst/>
          </a:prstGeom>
          <a:solidFill>
            <a:srgbClr val="1B7E8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1D2F4DE-DD6C-9A4E-3F83-2ACA4F62135C}"/>
              </a:ext>
            </a:extLst>
          </p:cNvPr>
          <p:cNvSpPr txBox="1"/>
          <p:nvPr/>
        </p:nvSpPr>
        <p:spPr>
          <a:xfrm>
            <a:off x="8813800" y="3987800"/>
            <a:ext cx="19685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rgbClr val="FFFFFF"/>
                </a:solidFill>
                <a:latin typeface="Malgun Gothic" panose="020B0503020000020004" pitchFamily="50" charset="-127"/>
              </a:rPr>
              <a:t>phone_interval_idx</a:t>
            </a:r>
            <a:endParaRPr lang="ko-KR" altLang="en-US" sz="10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1BAA2DB-2AAF-1377-2758-D388EDDD3E2E}"/>
              </a:ext>
            </a:extLst>
          </p:cNvPr>
          <p:cNvSpPr txBox="1"/>
          <p:nvPr/>
        </p:nvSpPr>
        <p:spPr>
          <a:xfrm>
            <a:off x="2336800" y="4597400"/>
            <a:ext cx="88138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600" b="1">
                <a:solidFill>
                  <a:srgbClr val="1B324D"/>
                </a:solidFill>
                <a:latin typeface="Malgun Gothic" panose="020B0503020000020004" pitchFamily="50" charset="-127"/>
              </a:rPr>
              <a:t>원 형태소 어절 ≠ </a:t>
            </a:r>
            <a:r>
              <a:rPr lang="en-US" altLang="ko-KR" sz="1600" b="1">
                <a:solidFill>
                  <a:srgbClr val="1B324D"/>
                </a:solidFill>
                <a:latin typeface="Malgun Gothic" panose="020B0503020000020004" pitchFamily="50" charset="-127"/>
              </a:rPr>
              <a:t>MFA reference </a:t>
            </a:r>
            <a:r>
              <a:rPr lang="ko-KR" altLang="en-US" sz="1600" b="1">
                <a:solidFill>
                  <a:srgbClr val="1B324D"/>
                </a:solidFill>
                <a:latin typeface="Malgun Gothic" panose="020B0503020000020004" pitchFamily="50" charset="-127"/>
              </a:rPr>
              <a:t>어절일 수 있다</a:t>
            </a:r>
            <a:r>
              <a:rPr lang="en-US" altLang="ko-KR" sz="1600" b="1">
                <a:solidFill>
                  <a:srgbClr val="1B324D"/>
                </a:solidFill>
                <a:latin typeface="Malgun Gothic" panose="020B0503020000020004" pitchFamily="50" charset="-127"/>
              </a:rPr>
              <a:t>. </a:t>
            </a:r>
            <a:r>
              <a:rPr lang="ko-KR" altLang="en-US" sz="1600" b="1">
                <a:solidFill>
                  <a:srgbClr val="1B324D"/>
                </a:solidFill>
                <a:latin typeface="Malgun Gothic" panose="020B0503020000020004" pitchFamily="50" charset="-127"/>
              </a:rPr>
              <a:t>다름 자체를 </a:t>
            </a:r>
            <a:r>
              <a:rPr lang="en-US" altLang="ko-KR" sz="1600" b="1">
                <a:solidFill>
                  <a:srgbClr val="1B324D"/>
                </a:solidFill>
                <a:latin typeface="Malgun Gothic" panose="020B0503020000020004" pitchFamily="50" charset="-127"/>
              </a:rPr>
              <a:t>provenance</a:t>
            </a:r>
            <a:r>
              <a:rPr lang="ko-KR" altLang="en-US" sz="1600" b="1">
                <a:solidFill>
                  <a:srgbClr val="1B324D"/>
                </a:solidFill>
                <a:latin typeface="Malgun Gothic" panose="020B0503020000020004" pitchFamily="50" charset="-127"/>
              </a:rPr>
              <a:t>로 보존한다</a:t>
            </a:r>
            <a:r>
              <a:rPr lang="en-US" altLang="ko-KR" sz="1600" b="1">
                <a:solidFill>
                  <a:srgbClr val="1B324D"/>
                </a:solidFill>
                <a:latin typeface="Malgun Gothic" panose="020B0503020000020004" pitchFamily="50" charset="-127"/>
              </a:rPr>
              <a:t>.</a:t>
            </a:r>
            <a:endParaRPr lang="ko-KR" altLang="en-US" sz="1600" b="1">
              <a:solidFill>
                <a:srgbClr val="1B324D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DCE7A72F-BFBD-C0CB-DC93-3A07F4ED7C09}"/>
              </a:ext>
            </a:extLst>
          </p:cNvPr>
          <p:cNvSpPr/>
          <p:nvPr/>
        </p:nvSpPr>
        <p:spPr>
          <a:xfrm>
            <a:off x="685800" y="5207000"/>
            <a:ext cx="10820400" cy="698500"/>
          </a:xfrm>
          <a:prstGeom prst="roundRect">
            <a:avLst/>
          </a:prstGeom>
          <a:solidFill>
            <a:srgbClr val="F8E8E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7E198AB-EE61-6B6A-4517-05B26610378A}"/>
              </a:ext>
            </a:extLst>
          </p:cNvPr>
          <p:cNvSpPr txBox="1"/>
          <p:nvPr/>
        </p:nvSpPr>
        <p:spPr>
          <a:xfrm>
            <a:off x="939800" y="5422900"/>
            <a:ext cx="10287000" cy="292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400" b="1">
                <a:solidFill>
                  <a:srgbClr val="CD5C46"/>
                </a:solidFill>
                <a:latin typeface="Malgun Gothic" panose="020B0503020000020004" pitchFamily="50" charset="-127"/>
              </a:rPr>
              <a:t>검색 주의</a:t>
            </a:r>
            <a:r>
              <a:rPr lang="en-US" altLang="ko-KR" sz="1400" b="1">
                <a:solidFill>
                  <a:srgbClr val="CD5C46"/>
                </a:solidFill>
                <a:latin typeface="Malgun Gothic" panose="020B0503020000020004" pitchFamily="50" charset="-127"/>
              </a:rPr>
              <a:t>: Roman</a:t>
            </a:r>
            <a:r>
              <a:rPr lang="ko-KR" altLang="en-US" sz="1400" b="1">
                <a:solidFill>
                  <a:srgbClr val="CD5C46"/>
                </a:solidFill>
                <a:latin typeface="Malgun Gothic" panose="020B0503020000020004" pitchFamily="50" charset="-127"/>
              </a:rPr>
              <a:t>은 대소문자 구분 </a:t>
            </a:r>
            <a:r>
              <a:rPr lang="en-US" altLang="ko-KR" sz="1400" b="1">
                <a:solidFill>
                  <a:srgbClr val="CD5C46"/>
                </a:solidFill>
                <a:latin typeface="Malgun Gothic" panose="020B0503020000020004" pitchFamily="50" charset="-127"/>
              </a:rPr>
              <a:t>— k/p/t(</a:t>
            </a:r>
            <a:r>
              <a:rPr lang="ko-KR" altLang="en-US" sz="1400" b="1">
                <a:solidFill>
                  <a:srgbClr val="CD5C46"/>
                </a:solidFill>
                <a:latin typeface="Malgun Gothic" panose="020B0503020000020004" pitchFamily="50" charset="-127"/>
              </a:rPr>
              <a:t>종성</a:t>
            </a:r>
            <a:r>
              <a:rPr lang="en-US" altLang="ko-KR" sz="1400" b="1">
                <a:solidFill>
                  <a:srgbClr val="CD5C46"/>
                </a:solidFill>
                <a:latin typeface="Malgun Gothic" panose="020B0503020000020004" pitchFamily="50" charset="-127"/>
              </a:rPr>
              <a:t>)</a:t>
            </a:r>
            <a:r>
              <a:rPr lang="ko-KR" altLang="en-US" sz="1400" b="1">
                <a:solidFill>
                  <a:srgbClr val="CD5C46"/>
                </a:solidFill>
                <a:latin typeface="Malgun Gothic" panose="020B0503020000020004" pitchFamily="50" charset="-127"/>
              </a:rPr>
              <a:t>와 </a:t>
            </a:r>
            <a:r>
              <a:rPr lang="en-US" altLang="ko-KR" sz="1400" b="1">
                <a:solidFill>
                  <a:srgbClr val="CD5C46"/>
                </a:solidFill>
                <a:latin typeface="Malgun Gothic" panose="020B0503020000020004" pitchFamily="50" charset="-127"/>
              </a:rPr>
              <a:t>K/P/T(</a:t>
            </a:r>
            <a:r>
              <a:rPr lang="ko-KR" altLang="en-US" sz="1400" b="1">
                <a:solidFill>
                  <a:srgbClr val="CD5C46"/>
                </a:solidFill>
                <a:latin typeface="Malgun Gothic" panose="020B0503020000020004" pitchFamily="50" charset="-127"/>
              </a:rPr>
              <a:t>격음</a:t>
            </a:r>
            <a:r>
              <a:rPr lang="en-US" altLang="ko-KR" sz="1400" b="1">
                <a:solidFill>
                  <a:srgbClr val="CD5C46"/>
                </a:solidFill>
                <a:latin typeface="Malgun Gothic" panose="020B0503020000020004" pitchFamily="50" charset="-127"/>
              </a:rPr>
              <a:t>)</a:t>
            </a:r>
            <a:r>
              <a:rPr lang="ko-KR" altLang="en-US" sz="1400" b="1">
                <a:solidFill>
                  <a:srgbClr val="CD5C46"/>
                </a:solidFill>
                <a:latin typeface="Malgun Gothic" panose="020B0503020000020004" pitchFamily="50" charset="-127"/>
              </a:rPr>
              <a:t>를 </a:t>
            </a:r>
            <a:r>
              <a:rPr lang="en-US" altLang="ko-KR" sz="1400" b="1">
                <a:solidFill>
                  <a:srgbClr val="CD5C46"/>
                </a:solidFill>
                <a:latin typeface="Malgun Gothic" panose="020B0503020000020004" pitchFamily="50" charset="-127"/>
              </a:rPr>
              <a:t>case-insensitive</a:t>
            </a:r>
            <a:r>
              <a:rPr lang="ko-KR" altLang="en-US" sz="1400" b="1">
                <a:solidFill>
                  <a:srgbClr val="CD5C46"/>
                </a:solidFill>
                <a:latin typeface="Malgun Gothic" panose="020B0503020000020004" pitchFamily="50" charset="-127"/>
              </a:rPr>
              <a:t>로 합치지 않는다</a:t>
            </a:r>
            <a:r>
              <a:rPr lang="en-US" altLang="ko-KR" sz="1400" b="1">
                <a:solidFill>
                  <a:srgbClr val="CD5C46"/>
                </a:solidFill>
                <a:latin typeface="Malgun Gothic" panose="020B0503020000020004" pitchFamily="50" charset="-127"/>
              </a:rPr>
              <a:t>.</a:t>
            </a:r>
            <a:endParaRPr lang="ko-KR" altLang="en-US" sz="1400" b="1">
              <a:solidFill>
                <a:srgbClr val="CD5C46"/>
              </a:solidFill>
              <a:latin typeface="Malgun Gothic" panose="020B0503020000020004" pitchFamily="50" charset="-127"/>
            </a:endParaRP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5EE4E437-9D9A-0788-AD60-97DF02548CCC}"/>
              </a:ext>
            </a:extLst>
          </p:cNvPr>
          <p:cNvCxnSpPr/>
          <p:nvPr/>
        </p:nvCxnSpPr>
        <p:spPr>
          <a:xfrm>
            <a:off x="685800" y="6451600"/>
            <a:ext cx="10820400" cy="0"/>
          </a:xfrm>
          <a:prstGeom prst="line">
            <a:avLst/>
          </a:prstGeom>
          <a:ln w="7620">
            <a:solidFill>
              <a:srgbClr val="B1BB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3FD18DE7-B3C8-EBEC-3120-0787C27CFD31}"/>
              </a:ext>
            </a:extLst>
          </p:cNvPr>
          <p:cNvSpPr txBox="1"/>
          <p:nvPr/>
        </p:nvSpPr>
        <p:spPr>
          <a:xfrm>
            <a:off x="685800" y="6515100"/>
            <a:ext cx="6350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>
                <a:solidFill>
                  <a:srgbClr val="636D77"/>
                </a:solidFill>
                <a:latin typeface="Malgun Gothic" panose="020B0503020000020004" pitchFamily="50" charset="-127"/>
              </a:rPr>
              <a:t>2026 </a:t>
            </a:r>
            <a:r>
              <a:rPr lang="ko-KR" altLang="en-US" sz="900">
                <a:solidFill>
                  <a:srgbClr val="636D77"/>
                </a:solidFill>
                <a:latin typeface="Malgun Gothic" panose="020B0503020000020004" pitchFamily="50" charset="-127"/>
              </a:rPr>
              <a:t>여름 연구 </a:t>
            </a:r>
            <a:r>
              <a:rPr lang="en-US" altLang="ko-KR" sz="900">
                <a:solidFill>
                  <a:srgbClr val="636D77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900">
                <a:solidFill>
                  <a:srgbClr val="636D77"/>
                </a:solidFill>
                <a:latin typeface="Malgun Gothic" panose="020B0503020000020004" pitchFamily="50" charset="-127"/>
              </a:rPr>
              <a:t>전수 </a:t>
            </a:r>
            <a:r>
              <a:rPr lang="en-US" altLang="ko-KR" sz="900">
                <a:solidFill>
                  <a:srgbClr val="636D77"/>
                </a:solidFill>
                <a:latin typeface="Malgun Gothic" panose="020B0503020000020004" pitchFamily="50" charset="-127"/>
              </a:rPr>
              <a:t>MFA </a:t>
            </a:r>
            <a:r>
              <a:rPr lang="ko-KR" altLang="en-US" sz="900">
                <a:solidFill>
                  <a:srgbClr val="636D77"/>
                </a:solidFill>
                <a:latin typeface="Malgun Gothic" panose="020B0503020000020004" pitchFamily="50" charset="-127"/>
              </a:rPr>
              <a:t>인프라 최종 점검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251ED60-5906-5B19-3803-2E531ADF4ECF}"/>
              </a:ext>
            </a:extLst>
          </p:cNvPr>
          <p:cNvSpPr txBox="1"/>
          <p:nvPr/>
        </p:nvSpPr>
        <p:spPr>
          <a:xfrm>
            <a:off x="10972800" y="6502400"/>
            <a:ext cx="5334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900" b="1">
                <a:solidFill>
                  <a:srgbClr val="636D77"/>
                </a:solidFill>
                <a:latin typeface="Malgun Gothic" panose="020B0503020000020004" pitchFamily="50" charset="-127"/>
              </a:rPr>
              <a:t>08</a:t>
            </a:r>
            <a:endParaRPr lang="ko-KR" altLang="en-US" sz="900" b="1">
              <a:solidFill>
                <a:srgbClr val="636D77"/>
              </a:solidFill>
              <a:latin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581700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A4F2D99-ECE1-9C1B-CC1B-258EF7FF8F4F}"/>
              </a:ext>
            </a:extLst>
          </p:cNvPr>
          <p:cNvSpPr txBox="1"/>
          <p:nvPr/>
        </p:nvSpPr>
        <p:spPr>
          <a:xfrm>
            <a:off x="685800" y="317500"/>
            <a:ext cx="3556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100" b="1">
                <a:solidFill>
                  <a:srgbClr val="1B7E84"/>
                </a:solidFill>
                <a:latin typeface="Malgun Gothic" panose="020B0503020000020004" pitchFamily="50" charset="-127"/>
              </a:rPr>
              <a:t>08 · phone</a:t>
            </a:r>
            <a:r>
              <a:rPr lang="ko-KR" altLang="en-US" sz="1100" b="1">
                <a:solidFill>
                  <a:srgbClr val="1B7E84"/>
                </a:solidFill>
                <a:latin typeface="Malgun Gothic" panose="020B0503020000020004" pitchFamily="50" charset="-127"/>
              </a:rPr>
              <a:t>의 해석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16CB6F-5C6A-E613-0DEE-9C8CA2B161ED}"/>
              </a:ext>
            </a:extLst>
          </p:cNvPr>
          <p:cNvSpPr txBox="1"/>
          <p:nvPr/>
        </p:nvSpPr>
        <p:spPr>
          <a:xfrm>
            <a:off x="685800" y="622300"/>
            <a:ext cx="108204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2900" b="1">
                <a:solidFill>
                  <a:srgbClr val="1B324D"/>
                </a:solidFill>
                <a:latin typeface="Malgun Gothic" panose="020B0503020000020004" pitchFamily="50" charset="-127"/>
              </a:rPr>
              <a:t>“정렬된 </a:t>
            </a:r>
            <a:r>
              <a:rPr lang="en-US" altLang="ko-KR" sz="2900" b="1">
                <a:solidFill>
                  <a:srgbClr val="1B324D"/>
                </a:solidFill>
                <a:latin typeface="Malgun Gothic" panose="020B0503020000020004" pitchFamily="50" charset="-127"/>
              </a:rPr>
              <a:t>phone”</a:t>
            </a:r>
            <a:r>
              <a:rPr lang="ko-KR" altLang="en-US" sz="2900" b="1">
                <a:solidFill>
                  <a:srgbClr val="1B324D"/>
                </a:solidFill>
                <a:latin typeface="Malgun Gothic" panose="020B0503020000020004" pitchFamily="50" charset="-127"/>
              </a:rPr>
              <a:t>과 “실제로 들린 분절”은 같은 말이 아니다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361BCC0-EC42-7939-A3F2-CE14CB523718}"/>
              </a:ext>
            </a:extLst>
          </p:cNvPr>
          <p:cNvSpPr/>
          <p:nvPr/>
        </p:nvSpPr>
        <p:spPr>
          <a:xfrm>
            <a:off x="685800" y="1282700"/>
            <a:ext cx="736600" cy="50800"/>
          </a:xfrm>
          <a:prstGeom prst="rect">
            <a:avLst/>
          </a:prstGeom>
          <a:solidFill>
            <a:srgbClr val="CD5C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8A659133-4ADA-0F72-AB96-FABAEEAF794D}"/>
              </a:ext>
            </a:extLst>
          </p:cNvPr>
          <p:cNvSpPr/>
          <p:nvPr/>
        </p:nvSpPr>
        <p:spPr>
          <a:xfrm>
            <a:off x="685800" y="1714500"/>
            <a:ext cx="5080000" cy="3632200"/>
          </a:xfrm>
          <a:prstGeom prst="roundRect">
            <a:avLst/>
          </a:prstGeom>
          <a:solidFill>
            <a:srgbClr val="ECF2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B46AE3-5B1A-2055-3D79-5F8ABE477010}"/>
              </a:ext>
            </a:extLst>
          </p:cNvPr>
          <p:cNvSpPr txBox="1"/>
          <p:nvPr/>
        </p:nvSpPr>
        <p:spPr>
          <a:xfrm>
            <a:off x="990600" y="2006600"/>
            <a:ext cx="4318000" cy="342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2000" b="1">
                <a:solidFill>
                  <a:srgbClr val="1B7E84"/>
                </a:solidFill>
                <a:latin typeface="Malgun Gothic" panose="020B0503020000020004" pitchFamily="50" charset="-127"/>
              </a:rPr>
              <a:t>MFA</a:t>
            </a:r>
            <a:r>
              <a:rPr lang="ko-KR" altLang="en-US" sz="2000" b="1">
                <a:solidFill>
                  <a:srgbClr val="1B7E84"/>
                </a:solidFill>
                <a:latin typeface="Malgun Gothic" panose="020B0503020000020004" pitchFamily="50" charset="-127"/>
              </a:rPr>
              <a:t>가 제공하는 것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7ACB18-8691-807D-003B-C6ED2509462D}"/>
              </a:ext>
            </a:extLst>
          </p:cNvPr>
          <p:cNvSpPr txBox="1"/>
          <p:nvPr/>
        </p:nvSpPr>
        <p:spPr>
          <a:xfrm>
            <a:off x="990600" y="2603500"/>
            <a:ext cx="4318000" cy="182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600">
                <a:solidFill>
                  <a:srgbClr val="222A34"/>
                </a:solidFill>
                <a:latin typeface="Malgun Gothic" panose="020B0503020000020004" pitchFamily="50" charset="-127"/>
              </a:rPr>
              <a:t>• </a:t>
            </a:r>
            <a:r>
              <a:rPr lang="ko-KR" altLang="en-US" sz="1600">
                <a:solidFill>
                  <a:srgbClr val="222A34"/>
                </a:solidFill>
                <a:latin typeface="Malgun Gothic" panose="020B0503020000020004" pitchFamily="50" charset="-127"/>
              </a:rPr>
              <a:t>공통사전</a:t>
            </a:r>
            <a:r>
              <a:rPr lang="en-US" altLang="ko-KR" sz="1600">
                <a:solidFill>
                  <a:srgbClr val="222A34"/>
                </a:solidFill>
                <a:latin typeface="Malgun Gothic" panose="020B0503020000020004" pitchFamily="50" charset="-127"/>
              </a:rPr>
              <a:t>/G2P phone</a:t>
            </a:r>
            <a:r>
              <a:rPr lang="ko-KR" altLang="en-US" sz="1600">
                <a:solidFill>
                  <a:srgbClr val="222A34"/>
                </a:solidFill>
                <a:latin typeface="Malgun Gothic" panose="020B0503020000020004" pitchFamily="50" charset="-127"/>
              </a:rPr>
              <a:t>을 음성 시간에 정렬</a:t>
            </a:r>
          </a:p>
          <a:p>
            <a:r>
              <a:rPr lang="en-US" altLang="ko-KR" sz="1600">
                <a:solidFill>
                  <a:srgbClr val="222A34"/>
                </a:solidFill>
                <a:latin typeface="Malgun Gothic" panose="020B0503020000020004" pitchFamily="50" charset="-127"/>
              </a:rPr>
              <a:t>• </a:t>
            </a:r>
            <a:r>
              <a:rPr lang="ko-KR" altLang="en-US" sz="1600">
                <a:solidFill>
                  <a:srgbClr val="222A34"/>
                </a:solidFill>
                <a:latin typeface="Malgun Gothic" panose="020B0503020000020004" pitchFamily="50" charset="-127"/>
              </a:rPr>
              <a:t>대략적인 분절 위치와 </a:t>
            </a:r>
            <a:r>
              <a:rPr lang="en-US" altLang="ko-KR" sz="1600">
                <a:solidFill>
                  <a:srgbClr val="222A34"/>
                </a:solidFill>
                <a:latin typeface="Malgun Gothic" panose="020B0503020000020004" pitchFamily="50" charset="-127"/>
              </a:rPr>
              <a:t>word interval</a:t>
            </a:r>
          </a:p>
          <a:p>
            <a:r>
              <a:rPr lang="en-US" altLang="ko-KR" sz="1600">
                <a:solidFill>
                  <a:srgbClr val="222A34"/>
                </a:solidFill>
                <a:latin typeface="Malgun Gothic" panose="020B0503020000020004" pitchFamily="50" charset="-127"/>
              </a:rPr>
              <a:t>• </a:t>
            </a:r>
            <a:r>
              <a:rPr lang="ko-KR" altLang="en-US" sz="1600">
                <a:solidFill>
                  <a:srgbClr val="222A34"/>
                </a:solidFill>
                <a:latin typeface="Malgun Gothic" panose="020B0503020000020004" pitchFamily="50" charset="-127"/>
              </a:rPr>
              <a:t>동일 모델</a:t>
            </a:r>
            <a:r>
              <a:rPr lang="en-US" altLang="ko-KR" sz="1600">
                <a:solidFill>
                  <a:srgbClr val="222A34"/>
                </a:solidFill>
                <a:latin typeface="Malgun Gothic" panose="020B0503020000020004" pitchFamily="50" charset="-127"/>
              </a:rPr>
              <a:t>·inventory </a:t>
            </a:r>
            <a:r>
              <a:rPr lang="ko-KR" altLang="en-US" sz="1600">
                <a:solidFill>
                  <a:srgbClr val="222A34"/>
                </a:solidFill>
                <a:latin typeface="Malgun Gothic" panose="020B0503020000020004" pitchFamily="50" charset="-127"/>
              </a:rPr>
              <a:t>기반의 연도 간 기준</a:t>
            </a:r>
          </a:p>
          <a:p>
            <a:r>
              <a:rPr lang="en-US" altLang="ko-KR" sz="1600">
                <a:solidFill>
                  <a:srgbClr val="222A34"/>
                </a:solidFill>
                <a:latin typeface="Malgun Gothic" panose="020B0503020000020004" pitchFamily="50" charset="-127"/>
              </a:rPr>
              <a:t>• </a:t>
            </a:r>
            <a:r>
              <a:rPr lang="ko-KR" altLang="en-US" sz="1600">
                <a:solidFill>
                  <a:srgbClr val="222A34"/>
                </a:solidFill>
                <a:latin typeface="Malgun Gothic" panose="020B0503020000020004" pitchFamily="50" charset="-127"/>
              </a:rPr>
              <a:t>후보 청취 구간을 빠르게 찾는 출발점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65CFDB7C-7E10-B7B2-0CE5-A76204167F6B}"/>
              </a:ext>
            </a:extLst>
          </p:cNvPr>
          <p:cNvSpPr/>
          <p:nvPr/>
        </p:nvSpPr>
        <p:spPr>
          <a:xfrm>
            <a:off x="6426200" y="1714500"/>
            <a:ext cx="5080000" cy="3632200"/>
          </a:xfrm>
          <a:prstGeom prst="roundRect">
            <a:avLst/>
          </a:prstGeom>
          <a:solidFill>
            <a:srgbClr val="F8E8E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AD553F-F22D-D500-8E5A-274F5E35210D}"/>
              </a:ext>
            </a:extLst>
          </p:cNvPr>
          <p:cNvSpPr txBox="1"/>
          <p:nvPr/>
        </p:nvSpPr>
        <p:spPr>
          <a:xfrm>
            <a:off x="6731000" y="2006600"/>
            <a:ext cx="4318000" cy="342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2000" b="1">
                <a:solidFill>
                  <a:srgbClr val="CD5C46"/>
                </a:solidFill>
                <a:latin typeface="Malgun Gothic" panose="020B0503020000020004" pitchFamily="50" charset="-127"/>
              </a:rPr>
              <a:t>MFA</a:t>
            </a:r>
            <a:r>
              <a:rPr lang="ko-KR" altLang="en-US" sz="2000" b="1">
                <a:solidFill>
                  <a:srgbClr val="CD5C46"/>
                </a:solidFill>
                <a:latin typeface="Malgun Gothic" panose="020B0503020000020004" pitchFamily="50" charset="-127"/>
              </a:rPr>
              <a:t>가 판정하지 않는 것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5750CF-57E0-E369-19BE-210602412233}"/>
              </a:ext>
            </a:extLst>
          </p:cNvPr>
          <p:cNvSpPr txBox="1"/>
          <p:nvPr/>
        </p:nvSpPr>
        <p:spPr>
          <a:xfrm>
            <a:off x="6731000" y="2603500"/>
            <a:ext cx="4318000" cy="182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600">
                <a:solidFill>
                  <a:srgbClr val="222A34"/>
                </a:solidFill>
                <a:latin typeface="Malgun Gothic" panose="020B0503020000020004" pitchFamily="50" charset="-127"/>
              </a:rPr>
              <a:t>• </a:t>
            </a:r>
            <a:r>
              <a:rPr lang="ko-KR" altLang="en-US" sz="1600">
                <a:solidFill>
                  <a:srgbClr val="222A34"/>
                </a:solidFill>
                <a:latin typeface="Malgun Gothic" panose="020B0503020000020004" pitchFamily="50" charset="-127"/>
              </a:rPr>
              <a:t>ㄴ 삽입</a:t>
            </a:r>
            <a:r>
              <a:rPr lang="en-US" altLang="ko-KR" sz="1600">
                <a:solidFill>
                  <a:srgbClr val="222A34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1600">
                <a:solidFill>
                  <a:srgbClr val="222A34"/>
                </a:solidFill>
                <a:latin typeface="Malgun Gothic" panose="020B0503020000020004" pitchFamily="50" charset="-127"/>
              </a:rPr>
              <a:t>경음화 등의 실제 실현 여부</a:t>
            </a:r>
          </a:p>
          <a:p>
            <a:r>
              <a:rPr lang="en-US" altLang="ko-KR" sz="1600">
                <a:solidFill>
                  <a:srgbClr val="222A34"/>
                </a:solidFill>
                <a:latin typeface="Malgun Gothic" panose="020B0503020000020004" pitchFamily="50" charset="-127"/>
              </a:rPr>
              <a:t>• </a:t>
            </a:r>
            <a:r>
              <a:rPr lang="ko-KR" altLang="en-US" sz="1600">
                <a:solidFill>
                  <a:srgbClr val="222A34"/>
                </a:solidFill>
                <a:latin typeface="Malgun Gothic" panose="020B0503020000020004" pitchFamily="50" charset="-127"/>
              </a:rPr>
              <a:t>사전형과 다른 음성 변이의 정답</a:t>
            </a:r>
          </a:p>
          <a:p>
            <a:r>
              <a:rPr lang="en-US" altLang="ko-KR" sz="1600">
                <a:solidFill>
                  <a:srgbClr val="222A34"/>
                </a:solidFill>
                <a:latin typeface="Malgun Gothic" panose="020B0503020000020004" pitchFamily="50" charset="-127"/>
              </a:rPr>
              <a:t>• </a:t>
            </a:r>
            <a:r>
              <a:rPr lang="ko-KR" altLang="en-US" sz="1600">
                <a:solidFill>
                  <a:srgbClr val="222A34"/>
                </a:solidFill>
                <a:latin typeface="Malgun Gothic" panose="020B0503020000020004" pitchFamily="50" charset="-127"/>
              </a:rPr>
              <a:t>형태소의 실제 음향 경계</a:t>
            </a:r>
          </a:p>
          <a:p>
            <a:r>
              <a:rPr lang="en-US" altLang="ko-KR" sz="1600">
                <a:solidFill>
                  <a:srgbClr val="222A34"/>
                </a:solidFill>
                <a:latin typeface="Malgun Gothic" panose="020B0503020000020004" pitchFamily="50" charset="-127"/>
              </a:rPr>
              <a:t>• </a:t>
            </a:r>
            <a:r>
              <a:rPr lang="ko-KR" altLang="en-US" sz="1600">
                <a:solidFill>
                  <a:srgbClr val="222A34"/>
                </a:solidFill>
                <a:latin typeface="Malgun Gothic" panose="020B0503020000020004" pitchFamily="50" charset="-127"/>
              </a:rPr>
              <a:t>음운론적 분석의 최종 결론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7D3336-5808-AC71-6C32-EC288DB17816}"/>
              </a:ext>
            </a:extLst>
          </p:cNvPr>
          <p:cNvSpPr txBox="1"/>
          <p:nvPr/>
        </p:nvSpPr>
        <p:spPr>
          <a:xfrm>
            <a:off x="1143000" y="5702300"/>
            <a:ext cx="9906000" cy="292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1600" b="1">
                <a:solidFill>
                  <a:srgbClr val="1B324D"/>
                </a:solidFill>
                <a:latin typeface="Malgun Gothic" panose="020B0503020000020004" pitchFamily="50" charset="-127"/>
              </a:rPr>
              <a:t>phoneme_r_auto = phones_mfa</a:t>
            </a:r>
            <a:r>
              <a:rPr lang="ko-KR" altLang="en-US" sz="1600" b="1">
                <a:solidFill>
                  <a:srgbClr val="1B324D"/>
                </a:solidFill>
                <a:latin typeface="Malgun Gothic" panose="020B0503020000020004" pitchFamily="50" charset="-127"/>
              </a:rPr>
              <a:t>만을 넓은 </a:t>
            </a:r>
            <a:r>
              <a:rPr lang="en-US" altLang="ko-KR" sz="1600" b="1">
                <a:solidFill>
                  <a:srgbClr val="1B324D"/>
                </a:solidFill>
                <a:latin typeface="Malgun Gothic" panose="020B0503020000020004" pitchFamily="50" charset="-127"/>
              </a:rPr>
              <a:t>Roman </a:t>
            </a:r>
            <a:r>
              <a:rPr lang="ko-KR" altLang="en-US" sz="1600" b="1">
                <a:solidFill>
                  <a:srgbClr val="1B324D"/>
                </a:solidFill>
                <a:latin typeface="Malgun Gothic" panose="020B0503020000020004" pitchFamily="50" charset="-127"/>
              </a:rPr>
              <a:t>범주로 기계 대응 </a:t>
            </a:r>
            <a:r>
              <a:rPr lang="en-US" altLang="ko-KR" sz="1600" b="1">
                <a:solidFill>
                  <a:srgbClr val="1B324D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1600" b="1">
                <a:solidFill>
                  <a:srgbClr val="1B324D"/>
                </a:solidFill>
                <a:latin typeface="Malgun Gothic" panose="020B0503020000020004" pitchFamily="50" charset="-127"/>
              </a:rPr>
              <a:t>기저형 역복원 아님</a:t>
            </a: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9FCDFA28-39EF-6D97-33CF-2ED23EF15629}"/>
              </a:ext>
            </a:extLst>
          </p:cNvPr>
          <p:cNvCxnSpPr/>
          <p:nvPr/>
        </p:nvCxnSpPr>
        <p:spPr>
          <a:xfrm>
            <a:off x="685800" y="6451600"/>
            <a:ext cx="10820400" cy="0"/>
          </a:xfrm>
          <a:prstGeom prst="line">
            <a:avLst/>
          </a:prstGeom>
          <a:ln w="7620">
            <a:solidFill>
              <a:srgbClr val="B1BB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06265C8-DFC0-0EB0-210E-2CD573730E56}"/>
              </a:ext>
            </a:extLst>
          </p:cNvPr>
          <p:cNvSpPr txBox="1"/>
          <p:nvPr/>
        </p:nvSpPr>
        <p:spPr>
          <a:xfrm>
            <a:off x="685800" y="6515100"/>
            <a:ext cx="6350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>
                <a:solidFill>
                  <a:srgbClr val="636D77"/>
                </a:solidFill>
                <a:latin typeface="Malgun Gothic" panose="020B0503020000020004" pitchFamily="50" charset="-127"/>
              </a:rPr>
              <a:t>2026 </a:t>
            </a:r>
            <a:r>
              <a:rPr lang="ko-KR" altLang="en-US" sz="900">
                <a:solidFill>
                  <a:srgbClr val="636D77"/>
                </a:solidFill>
                <a:latin typeface="Malgun Gothic" panose="020B0503020000020004" pitchFamily="50" charset="-127"/>
              </a:rPr>
              <a:t>여름 연구 </a:t>
            </a:r>
            <a:r>
              <a:rPr lang="en-US" altLang="ko-KR" sz="900">
                <a:solidFill>
                  <a:srgbClr val="636D77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900">
                <a:solidFill>
                  <a:srgbClr val="636D77"/>
                </a:solidFill>
                <a:latin typeface="Malgun Gothic" panose="020B0503020000020004" pitchFamily="50" charset="-127"/>
              </a:rPr>
              <a:t>전수 </a:t>
            </a:r>
            <a:r>
              <a:rPr lang="en-US" altLang="ko-KR" sz="900">
                <a:solidFill>
                  <a:srgbClr val="636D77"/>
                </a:solidFill>
                <a:latin typeface="Malgun Gothic" panose="020B0503020000020004" pitchFamily="50" charset="-127"/>
              </a:rPr>
              <a:t>MFA </a:t>
            </a:r>
            <a:r>
              <a:rPr lang="ko-KR" altLang="en-US" sz="900">
                <a:solidFill>
                  <a:srgbClr val="636D77"/>
                </a:solidFill>
                <a:latin typeface="Malgun Gothic" panose="020B0503020000020004" pitchFamily="50" charset="-127"/>
              </a:rPr>
              <a:t>인프라 최종 점검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05B259E-C7F2-2BAC-03EE-AA5A317090AE}"/>
              </a:ext>
            </a:extLst>
          </p:cNvPr>
          <p:cNvSpPr txBox="1"/>
          <p:nvPr/>
        </p:nvSpPr>
        <p:spPr>
          <a:xfrm>
            <a:off x="10972800" y="6502400"/>
            <a:ext cx="5334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900" b="1">
                <a:solidFill>
                  <a:srgbClr val="636D77"/>
                </a:solidFill>
                <a:latin typeface="Malgun Gothic" panose="020B0503020000020004" pitchFamily="50" charset="-127"/>
              </a:rPr>
              <a:t>09</a:t>
            </a:r>
            <a:endParaRPr lang="ko-KR" altLang="en-US" sz="900" b="1">
              <a:solidFill>
                <a:srgbClr val="636D77"/>
              </a:solidFill>
              <a:latin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911703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CC6207A-7810-A4D5-0F9E-EA2328AE4B95}"/>
              </a:ext>
            </a:extLst>
          </p:cNvPr>
          <p:cNvSpPr txBox="1"/>
          <p:nvPr/>
        </p:nvSpPr>
        <p:spPr>
          <a:xfrm>
            <a:off x="685800" y="317500"/>
            <a:ext cx="3556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100" b="1">
                <a:solidFill>
                  <a:srgbClr val="1B7E84"/>
                </a:solidFill>
                <a:latin typeface="Malgun Gothic" panose="020B0503020000020004" pitchFamily="50" charset="-127"/>
              </a:rPr>
              <a:t>09 · </a:t>
            </a:r>
            <a:r>
              <a:rPr lang="ko-KR" altLang="en-US" sz="1100" b="1">
                <a:solidFill>
                  <a:srgbClr val="1B7E84"/>
                </a:solidFill>
                <a:latin typeface="Malgun Gothic" panose="020B0503020000020004" pitchFamily="50" charset="-127"/>
              </a:rPr>
              <a:t>선별 후보의 후속 분석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2A1C01-41CD-FCE7-C29B-4A6ED4E1C84F}"/>
              </a:ext>
            </a:extLst>
          </p:cNvPr>
          <p:cNvSpPr txBox="1"/>
          <p:nvPr/>
        </p:nvSpPr>
        <p:spPr>
          <a:xfrm>
            <a:off x="685800" y="622300"/>
            <a:ext cx="108204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2900" b="1">
                <a:solidFill>
                  <a:srgbClr val="1B324D"/>
                </a:solidFill>
                <a:latin typeface="Malgun Gothic" panose="020B0503020000020004" pitchFamily="50" charset="-127"/>
              </a:rPr>
              <a:t>전수 기본층과 연구별 보조층을 분리해야 다시 쓸 수 있다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2E9EE6E-5031-14F7-098D-ED777D7882FC}"/>
              </a:ext>
            </a:extLst>
          </p:cNvPr>
          <p:cNvSpPr/>
          <p:nvPr/>
        </p:nvSpPr>
        <p:spPr>
          <a:xfrm>
            <a:off x="685800" y="1282700"/>
            <a:ext cx="736600" cy="50800"/>
          </a:xfrm>
          <a:prstGeom prst="rect">
            <a:avLst/>
          </a:prstGeom>
          <a:solidFill>
            <a:srgbClr val="CD5C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3794A015-4861-5E51-E76C-8A86667BB221}"/>
              </a:ext>
            </a:extLst>
          </p:cNvPr>
          <p:cNvSpPr/>
          <p:nvPr/>
        </p:nvSpPr>
        <p:spPr>
          <a:xfrm>
            <a:off x="787400" y="1968500"/>
            <a:ext cx="3200400" cy="238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1BB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1653E4A-0E33-3DB1-38DA-2A265C03F31E}"/>
              </a:ext>
            </a:extLst>
          </p:cNvPr>
          <p:cNvSpPr/>
          <p:nvPr/>
        </p:nvSpPr>
        <p:spPr>
          <a:xfrm>
            <a:off x="787400" y="1968500"/>
            <a:ext cx="3200400" cy="127000"/>
          </a:xfrm>
          <a:prstGeom prst="rect">
            <a:avLst/>
          </a:prstGeom>
          <a:solidFill>
            <a:srgbClr val="1B7E8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197AB9-87C4-4535-F323-0A37787EE08A}"/>
              </a:ext>
            </a:extLst>
          </p:cNvPr>
          <p:cNvSpPr txBox="1"/>
          <p:nvPr/>
        </p:nvSpPr>
        <p:spPr>
          <a:xfrm>
            <a:off x="1066800" y="2298700"/>
            <a:ext cx="2667000" cy="368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2100" b="1">
                <a:solidFill>
                  <a:srgbClr val="1B7E84"/>
                </a:solidFill>
                <a:latin typeface="Malgun Gothic" panose="020B0503020000020004" pitchFamily="50" charset="-127"/>
              </a:rPr>
              <a:t>KOINA</a:t>
            </a:r>
            <a:endParaRPr lang="ko-KR" altLang="en-US" sz="2100" b="1">
              <a:solidFill>
                <a:srgbClr val="1B7E84"/>
              </a:solidFill>
              <a:latin typeface="Malgun Gothic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93B2EF-5BB5-399B-888B-3AB2B93E64F8}"/>
              </a:ext>
            </a:extLst>
          </p:cNvPr>
          <p:cNvSpPr txBox="1"/>
          <p:nvPr/>
        </p:nvSpPr>
        <p:spPr>
          <a:xfrm>
            <a:off x="1066800" y="2895600"/>
            <a:ext cx="2667000" cy="736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600">
                <a:solidFill>
                  <a:srgbClr val="222A34"/>
                </a:solidFill>
                <a:latin typeface="Malgun Gothic" panose="020B0503020000020004" pitchFamily="50" charset="-127"/>
              </a:rPr>
              <a:t>운율 경계</a:t>
            </a:r>
            <a:r>
              <a:rPr lang="en-US" altLang="ko-KR" sz="1600">
                <a:solidFill>
                  <a:srgbClr val="222A34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1600">
                <a:solidFill>
                  <a:srgbClr val="222A34"/>
                </a:solidFill>
                <a:latin typeface="Malgun Gothic" panose="020B0503020000020004" pitchFamily="50" charset="-127"/>
              </a:rPr>
              <a:t>억양 분석</a:t>
            </a:r>
          </a:p>
          <a:p>
            <a:r>
              <a:rPr lang="ko-KR" altLang="en-US" sz="1600">
                <a:solidFill>
                  <a:srgbClr val="222A34"/>
                </a:solidFill>
                <a:latin typeface="Malgun Gothic" panose="020B0503020000020004" pitchFamily="50" charset="-127"/>
              </a:rPr>
              <a:t>후보 발화에만 실행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ABAFC79B-2846-8F00-7581-767C0E411980}"/>
              </a:ext>
            </a:extLst>
          </p:cNvPr>
          <p:cNvSpPr/>
          <p:nvPr/>
        </p:nvSpPr>
        <p:spPr>
          <a:xfrm>
            <a:off x="1066800" y="3771900"/>
            <a:ext cx="1117600" cy="317500"/>
          </a:xfrm>
          <a:prstGeom prst="roundRect">
            <a:avLst/>
          </a:prstGeom>
          <a:solidFill>
            <a:srgbClr val="1B7E8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CC03A37-7242-58F9-8854-7560CA707ADA}"/>
              </a:ext>
            </a:extLst>
          </p:cNvPr>
          <p:cNvSpPr txBox="1"/>
          <p:nvPr/>
        </p:nvSpPr>
        <p:spPr>
          <a:xfrm>
            <a:off x="1066800" y="3784600"/>
            <a:ext cx="1117600" cy="2921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ko-KR" altLang="en-US" sz="1100" b="1">
                <a:solidFill>
                  <a:srgbClr val="FFFFFF"/>
                </a:solidFill>
                <a:latin typeface="Malgun Gothic" panose="020B0503020000020004" pitchFamily="50" charset="-127"/>
              </a:rPr>
              <a:t>선별 실행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B09849B9-488C-C3F9-DC53-BED3EF98288F}"/>
              </a:ext>
            </a:extLst>
          </p:cNvPr>
          <p:cNvSpPr/>
          <p:nvPr/>
        </p:nvSpPr>
        <p:spPr>
          <a:xfrm>
            <a:off x="4495800" y="1968500"/>
            <a:ext cx="3200400" cy="238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1BB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5F95841-519D-75AD-7C42-7186165A0959}"/>
              </a:ext>
            </a:extLst>
          </p:cNvPr>
          <p:cNvSpPr/>
          <p:nvPr/>
        </p:nvSpPr>
        <p:spPr>
          <a:xfrm>
            <a:off x="4495800" y="1968500"/>
            <a:ext cx="3200400" cy="127000"/>
          </a:xfrm>
          <a:prstGeom prst="rect">
            <a:avLst/>
          </a:prstGeom>
          <a:solidFill>
            <a:srgbClr val="26436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C42F035-A693-3821-6629-6609415EAFEC}"/>
              </a:ext>
            </a:extLst>
          </p:cNvPr>
          <p:cNvSpPr txBox="1"/>
          <p:nvPr/>
        </p:nvSpPr>
        <p:spPr>
          <a:xfrm>
            <a:off x="4775200" y="2298700"/>
            <a:ext cx="2667000" cy="368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2100" b="1">
                <a:solidFill>
                  <a:srgbClr val="264365"/>
                </a:solidFill>
                <a:latin typeface="Malgun Gothic" panose="020B0503020000020004" pitchFamily="50" charset="-127"/>
              </a:rPr>
              <a:t>이어붙이기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A828D40-D4E8-8602-E6C4-CAEA6F6F0501}"/>
              </a:ext>
            </a:extLst>
          </p:cNvPr>
          <p:cNvSpPr txBox="1"/>
          <p:nvPr/>
        </p:nvSpPr>
        <p:spPr>
          <a:xfrm>
            <a:off x="4775200" y="2895600"/>
            <a:ext cx="2667000" cy="736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600">
                <a:solidFill>
                  <a:srgbClr val="222A34"/>
                </a:solidFill>
                <a:latin typeface="Malgun Gothic" panose="020B0503020000020004" pitchFamily="50" charset="-127"/>
              </a:rPr>
              <a:t>같은 대화의 연속 맥락</a:t>
            </a:r>
          </a:p>
          <a:p>
            <a:r>
              <a:rPr lang="ko-KR" altLang="en-US" sz="1600">
                <a:solidFill>
                  <a:srgbClr val="222A34"/>
                </a:solidFill>
                <a:latin typeface="Malgun Gothic" panose="020B0503020000020004" pitchFamily="50" charset="-127"/>
              </a:rPr>
              <a:t>원 </a:t>
            </a:r>
            <a:r>
              <a:rPr lang="en-US" altLang="ko-KR" sz="1600">
                <a:solidFill>
                  <a:srgbClr val="222A34"/>
                </a:solidFill>
                <a:latin typeface="Malgun Gothic" panose="020B0503020000020004" pitchFamily="50" charset="-127"/>
              </a:rPr>
              <a:t>utt_id·offset </a:t>
            </a:r>
            <a:r>
              <a:rPr lang="ko-KR" altLang="en-US" sz="1600">
                <a:solidFill>
                  <a:srgbClr val="222A34"/>
                </a:solidFill>
                <a:latin typeface="Malgun Gothic" panose="020B0503020000020004" pitchFamily="50" charset="-127"/>
              </a:rPr>
              <a:t>보존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7540C7C2-6DFC-DAF4-6CD7-6E064F0EE0E4}"/>
              </a:ext>
            </a:extLst>
          </p:cNvPr>
          <p:cNvSpPr/>
          <p:nvPr/>
        </p:nvSpPr>
        <p:spPr>
          <a:xfrm>
            <a:off x="4775200" y="3771900"/>
            <a:ext cx="1117600" cy="317500"/>
          </a:xfrm>
          <a:prstGeom prst="roundRect">
            <a:avLst/>
          </a:prstGeom>
          <a:solidFill>
            <a:srgbClr val="26436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4959D0-B890-02F9-1E13-D5CFAE05DB9C}"/>
              </a:ext>
            </a:extLst>
          </p:cNvPr>
          <p:cNvSpPr txBox="1"/>
          <p:nvPr/>
        </p:nvSpPr>
        <p:spPr>
          <a:xfrm>
            <a:off x="4775200" y="3784600"/>
            <a:ext cx="1117600" cy="2921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ko-KR" altLang="en-US" sz="1100" b="1">
                <a:solidFill>
                  <a:srgbClr val="FFFFFF"/>
                </a:solidFill>
                <a:latin typeface="Malgun Gothic" panose="020B0503020000020004" pitchFamily="50" charset="-127"/>
              </a:rPr>
              <a:t>선별 실행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330C3064-73B5-A4A3-4EC3-8545AEF62D9F}"/>
              </a:ext>
            </a:extLst>
          </p:cNvPr>
          <p:cNvSpPr/>
          <p:nvPr/>
        </p:nvSpPr>
        <p:spPr>
          <a:xfrm>
            <a:off x="8204200" y="1968500"/>
            <a:ext cx="3200400" cy="238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1BB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CA53C5B-68EB-9C5E-30B1-16BD79F28F55}"/>
              </a:ext>
            </a:extLst>
          </p:cNvPr>
          <p:cNvSpPr/>
          <p:nvPr/>
        </p:nvSpPr>
        <p:spPr>
          <a:xfrm>
            <a:off x="8204200" y="1968500"/>
            <a:ext cx="3200400" cy="127000"/>
          </a:xfrm>
          <a:prstGeom prst="rect">
            <a:avLst/>
          </a:prstGeom>
          <a:solidFill>
            <a:srgbClr val="E0AE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C14D19B-B5C1-3F16-6139-2CC6D794130D}"/>
              </a:ext>
            </a:extLst>
          </p:cNvPr>
          <p:cNvSpPr txBox="1"/>
          <p:nvPr/>
        </p:nvSpPr>
        <p:spPr>
          <a:xfrm>
            <a:off x="8483600" y="2298700"/>
            <a:ext cx="2667000" cy="368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2100" b="1">
                <a:solidFill>
                  <a:srgbClr val="E0AE47"/>
                </a:solidFill>
                <a:latin typeface="Malgun Gothic" panose="020B0503020000020004" pitchFamily="50" charset="-127"/>
              </a:rPr>
              <a:t>wav2vec2 phone</a:t>
            </a:r>
            <a:endParaRPr lang="ko-KR" altLang="en-US" sz="2100" b="1">
              <a:solidFill>
                <a:srgbClr val="E0AE47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AC61E1A-4225-2C4B-7E55-36A0EA3189F7}"/>
              </a:ext>
            </a:extLst>
          </p:cNvPr>
          <p:cNvSpPr txBox="1"/>
          <p:nvPr/>
        </p:nvSpPr>
        <p:spPr>
          <a:xfrm>
            <a:off x="8483600" y="2895600"/>
            <a:ext cx="2667000" cy="736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600">
                <a:solidFill>
                  <a:srgbClr val="222A34"/>
                </a:solidFill>
                <a:latin typeface="Malgun Gothic" panose="020B0503020000020004" pitchFamily="50" charset="-127"/>
              </a:rPr>
              <a:t>실제 음성 기반 보조 </a:t>
            </a:r>
            <a:r>
              <a:rPr lang="en-US" altLang="ko-KR" sz="1600">
                <a:solidFill>
                  <a:srgbClr val="222A34"/>
                </a:solidFill>
                <a:latin typeface="Malgun Gothic" panose="020B0503020000020004" pitchFamily="50" charset="-127"/>
              </a:rPr>
              <a:t>phone</a:t>
            </a:r>
          </a:p>
          <a:p>
            <a:r>
              <a:rPr lang="en-US" altLang="ko-KR" sz="1600">
                <a:solidFill>
                  <a:srgbClr val="222A34"/>
                </a:solidFill>
                <a:latin typeface="Malgun Gothic" panose="020B0503020000020004" pitchFamily="50" charset="-127"/>
              </a:rPr>
              <a:t>MFA </a:t>
            </a:r>
            <a:r>
              <a:rPr lang="ko-KR" altLang="en-US" sz="1600">
                <a:solidFill>
                  <a:srgbClr val="222A34"/>
                </a:solidFill>
                <a:latin typeface="Malgun Gothic" panose="020B0503020000020004" pitchFamily="50" charset="-127"/>
              </a:rPr>
              <a:t>열을 덮어쓰지 않음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D877E2E6-73EC-CBA3-3BAB-1DC4484124A7}"/>
              </a:ext>
            </a:extLst>
          </p:cNvPr>
          <p:cNvSpPr/>
          <p:nvPr/>
        </p:nvSpPr>
        <p:spPr>
          <a:xfrm>
            <a:off x="8483600" y="3771900"/>
            <a:ext cx="1117600" cy="317500"/>
          </a:xfrm>
          <a:prstGeom prst="roundRect">
            <a:avLst/>
          </a:prstGeom>
          <a:solidFill>
            <a:srgbClr val="E0AE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010F678-4611-629D-724A-702F479382B2}"/>
              </a:ext>
            </a:extLst>
          </p:cNvPr>
          <p:cNvSpPr txBox="1"/>
          <p:nvPr/>
        </p:nvSpPr>
        <p:spPr>
          <a:xfrm>
            <a:off x="8483600" y="3784600"/>
            <a:ext cx="1117600" cy="2921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ko-KR" altLang="en-US" sz="1100" b="1">
                <a:solidFill>
                  <a:srgbClr val="FFFFFF"/>
                </a:solidFill>
                <a:latin typeface="Malgun Gothic" panose="020B0503020000020004" pitchFamily="50" charset="-127"/>
              </a:rPr>
              <a:t>선별 실행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A5A6E917-4FF6-EF26-0211-605F1C8B6937}"/>
              </a:ext>
            </a:extLst>
          </p:cNvPr>
          <p:cNvSpPr/>
          <p:nvPr/>
        </p:nvSpPr>
        <p:spPr>
          <a:xfrm>
            <a:off x="787400" y="4737100"/>
            <a:ext cx="10617200" cy="914400"/>
          </a:xfrm>
          <a:prstGeom prst="roundRect">
            <a:avLst/>
          </a:prstGeom>
          <a:solidFill>
            <a:srgbClr val="1B324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8ABA72F-C7E9-F10B-9377-26DBB7A7D91E}"/>
              </a:ext>
            </a:extLst>
          </p:cNvPr>
          <p:cNvSpPr txBox="1"/>
          <p:nvPr/>
        </p:nvSpPr>
        <p:spPr>
          <a:xfrm>
            <a:off x="1066800" y="4991100"/>
            <a:ext cx="18034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300" b="1">
                <a:solidFill>
                  <a:srgbClr val="48A5A5"/>
                </a:solidFill>
                <a:latin typeface="Malgun Gothic" panose="020B0503020000020004" pitchFamily="50" charset="-127"/>
              </a:rPr>
              <a:t>공통 </a:t>
            </a:r>
            <a:r>
              <a:rPr lang="en-US" altLang="ko-KR" sz="1300" b="1">
                <a:solidFill>
                  <a:srgbClr val="48A5A5"/>
                </a:solidFill>
                <a:latin typeface="Malgun Gothic" panose="020B0503020000020004" pitchFamily="50" charset="-127"/>
              </a:rPr>
              <a:t>join key</a:t>
            </a:r>
            <a:endParaRPr lang="ko-KR" altLang="en-US" sz="1300" b="1">
              <a:solidFill>
                <a:srgbClr val="48A5A5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B850E4A-03FC-CED3-225C-0403EFBE3B36}"/>
              </a:ext>
            </a:extLst>
          </p:cNvPr>
          <p:cNvSpPr txBox="1"/>
          <p:nvPr/>
        </p:nvSpPr>
        <p:spPr>
          <a:xfrm>
            <a:off x="2946400" y="4851400"/>
            <a:ext cx="80010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700" b="1">
                <a:solidFill>
                  <a:srgbClr val="FFFFFF"/>
                </a:solidFill>
                <a:latin typeface="Malgun Gothic" panose="020B0503020000020004" pitchFamily="50" charset="-127"/>
              </a:rPr>
              <a:t>utt_id + </a:t>
            </a:r>
            <a:r>
              <a:rPr lang="ko-KR" altLang="en-US" sz="1700" b="1">
                <a:solidFill>
                  <a:srgbClr val="FFFFFF"/>
                </a:solidFill>
                <a:latin typeface="Malgun Gothic" panose="020B0503020000020004" pitchFamily="50" charset="-127"/>
              </a:rPr>
              <a:t>원본 시간 </a:t>
            </a:r>
            <a:r>
              <a:rPr lang="en-US" altLang="ko-KR" sz="1700" b="1">
                <a:solidFill>
                  <a:srgbClr val="FFFFFF"/>
                </a:solidFill>
                <a:latin typeface="Malgun Gothic" panose="020B0503020000020004" pitchFamily="50" charset="-127"/>
              </a:rPr>
              <a:t>+ </a:t>
            </a:r>
            <a:r>
              <a:rPr lang="ko-KR" altLang="en-US" sz="1700" b="1">
                <a:solidFill>
                  <a:srgbClr val="FFFFFF"/>
                </a:solidFill>
                <a:latin typeface="Malgun Gothic" panose="020B0503020000020004" pitchFamily="50" charset="-127"/>
              </a:rPr>
              <a:t>이어붙인 </a:t>
            </a:r>
            <a:r>
              <a:rPr lang="en-US" altLang="ko-KR" sz="1700" b="1">
                <a:solidFill>
                  <a:srgbClr val="FFFFFF"/>
                </a:solidFill>
                <a:latin typeface="Malgun Gothic" panose="020B0503020000020004" pitchFamily="50" charset="-127"/>
              </a:rPr>
              <a:t>offset + </a:t>
            </a:r>
            <a:r>
              <a:rPr lang="ko-KR" altLang="en-US" sz="1700" b="1">
                <a:solidFill>
                  <a:srgbClr val="FFFFFF"/>
                </a:solidFill>
                <a:latin typeface="Malgun Gothic" panose="020B0503020000020004" pitchFamily="50" charset="-127"/>
              </a:rPr>
              <a:t>분석 버전 → 어떤 보조값도 원자료와 분리해 재현</a:t>
            </a:r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F790002F-B6F4-3209-6193-00AB31E56996}"/>
              </a:ext>
            </a:extLst>
          </p:cNvPr>
          <p:cNvCxnSpPr/>
          <p:nvPr/>
        </p:nvCxnSpPr>
        <p:spPr>
          <a:xfrm>
            <a:off x="685800" y="6451600"/>
            <a:ext cx="10820400" cy="0"/>
          </a:xfrm>
          <a:prstGeom prst="line">
            <a:avLst/>
          </a:prstGeom>
          <a:ln w="7620">
            <a:solidFill>
              <a:srgbClr val="B1BB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0687109B-D55A-B504-78EC-C48ED0B320EC}"/>
              </a:ext>
            </a:extLst>
          </p:cNvPr>
          <p:cNvSpPr txBox="1"/>
          <p:nvPr/>
        </p:nvSpPr>
        <p:spPr>
          <a:xfrm>
            <a:off x="685800" y="6515100"/>
            <a:ext cx="6350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>
                <a:solidFill>
                  <a:srgbClr val="636D77"/>
                </a:solidFill>
                <a:latin typeface="Malgun Gothic" panose="020B0503020000020004" pitchFamily="50" charset="-127"/>
              </a:rPr>
              <a:t>2026 </a:t>
            </a:r>
            <a:r>
              <a:rPr lang="ko-KR" altLang="en-US" sz="900">
                <a:solidFill>
                  <a:srgbClr val="636D77"/>
                </a:solidFill>
                <a:latin typeface="Malgun Gothic" panose="020B0503020000020004" pitchFamily="50" charset="-127"/>
              </a:rPr>
              <a:t>여름 연구 </a:t>
            </a:r>
            <a:r>
              <a:rPr lang="en-US" altLang="ko-KR" sz="900">
                <a:solidFill>
                  <a:srgbClr val="636D77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900">
                <a:solidFill>
                  <a:srgbClr val="636D77"/>
                </a:solidFill>
                <a:latin typeface="Malgun Gothic" panose="020B0503020000020004" pitchFamily="50" charset="-127"/>
              </a:rPr>
              <a:t>전수 </a:t>
            </a:r>
            <a:r>
              <a:rPr lang="en-US" altLang="ko-KR" sz="900">
                <a:solidFill>
                  <a:srgbClr val="636D77"/>
                </a:solidFill>
                <a:latin typeface="Malgun Gothic" panose="020B0503020000020004" pitchFamily="50" charset="-127"/>
              </a:rPr>
              <a:t>MFA </a:t>
            </a:r>
            <a:r>
              <a:rPr lang="ko-KR" altLang="en-US" sz="900">
                <a:solidFill>
                  <a:srgbClr val="636D77"/>
                </a:solidFill>
                <a:latin typeface="Malgun Gothic" panose="020B0503020000020004" pitchFamily="50" charset="-127"/>
              </a:rPr>
              <a:t>인프라 최종 점검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CC03D8E-6028-6C0F-882C-61911B372C9C}"/>
              </a:ext>
            </a:extLst>
          </p:cNvPr>
          <p:cNvSpPr txBox="1"/>
          <p:nvPr/>
        </p:nvSpPr>
        <p:spPr>
          <a:xfrm>
            <a:off x="10972800" y="6502400"/>
            <a:ext cx="5334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900" b="1">
                <a:solidFill>
                  <a:srgbClr val="636D77"/>
                </a:solidFill>
                <a:latin typeface="Malgun Gothic" panose="020B0503020000020004" pitchFamily="50" charset="-127"/>
              </a:rPr>
              <a:t>10</a:t>
            </a:r>
            <a:endParaRPr lang="ko-KR" altLang="en-US" sz="900" b="1">
              <a:solidFill>
                <a:srgbClr val="636D77"/>
              </a:solidFill>
              <a:latin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380335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A2140B5-7D57-1823-ED22-E1557BA6E560}"/>
              </a:ext>
            </a:extLst>
          </p:cNvPr>
          <p:cNvSpPr txBox="1"/>
          <p:nvPr/>
        </p:nvSpPr>
        <p:spPr>
          <a:xfrm>
            <a:off x="685800" y="317500"/>
            <a:ext cx="3556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100" b="1">
                <a:solidFill>
                  <a:srgbClr val="1B7E84"/>
                </a:solidFill>
                <a:latin typeface="Malgun Gothic" panose="020B0503020000020004" pitchFamily="50" charset="-127"/>
              </a:rPr>
              <a:t>10 · </a:t>
            </a:r>
            <a:r>
              <a:rPr lang="ko-KR" altLang="en-US" sz="1100" b="1">
                <a:solidFill>
                  <a:srgbClr val="1B7E84"/>
                </a:solidFill>
                <a:latin typeface="Malgun Gothic" panose="020B0503020000020004" pitchFamily="50" charset="-127"/>
              </a:rPr>
              <a:t>이 인프라로 가능해지는 연구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8B374C-42E4-4AA1-6790-C50F40ED222A}"/>
              </a:ext>
            </a:extLst>
          </p:cNvPr>
          <p:cNvSpPr txBox="1"/>
          <p:nvPr/>
        </p:nvSpPr>
        <p:spPr>
          <a:xfrm>
            <a:off x="685800" y="622300"/>
            <a:ext cx="108204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2900" b="1">
                <a:solidFill>
                  <a:srgbClr val="1B324D"/>
                </a:solidFill>
                <a:latin typeface="Malgun Gothic" panose="020B0503020000020004" pitchFamily="50" charset="-127"/>
              </a:rPr>
              <a:t>현상 판정은 뒤에서</a:t>
            </a:r>
            <a:r>
              <a:rPr lang="en-US" altLang="ko-KR" sz="2900" b="1">
                <a:solidFill>
                  <a:srgbClr val="1B324D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2900" b="1">
                <a:solidFill>
                  <a:srgbClr val="1B324D"/>
                </a:solidFill>
                <a:latin typeface="Malgun Gothic" panose="020B0503020000020004" pitchFamily="50" charset="-127"/>
              </a:rPr>
              <a:t>후보 공간은 앞에서 정교하게 만든다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AFC7C95-DC3C-024B-785B-104B03FB46DD}"/>
              </a:ext>
            </a:extLst>
          </p:cNvPr>
          <p:cNvSpPr/>
          <p:nvPr/>
        </p:nvSpPr>
        <p:spPr>
          <a:xfrm>
            <a:off x="685800" y="1282700"/>
            <a:ext cx="736600" cy="50800"/>
          </a:xfrm>
          <a:prstGeom prst="rect">
            <a:avLst/>
          </a:prstGeom>
          <a:solidFill>
            <a:srgbClr val="CD5C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59151A-C650-DC22-E594-54851B9BCDEF}"/>
              </a:ext>
            </a:extLst>
          </p:cNvPr>
          <p:cNvSpPr txBox="1"/>
          <p:nvPr/>
        </p:nvSpPr>
        <p:spPr>
          <a:xfrm>
            <a:off x="800100" y="1765300"/>
            <a:ext cx="2413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900" b="1">
                <a:solidFill>
                  <a:srgbClr val="1B7E84"/>
                </a:solidFill>
                <a:latin typeface="Malgun Gothic" panose="020B0503020000020004" pitchFamily="50" charset="-127"/>
              </a:rPr>
              <a:t>후보 규칙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A1277D-5D91-A381-F7E9-8B50D3357400}"/>
              </a:ext>
            </a:extLst>
          </p:cNvPr>
          <p:cNvSpPr txBox="1"/>
          <p:nvPr/>
        </p:nvSpPr>
        <p:spPr>
          <a:xfrm>
            <a:off x="800100" y="2235200"/>
            <a:ext cx="10541000" cy="393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b="1">
                <a:solidFill>
                  <a:srgbClr val="1B324D"/>
                </a:solidFill>
                <a:latin typeface="Malgun Gothic" panose="020B0503020000020004" pitchFamily="50" charset="-127"/>
              </a:rPr>
              <a:t>형태소</a:t>
            </a:r>
            <a:r>
              <a:rPr lang="en-US" altLang="ko-KR" b="1">
                <a:solidFill>
                  <a:srgbClr val="1B324D"/>
                </a:solidFill>
                <a:latin typeface="Malgun Gothic" panose="020B0503020000020004" pitchFamily="50" charset="-127"/>
              </a:rPr>
              <a:t>/POS + </a:t>
            </a:r>
            <a:r>
              <a:rPr lang="ko-KR" altLang="en-US" b="1">
                <a:solidFill>
                  <a:srgbClr val="1B324D"/>
                </a:solidFill>
                <a:latin typeface="Malgun Gothic" panose="020B0503020000020004" pitchFamily="50" charset="-127"/>
              </a:rPr>
              <a:t>어절 위치 </a:t>
            </a:r>
            <a:r>
              <a:rPr lang="en-US" altLang="ko-KR" b="1">
                <a:solidFill>
                  <a:srgbClr val="1B324D"/>
                </a:solidFill>
                <a:latin typeface="Malgun Gothic" panose="020B0503020000020004" pitchFamily="50" charset="-127"/>
              </a:rPr>
              <a:t>+ </a:t>
            </a:r>
            <a:r>
              <a:rPr lang="ko-KR" altLang="en-US" b="1">
                <a:solidFill>
                  <a:srgbClr val="1B324D"/>
                </a:solidFill>
                <a:latin typeface="Malgun Gothic" panose="020B0503020000020004" pitchFamily="50" charset="-127"/>
              </a:rPr>
              <a:t>철자 </a:t>
            </a:r>
            <a:r>
              <a:rPr lang="en-US" altLang="ko-KR" b="1">
                <a:solidFill>
                  <a:srgbClr val="1B324D"/>
                </a:solidFill>
                <a:latin typeface="Malgun Gothic" panose="020B0503020000020004" pitchFamily="50" charset="-127"/>
              </a:rPr>
              <a:t>Roman + </a:t>
            </a:r>
            <a:r>
              <a:rPr lang="ko-KR" altLang="en-US" b="1">
                <a:solidFill>
                  <a:srgbClr val="1B324D"/>
                </a:solidFill>
                <a:latin typeface="Malgun Gothic" panose="020B0503020000020004" pitchFamily="50" charset="-127"/>
              </a:rPr>
              <a:t>인접 분절 </a:t>
            </a:r>
            <a:r>
              <a:rPr lang="en-US" altLang="ko-KR" b="1">
                <a:solidFill>
                  <a:srgbClr val="1B324D"/>
                </a:solidFill>
                <a:latin typeface="Malgun Gothic" panose="020B0503020000020004" pitchFamily="50" charset="-127"/>
              </a:rPr>
              <a:t>+ </a:t>
            </a:r>
            <a:r>
              <a:rPr lang="ko-KR" altLang="en-US" b="1">
                <a:solidFill>
                  <a:srgbClr val="1B324D"/>
                </a:solidFill>
                <a:latin typeface="Malgun Gothic" panose="020B0503020000020004" pitchFamily="50" charset="-127"/>
              </a:rPr>
              <a:t>화자</a:t>
            </a:r>
            <a:r>
              <a:rPr lang="en-US" altLang="ko-KR" b="1">
                <a:solidFill>
                  <a:srgbClr val="1B324D"/>
                </a:solidFill>
                <a:latin typeface="Malgun Gothic" panose="020B0503020000020004" pitchFamily="50" charset="-127"/>
              </a:rPr>
              <a:t>/</a:t>
            </a:r>
            <a:r>
              <a:rPr lang="ko-KR" altLang="en-US" b="1">
                <a:solidFill>
                  <a:srgbClr val="1B324D"/>
                </a:solidFill>
                <a:latin typeface="Malgun Gothic" panose="020B0503020000020004" pitchFamily="50" charset="-127"/>
              </a:rPr>
              <a:t>대화 메타데이터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F5B5B233-3D94-161C-D606-B92140422532}"/>
              </a:ext>
            </a:extLst>
          </p:cNvPr>
          <p:cNvCxnSpPr/>
          <p:nvPr/>
        </p:nvCxnSpPr>
        <p:spPr>
          <a:xfrm>
            <a:off x="800100" y="2794000"/>
            <a:ext cx="10541000" cy="0"/>
          </a:xfrm>
          <a:prstGeom prst="line">
            <a:avLst/>
          </a:prstGeom>
          <a:ln w="12700">
            <a:solidFill>
              <a:srgbClr val="B1BB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1EAF25E-935E-B123-7949-5EB80DE9AD4C}"/>
              </a:ext>
            </a:extLst>
          </p:cNvPr>
          <p:cNvSpPr txBox="1"/>
          <p:nvPr/>
        </p:nvSpPr>
        <p:spPr>
          <a:xfrm>
            <a:off x="800100" y="3124200"/>
            <a:ext cx="4826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b="1">
                <a:solidFill>
                  <a:srgbClr val="CD5C46"/>
                </a:solidFill>
                <a:latin typeface="Malgun Gothic" panose="020B0503020000020004" pitchFamily="50" charset="-127"/>
              </a:rPr>
              <a:t>01</a:t>
            </a:r>
            <a:endParaRPr lang="ko-KR" altLang="en-US" b="1">
              <a:solidFill>
                <a:srgbClr val="CD5C46"/>
              </a:solidFill>
              <a:latin typeface="Malgun Gothic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4913F5-A376-E2FD-B4B5-EBF10FA065A5}"/>
              </a:ext>
            </a:extLst>
          </p:cNvPr>
          <p:cNvSpPr txBox="1"/>
          <p:nvPr/>
        </p:nvSpPr>
        <p:spPr>
          <a:xfrm>
            <a:off x="1422400" y="3111500"/>
            <a:ext cx="2032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700" b="1">
                <a:solidFill>
                  <a:srgbClr val="1B324D"/>
                </a:solidFill>
                <a:latin typeface="Malgun Gothic" panose="020B0503020000020004" pitchFamily="50" charset="-127"/>
              </a:rPr>
              <a:t>ㄴ 삽입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4A4AE7-7480-BFAD-EDDB-AAF5EED6516C}"/>
              </a:ext>
            </a:extLst>
          </p:cNvPr>
          <p:cNvSpPr txBox="1"/>
          <p:nvPr/>
        </p:nvSpPr>
        <p:spPr>
          <a:xfrm>
            <a:off x="1422400" y="3492500"/>
            <a:ext cx="4064000" cy="495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300">
                <a:solidFill>
                  <a:srgbClr val="636D77"/>
                </a:solidFill>
                <a:latin typeface="Malgun Gothic" panose="020B0503020000020004" pitchFamily="50" charset="-127"/>
              </a:rPr>
              <a:t>표기</a:t>
            </a:r>
            <a:r>
              <a:rPr lang="en-US" altLang="ko-KR" sz="1300">
                <a:solidFill>
                  <a:srgbClr val="636D77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1300">
                <a:solidFill>
                  <a:srgbClr val="636D77"/>
                </a:solidFill>
                <a:latin typeface="Malgun Gothic" panose="020B0503020000020004" pitchFamily="50" charset="-127"/>
              </a:rPr>
              <a:t>형태소 환경으로 후보 추출 → 음성에서 실현 판정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0B6C0A4-FDBB-067F-1BA7-2F0473E8430C}"/>
              </a:ext>
            </a:extLst>
          </p:cNvPr>
          <p:cNvSpPr txBox="1"/>
          <p:nvPr/>
        </p:nvSpPr>
        <p:spPr>
          <a:xfrm>
            <a:off x="6134100" y="3124200"/>
            <a:ext cx="4826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b="1">
                <a:solidFill>
                  <a:srgbClr val="CD5C46"/>
                </a:solidFill>
                <a:latin typeface="Malgun Gothic" panose="020B0503020000020004" pitchFamily="50" charset="-127"/>
              </a:rPr>
              <a:t>02</a:t>
            </a:r>
            <a:endParaRPr lang="ko-KR" altLang="en-US" b="1">
              <a:solidFill>
                <a:srgbClr val="CD5C46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CCBBDB4-7B5F-1BA3-3077-5198FCDF2A50}"/>
              </a:ext>
            </a:extLst>
          </p:cNvPr>
          <p:cNvSpPr txBox="1"/>
          <p:nvPr/>
        </p:nvSpPr>
        <p:spPr>
          <a:xfrm>
            <a:off x="6756400" y="3111500"/>
            <a:ext cx="2032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700" b="1">
                <a:solidFill>
                  <a:srgbClr val="1B324D"/>
                </a:solidFill>
                <a:latin typeface="Malgun Gothic" panose="020B0503020000020004" pitchFamily="50" charset="-127"/>
              </a:rPr>
              <a:t>경계 음운현상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E7E3518-30F2-A304-B91A-FC0127E40438}"/>
              </a:ext>
            </a:extLst>
          </p:cNvPr>
          <p:cNvSpPr txBox="1"/>
          <p:nvPr/>
        </p:nvSpPr>
        <p:spPr>
          <a:xfrm>
            <a:off x="6756400" y="3492500"/>
            <a:ext cx="4064000" cy="495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300">
                <a:solidFill>
                  <a:srgbClr val="636D77"/>
                </a:solidFill>
                <a:latin typeface="Malgun Gothic" panose="020B0503020000020004" pitchFamily="50" charset="-127"/>
              </a:rPr>
              <a:t>어절</a:t>
            </a:r>
            <a:r>
              <a:rPr lang="en-US" altLang="ko-KR" sz="1300">
                <a:solidFill>
                  <a:srgbClr val="636D77"/>
                </a:solidFill>
                <a:latin typeface="Malgun Gothic" panose="020B0503020000020004" pitchFamily="50" charset="-127"/>
              </a:rPr>
              <a:t>/</a:t>
            </a:r>
            <a:r>
              <a:rPr lang="ko-KR" altLang="en-US" sz="1300">
                <a:solidFill>
                  <a:srgbClr val="636D77"/>
                </a:solidFill>
                <a:latin typeface="Malgun Gothic" panose="020B0503020000020004" pitchFamily="50" charset="-127"/>
              </a:rPr>
              <a:t>형태소 경계 양쪽 조건을 조합해 대조군 확보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4F5F440-119E-6AA7-4CCE-5567372BD623}"/>
              </a:ext>
            </a:extLst>
          </p:cNvPr>
          <p:cNvSpPr txBox="1"/>
          <p:nvPr/>
        </p:nvSpPr>
        <p:spPr>
          <a:xfrm>
            <a:off x="800100" y="4279900"/>
            <a:ext cx="4826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b="1">
                <a:solidFill>
                  <a:srgbClr val="CD5C46"/>
                </a:solidFill>
                <a:latin typeface="Malgun Gothic" panose="020B0503020000020004" pitchFamily="50" charset="-127"/>
              </a:rPr>
              <a:t>03</a:t>
            </a:r>
            <a:endParaRPr lang="ko-KR" altLang="en-US" b="1">
              <a:solidFill>
                <a:srgbClr val="CD5C46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43339AC-AAA1-59EA-1D1F-8091AD511AD8}"/>
              </a:ext>
            </a:extLst>
          </p:cNvPr>
          <p:cNvSpPr txBox="1"/>
          <p:nvPr/>
        </p:nvSpPr>
        <p:spPr>
          <a:xfrm>
            <a:off x="1422400" y="4267200"/>
            <a:ext cx="2032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700" b="1">
                <a:solidFill>
                  <a:srgbClr val="1B324D"/>
                </a:solidFill>
                <a:latin typeface="Malgun Gothic" panose="020B0503020000020004" pitchFamily="50" charset="-127"/>
              </a:rPr>
              <a:t>발음 변이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5180540-81DE-5EF2-88CE-36A02600E73F}"/>
              </a:ext>
            </a:extLst>
          </p:cNvPr>
          <p:cNvSpPr txBox="1"/>
          <p:nvPr/>
        </p:nvSpPr>
        <p:spPr>
          <a:xfrm>
            <a:off x="1422400" y="4648200"/>
            <a:ext cx="4064000" cy="495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300">
                <a:solidFill>
                  <a:srgbClr val="636D77"/>
                </a:solidFill>
                <a:latin typeface="Malgun Gothic" panose="020B0503020000020004" pitchFamily="50" charset="-127"/>
              </a:rPr>
              <a:t>사전</a:t>
            </a:r>
            <a:r>
              <a:rPr lang="en-US" altLang="ko-KR" sz="1300">
                <a:solidFill>
                  <a:srgbClr val="636D77"/>
                </a:solidFill>
                <a:latin typeface="Malgun Gothic" panose="020B0503020000020004" pitchFamily="50" charset="-127"/>
              </a:rPr>
              <a:t>·G2P·MFA·wav2vec2 </a:t>
            </a:r>
            <a:r>
              <a:rPr lang="ko-KR" altLang="en-US" sz="1300">
                <a:solidFill>
                  <a:srgbClr val="636D77"/>
                </a:solidFill>
                <a:latin typeface="Malgun Gothic" panose="020B0503020000020004" pitchFamily="50" charset="-127"/>
              </a:rPr>
              <a:t>차이를 후보 신호로만 사용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C0BEDF5-6EE5-BBAD-43BE-5BF9578BAB23}"/>
              </a:ext>
            </a:extLst>
          </p:cNvPr>
          <p:cNvSpPr txBox="1"/>
          <p:nvPr/>
        </p:nvSpPr>
        <p:spPr>
          <a:xfrm>
            <a:off x="6134100" y="4279900"/>
            <a:ext cx="4826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b="1">
                <a:solidFill>
                  <a:srgbClr val="CD5C46"/>
                </a:solidFill>
                <a:latin typeface="Malgun Gothic" panose="020B0503020000020004" pitchFamily="50" charset="-127"/>
              </a:rPr>
              <a:t>04</a:t>
            </a:r>
            <a:endParaRPr lang="ko-KR" altLang="en-US" b="1">
              <a:solidFill>
                <a:srgbClr val="CD5C46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B6D07B5-B4BE-5E59-657D-401B21838AB1}"/>
              </a:ext>
            </a:extLst>
          </p:cNvPr>
          <p:cNvSpPr txBox="1"/>
          <p:nvPr/>
        </p:nvSpPr>
        <p:spPr>
          <a:xfrm>
            <a:off x="6756400" y="4267200"/>
            <a:ext cx="2032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700" b="1">
                <a:solidFill>
                  <a:srgbClr val="1B324D"/>
                </a:solidFill>
                <a:latin typeface="Malgun Gothic" panose="020B0503020000020004" pitchFamily="50" charset="-127"/>
              </a:rPr>
              <a:t>운율과 변이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3CD743A-17D0-4F9F-CDAC-E4BE533EDE59}"/>
              </a:ext>
            </a:extLst>
          </p:cNvPr>
          <p:cNvSpPr txBox="1"/>
          <p:nvPr/>
        </p:nvSpPr>
        <p:spPr>
          <a:xfrm>
            <a:off x="6756400" y="4648200"/>
            <a:ext cx="4064000" cy="495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300">
                <a:solidFill>
                  <a:srgbClr val="636D77"/>
                </a:solidFill>
                <a:latin typeface="Malgun Gothic" panose="020B0503020000020004" pitchFamily="50" charset="-127"/>
              </a:rPr>
              <a:t>선별 자료에 </a:t>
            </a:r>
            <a:r>
              <a:rPr lang="en-US" altLang="ko-KR" sz="1300">
                <a:solidFill>
                  <a:srgbClr val="636D77"/>
                </a:solidFill>
                <a:latin typeface="Malgun Gothic" panose="020B0503020000020004" pitchFamily="50" charset="-127"/>
              </a:rPr>
              <a:t>KOINA</a:t>
            </a:r>
            <a:r>
              <a:rPr lang="ko-KR" altLang="en-US" sz="1300">
                <a:solidFill>
                  <a:srgbClr val="636D77"/>
                </a:solidFill>
                <a:latin typeface="Malgun Gothic" panose="020B0503020000020004" pitchFamily="50" charset="-127"/>
              </a:rPr>
              <a:t>를 붙여 경계</a:t>
            </a:r>
            <a:r>
              <a:rPr lang="en-US" altLang="ko-KR" sz="1300">
                <a:solidFill>
                  <a:srgbClr val="636D77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1300">
                <a:solidFill>
                  <a:srgbClr val="636D77"/>
                </a:solidFill>
                <a:latin typeface="Malgun Gothic" panose="020B0503020000020004" pitchFamily="50" charset="-127"/>
              </a:rPr>
              <a:t>억양과 함께 분석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CCD9A04-2261-AEC5-8DA5-C80D156BE851}"/>
              </a:ext>
            </a:extLst>
          </p:cNvPr>
          <p:cNvSpPr txBox="1"/>
          <p:nvPr/>
        </p:nvSpPr>
        <p:spPr>
          <a:xfrm>
            <a:off x="800100" y="5715000"/>
            <a:ext cx="10541000" cy="317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700" b="1">
                <a:solidFill>
                  <a:srgbClr val="CD5C46"/>
                </a:solidFill>
                <a:latin typeface="Malgun Gothic" panose="020B0503020000020004" pitchFamily="50" charset="-127"/>
              </a:rPr>
              <a:t>자동 인프라는 “어디를 볼 것인가”를 답하고</a:t>
            </a:r>
            <a:r>
              <a:rPr lang="en-US" altLang="ko-KR" sz="1700" b="1">
                <a:solidFill>
                  <a:srgbClr val="CD5C46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700" b="1">
                <a:solidFill>
                  <a:srgbClr val="CD5C46"/>
                </a:solidFill>
                <a:latin typeface="Malgun Gothic" panose="020B0503020000020004" pitchFamily="50" charset="-127"/>
              </a:rPr>
              <a:t>연구자는 “무엇이 실현되었는가”를 답한다</a:t>
            </a:r>
            <a:r>
              <a:rPr lang="en-US" altLang="ko-KR" sz="1700" b="1">
                <a:solidFill>
                  <a:srgbClr val="CD5C46"/>
                </a:solidFill>
                <a:latin typeface="Malgun Gothic" panose="020B0503020000020004" pitchFamily="50" charset="-127"/>
              </a:rPr>
              <a:t>.</a:t>
            </a:r>
            <a:endParaRPr lang="ko-KR" altLang="en-US" sz="1700" b="1">
              <a:solidFill>
                <a:srgbClr val="CD5C46"/>
              </a:solidFill>
              <a:latin typeface="Malgun Gothic" panose="020B0503020000020004" pitchFamily="50" charset="-127"/>
            </a:endParaRPr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EDB87837-218A-5BAF-4BA0-8B5E9FE5B062}"/>
              </a:ext>
            </a:extLst>
          </p:cNvPr>
          <p:cNvCxnSpPr/>
          <p:nvPr/>
        </p:nvCxnSpPr>
        <p:spPr>
          <a:xfrm>
            <a:off x="685800" y="6451600"/>
            <a:ext cx="10820400" cy="0"/>
          </a:xfrm>
          <a:prstGeom prst="line">
            <a:avLst/>
          </a:prstGeom>
          <a:ln w="7620">
            <a:solidFill>
              <a:srgbClr val="B1BB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9BDE4B27-DDAD-4DDC-CE05-49C8E7DEC61B}"/>
              </a:ext>
            </a:extLst>
          </p:cNvPr>
          <p:cNvSpPr txBox="1"/>
          <p:nvPr/>
        </p:nvSpPr>
        <p:spPr>
          <a:xfrm>
            <a:off x="685800" y="6515100"/>
            <a:ext cx="6350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>
                <a:solidFill>
                  <a:srgbClr val="636D77"/>
                </a:solidFill>
                <a:latin typeface="Malgun Gothic" panose="020B0503020000020004" pitchFamily="50" charset="-127"/>
              </a:rPr>
              <a:t>2026 </a:t>
            </a:r>
            <a:r>
              <a:rPr lang="ko-KR" altLang="en-US" sz="900">
                <a:solidFill>
                  <a:srgbClr val="636D77"/>
                </a:solidFill>
                <a:latin typeface="Malgun Gothic" panose="020B0503020000020004" pitchFamily="50" charset="-127"/>
              </a:rPr>
              <a:t>여름 연구 </a:t>
            </a:r>
            <a:r>
              <a:rPr lang="en-US" altLang="ko-KR" sz="900">
                <a:solidFill>
                  <a:srgbClr val="636D77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900">
                <a:solidFill>
                  <a:srgbClr val="636D77"/>
                </a:solidFill>
                <a:latin typeface="Malgun Gothic" panose="020B0503020000020004" pitchFamily="50" charset="-127"/>
              </a:rPr>
              <a:t>전수 </a:t>
            </a:r>
            <a:r>
              <a:rPr lang="en-US" altLang="ko-KR" sz="900">
                <a:solidFill>
                  <a:srgbClr val="636D77"/>
                </a:solidFill>
                <a:latin typeface="Malgun Gothic" panose="020B0503020000020004" pitchFamily="50" charset="-127"/>
              </a:rPr>
              <a:t>MFA </a:t>
            </a:r>
            <a:r>
              <a:rPr lang="ko-KR" altLang="en-US" sz="900">
                <a:solidFill>
                  <a:srgbClr val="636D77"/>
                </a:solidFill>
                <a:latin typeface="Malgun Gothic" panose="020B0503020000020004" pitchFamily="50" charset="-127"/>
              </a:rPr>
              <a:t>인프라 최종 점검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8B2FBBF-26A0-77F2-87F8-66A539FDCB07}"/>
              </a:ext>
            </a:extLst>
          </p:cNvPr>
          <p:cNvSpPr txBox="1"/>
          <p:nvPr/>
        </p:nvSpPr>
        <p:spPr>
          <a:xfrm>
            <a:off x="10972800" y="6502400"/>
            <a:ext cx="5334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900" b="1">
                <a:solidFill>
                  <a:srgbClr val="636D77"/>
                </a:solidFill>
                <a:latin typeface="Malgun Gothic" panose="020B0503020000020004" pitchFamily="50" charset="-127"/>
              </a:rPr>
              <a:t>11</a:t>
            </a:r>
            <a:endParaRPr lang="ko-KR" altLang="en-US" sz="900" b="1">
              <a:solidFill>
                <a:srgbClr val="636D77"/>
              </a:solidFill>
              <a:latin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664142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25F05F-81C0-EE4E-AC88-0A3F29D3110C}"/>
              </a:ext>
            </a:extLst>
          </p:cNvPr>
          <p:cNvSpPr txBox="1"/>
          <p:nvPr/>
        </p:nvSpPr>
        <p:spPr>
          <a:xfrm>
            <a:off x="685800" y="317500"/>
            <a:ext cx="3556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100" b="1">
                <a:solidFill>
                  <a:srgbClr val="1B7E84"/>
                </a:solidFill>
                <a:latin typeface="Malgun Gothic" panose="020B0503020000020004" pitchFamily="50" charset="-127"/>
              </a:rPr>
              <a:t>11 · </a:t>
            </a:r>
            <a:r>
              <a:rPr lang="ko-KR" altLang="en-US" sz="1100" b="1">
                <a:solidFill>
                  <a:srgbClr val="1B7E84"/>
                </a:solidFill>
                <a:latin typeface="Malgun Gothic" panose="020B0503020000020004" pitchFamily="50" charset="-127"/>
              </a:rPr>
              <a:t>실패 복구 설계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A34847-209F-746D-86A0-2C6D60686BE7}"/>
              </a:ext>
            </a:extLst>
          </p:cNvPr>
          <p:cNvSpPr txBox="1"/>
          <p:nvPr/>
        </p:nvSpPr>
        <p:spPr>
          <a:xfrm>
            <a:off x="685800" y="622300"/>
            <a:ext cx="108204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2900" b="1">
                <a:solidFill>
                  <a:srgbClr val="1B324D"/>
                </a:solidFill>
                <a:latin typeface="Malgun Gothic" panose="020B0503020000020004" pitchFamily="50" charset="-127"/>
              </a:rPr>
              <a:t>문제 </a:t>
            </a:r>
            <a:r>
              <a:rPr lang="en-US" altLang="ko-KR" sz="2900" b="1">
                <a:solidFill>
                  <a:srgbClr val="1B324D"/>
                </a:solidFill>
                <a:latin typeface="Malgun Gothic" panose="020B0503020000020004" pitchFamily="50" charset="-127"/>
              </a:rPr>
              <a:t>1</a:t>
            </a:r>
            <a:r>
              <a:rPr lang="ko-KR" altLang="en-US" sz="2900" b="1">
                <a:solidFill>
                  <a:srgbClr val="1B324D"/>
                </a:solidFill>
                <a:latin typeface="Malgun Gothic" panose="020B0503020000020004" pitchFamily="50" charset="-127"/>
              </a:rPr>
              <a:t>건 때문에 연도 전체를 자동 </a:t>
            </a:r>
            <a:r>
              <a:rPr lang="en-US" altLang="ko-KR" sz="2900" b="1">
                <a:solidFill>
                  <a:srgbClr val="1B324D"/>
                </a:solidFill>
                <a:latin typeface="Malgun Gothic" panose="020B0503020000020004" pitchFamily="50" charset="-127"/>
              </a:rPr>
              <a:t>--clean </a:t>
            </a:r>
            <a:r>
              <a:rPr lang="ko-KR" altLang="en-US" sz="2900" b="1">
                <a:solidFill>
                  <a:srgbClr val="1B324D"/>
                </a:solidFill>
                <a:latin typeface="Malgun Gothic" panose="020B0503020000020004" pitchFamily="50" charset="-127"/>
              </a:rPr>
              <a:t>재계산하지 않는다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CCBE036-41AF-5002-C32A-358302993367}"/>
              </a:ext>
            </a:extLst>
          </p:cNvPr>
          <p:cNvSpPr/>
          <p:nvPr/>
        </p:nvSpPr>
        <p:spPr>
          <a:xfrm>
            <a:off x="685800" y="1282700"/>
            <a:ext cx="736600" cy="50800"/>
          </a:xfrm>
          <a:prstGeom prst="rect">
            <a:avLst/>
          </a:prstGeom>
          <a:solidFill>
            <a:srgbClr val="CD5C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0FF387E3-80FF-743F-E6C6-56510C959371}"/>
              </a:ext>
            </a:extLst>
          </p:cNvPr>
          <p:cNvCxnSpPr/>
          <p:nvPr/>
        </p:nvCxnSpPr>
        <p:spPr>
          <a:xfrm>
            <a:off x="2425700" y="2971800"/>
            <a:ext cx="355600" cy="0"/>
          </a:xfrm>
          <a:prstGeom prst="line">
            <a:avLst/>
          </a:prstGeom>
          <a:ln w="25400">
            <a:solidFill>
              <a:srgbClr val="CD5C4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7C84061A-EF1E-DC73-0A7B-B0316B31A624}"/>
              </a:ext>
            </a:extLst>
          </p:cNvPr>
          <p:cNvSpPr/>
          <p:nvPr/>
        </p:nvSpPr>
        <p:spPr>
          <a:xfrm>
            <a:off x="546100" y="2133600"/>
            <a:ext cx="1879600" cy="1701800"/>
          </a:xfrm>
          <a:prstGeom prst="roundRect">
            <a:avLst/>
          </a:prstGeom>
          <a:solidFill>
            <a:srgbClr val="ECF2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0D0C5AE4-AC99-ED05-5795-F1C22F7D3096}"/>
              </a:ext>
            </a:extLst>
          </p:cNvPr>
          <p:cNvSpPr/>
          <p:nvPr/>
        </p:nvSpPr>
        <p:spPr>
          <a:xfrm>
            <a:off x="698500" y="2298700"/>
            <a:ext cx="355600" cy="355600"/>
          </a:xfrm>
          <a:prstGeom prst="roundRect">
            <a:avLst/>
          </a:prstGeom>
          <a:solidFill>
            <a:srgbClr val="1B7E8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0E854F-1811-DDF4-7573-F4022D6BF77D}"/>
              </a:ext>
            </a:extLst>
          </p:cNvPr>
          <p:cNvSpPr txBox="1"/>
          <p:nvPr/>
        </p:nvSpPr>
        <p:spPr>
          <a:xfrm>
            <a:off x="698500" y="2311400"/>
            <a:ext cx="3556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ko-KR" sz="1300" b="1">
                <a:solidFill>
                  <a:srgbClr val="FFFFFF"/>
                </a:solidFill>
                <a:latin typeface="Malgun Gothic" panose="020B0503020000020004" pitchFamily="50" charset="-127"/>
              </a:rPr>
              <a:t>1</a:t>
            </a:r>
            <a:endParaRPr lang="ko-KR" altLang="en-US" sz="13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8803BE5-87B7-3B81-5AD3-FD183AB7BE93}"/>
              </a:ext>
            </a:extLst>
          </p:cNvPr>
          <p:cNvSpPr txBox="1"/>
          <p:nvPr/>
        </p:nvSpPr>
        <p:spPr>
          <a:xfrm>
            <a:off x="698500" y="2781300"/>
            <a:ext cx="15748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500" b="1">
                <a:solidFill>
                  <a:srgbClr val="1B324D"/>
                </a:solidFill>
                <a:latin typeface="Malgun Gothic" panose="020B0503020000020004" pitchFamily="50" charset="-127"/>
              </a:rPr>
              <a:t>입력 계약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A4722F-6112-BE6F-CAE0-8936AAFAFA65}"/>
              </a:ext>
            </a:extLst>
          </p:cNvPr>
          <p:cNvSpPr txBox="1"/>
          <p:nvPr/>
        </p:nvSpPr>
        <p:spPr>
          <a:xfrm>
            <a:off x="698500" y="3200400"/>
            <a:ext cx="1574800" cy="495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200">
                <a:solidFill>
                  <a:srgbClr val="636D77"/>
                </a:solidFill>
                <a:latin typeface="Malgun Gothic" panose="020B0503020000020004" pitchFamily="50" charset="-127"/>
              </a:rPr>
              <a:t>동결 </a:t>
            </a:r>
            <a:r>
              <a:rPr lang="en-US" altLang="ko-KR" sz="1200">
                <a:solidFill>
                  <a:srgbClr val="636D77"/>
                </a:solidFill>
                <a:latin typeface="Malgun Gothic" panose="020B0503020000020004" pitchFamily="50" charset="-127"/>
              </a:rPr>
              <a:t>search master</a:t>
            </a:r>
          </a:p>
          <a:p>
            <a:pPr algn="ctr"/>
            <a:r>
              <a:rPr lang="ko-KR" altLang="en-US" sz="1200">
                <a:solidFill>
                  <a:srgbClr val="636D77"/>
                </a:solidFill>
                <a:latin typeface="Malgun Gothic" panose="020B0503020000020004" pitchFamily="50" charset="-127"/>
              </a:rPr>
              <a:t>승인 제외표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CDF25DF6-9619-4C22-68D1-915F0E271EAC}"/>
              </a:ext>
            </a:extLst>
          </p:cNvPr>
          <p:cNvCxnSpPr/>
          <p:nvPr/>
        </p:nvCxnSpPr>
        <p:spPr>
          <a:xfrm>
            <a:off x="4737100" y="2971800"/>
            <a:ext cx="355600" cy="0"/>
          </a:xfrm>
          <a:prstGeom prst="line">
            <a:avLst/>
          </a:prstGeom>
          <a:ln w="25400">
            <a:solidFill>
              <a:srgbClr val="CD5C4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E2572828-8AF4-75BF-EE77-BEF2A6D4B505}"/>
              </a:ext>
            </a:extLst>
          </p:cNvPr>
          <p:cNvSpPr/>
          <p:nvPr/>
        </p:nvSpPr>
        <p:spPr>
          <a:xfrm>
            <a:off x="2857500" y="2133600"/>
            <a:ext cx="1879600" cy="1701800"/>
          </a:xfrm>
          <a:prstGeom prst="roundRect">
            <a:avLst/>
          </a:prstGeom>
          <a:solidFill>
            <a:srgbClr val="ECF2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C4DDC714-0BB1-B1B3-82B4-AF8CFFB2D9E8}"/>
              </a:ext>
            </a:extLst>
          </p:cNvPr>
          <p:cNvSpPr/>
          <p:nvPr/>
        </p:nvSpPr>
        <p:spPr>
          <a:xfrm>
            <a:off x="3009900" y="2298700"/>
            <a:ext cx="355600" cy="355600"/>
          </a:xfrm>
          <a:prstGeom prst="roundRect">
            <a:avLst/>
          </a:prstGeom>
          <a:solidFill>
            <a:srgbClr val="1B7E8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48F264C-9973-7A4C-38B2-0E514FB4B4E5}"/>
              </a:ext>
            </a:extLst>
          </p:cNvPr>
          <p:cNvSpPr txBox="1"/>
          <p:nvPr/>
        </p:nvSpPr>
        <p:spPr>
          <a:xfrm>
            <a:off x="3009900" y="2311400"/>
            <a:ext cx="3556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ko-KR" sz="1300" b="1">
                <a:solidFill>
                  <a:srgbClr val="FFFFFF"/>
                </a:solidFill>
                <a:latin typeface="Malgun Gothic" panose="020B0503020000020004" pitchFamily="50" charset="-127"/>
              </a:rPr>
              <a:t>2</a:t>
            </a:r>
            <a:endParaRPr lang="ko-KR" altLang="en-US" sz="13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325419-C3DF-68F9-12D8-773508E57409}"/>
              </a:ext>
            </a:extLst>
          </p:cNvPr>
          <p:cNvSpPr txBox="1"/>
          <p:nvPr/>
        </p:nvSpPr>
        <p:spPr>
          <a:xfrm>
            <a:off x="3009900" y="2781300"/>
            <a:ext cx="15748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1500" b="1">
                <a:solidFill>
                  <a:srgbClr val="1B324D"/>
                </a:solidFill>
                <a:latin typeface="Malgun Gothic" panose="020B0503020000020004" pitchFamily="50" charset="-127"/>
              </a:rPr>
              <a:t>MFA DB</a:t>
            </a:r>
            <a:endParaRPr lang="ko-KR" altLang="en-US" sz="1500" b="1">
              <a:solidFill>
                <a:srgbClr val="1B324D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7735449-92B0-D755-EC03-9F18B18E21F0}"/>
              </a:ext>
            </a:extLst>
          </p:cNvPr>
          <p:cNvSpPr txBox="1"/>
          <p:nvPr/>
        </p:nvSpPr>
        <p:spPr>
          <a:xfrm>
            <a:off x="3009900" y="3200400"/>
            <a:ext cx="1574800" cy="495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1200">
                <a:solidFill>
                  <a:srgbClr val="636D77"/>
                </a:solidFill>
                <a:latin typeface="Malgun Gothic" panose="020B0503020000020004" pitchFamily="50" charset="-127"/>
              </a:rPr>
              <a:t>temp·SQLite·</a:t>
            </a:r>
            <a:r>
              <a:rPr lang="ko-KR" altLang="en-US" sz="1200">
                <a:solidFill>
                  <a:srgbClr val="636D77"/>
                </a:solidFill>
                <a:latin typeface="Malgun Gothic" panose="020B0503020000020004" pitchFamily="50" charset="-127"/>
              </a:rPr>
              <a:t>로그</a:t>
            </a:r>
          </a:p>
          <a:p>
            <a:pPr algn="ctr"/>
            <a:r>
              <a:rPr lang="ko-KR" altLang="en-US" sz="1200">
                <a:solidFill>
                  <a:srgbClr val="636D77"/>
                </a:solidFill>
                <a:latin typeface="Malgun Gothic" panose="020B0503020000020004" pitchFamily="50" charset="-127"/>
              </a:rPr>
              <a:t>그대로 보존</a:t>
            </a: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FBBF62F8-B7AE-17A8-E65B-1D3B99C08527}"/>
              </a:ext>
            </a:extLst>
          </p:cNvPr>
          <p:cNvCxnSpPr/>
          <p:nvPr/>
        </p:nvCxnSpPr>
        <p:spPr>
          <a:xfrm>
            <a:off x="7048500" y="2971800"/>
            <a:ext cx="355600" cy="0"/>
          </a:xfrm>
          <a:prstGeom prst="line">
            <a:avLst/>
          </a:prstGeom>
          <a:ln w="25400">
            <a:solidFill>
              <a:srgbClr val="CD5C4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AF183534-8DCA-0EF6-93C2-0592E7B9D8BD}"/>
              </a:ext>
            </a:extLst>
          </p:cNvPr>
          <p:cNvSpPr/>
          <p:nvPr/>
        </p:nvSpPr>
        <p:spPr>
          <a:xfrm>
            <a:off x="5168900" y="2133600"/>
            <a:ext cx="1879600" cy="1701800"/>
          </a:xfrm>
          <a:prstGeom prst="roundRect">
            <a:avLst/>
          </a:prstGeom>
          <a:solidFill>
            <a:srgbClr val="F8E8E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BA96432D-6C17-AF2A-F9D7-EB3D62C3ECF4}"/>
              </a:ext>
            </a:extLst>
          </p:cNvPr>
          <p:cNvSpPr/>
          <p:nvPr/>
        </p:nvSpPr>
        <p:spPr>
          <a:xfrm>
            <a:off x="5321300" y="2298700"/>
            <a:ext cx="355600" cy="355600"/>
          </a:xfrm>
          <a:prstGeom prst="roundRect">
            <a:avLst/>
          </a:prstGeom>
          <a:solidFill>
            <a:srgbClr val="CD5C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F4D268E-D222-D9A2-6852-BF1659EECD96}"/>
              </a:ext>
            </a:extLst>
          </p:cNvPr>
          <p:cNvSpPr txBox="1"/>
          <p:nvPr/>
        </p:nvSpPr>
        <p:spPr>
          <a:xfrm>
            <a:off x="5321300" y="2311400"/>
            <a:ext cx="3556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ko-KR" sz="1300" b="1">
                <a:solidFill>
                  <a:srgbClr val="FFFFFF"/>
                </a:solidFill>
                <a:latin typeface="Malgun Gothic" panose="020B0503020000020004" pitchFamily="50" charset="-127"/>
              </a:rPr>
              <a:t>3</a:t>
            </a:r>
            <a:endParaRPr lang="ko-KR" altLang="en-US" sz="13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AADEC96-8970-A241-5453-97E6C1C25C3C}"/>
              </a:ext>
            </a:extLst>
          </p:cNvPr>
          <p:cNvSpPr txBox="1"/>
          <p:nvPr/>
        </p:nvSpPr>
        <p:spPr>
          <a:xfrm>
            <a:off x="5321300" y="2781300"/>
            <a:ext cx="15748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1500" b="1">
                <a:solidFill>
                  <a:srgbClr val="1B324D"/>
                </a:solidFill>
                <a:latin typeface="Malgun Gothic" panose="020B0503020000020004" pitchFamily="50" charset="-127"/>
              </a:rPr>
              <a:t>direct_db_ready</a:t>
            </a:r>
            <a:endParaRPr lang="ko-KR" altLang="en-US" sz="1500" b="1">
              <a:solidFill>
                <a:srgbClr val="1B324D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B5FAC37-46BD-1870-0603-DBE88778615B}"/>
              </a:ext>
            </a:extLst>
          </p:cNvPr>
          <p:cNvSpPr txBox="1"/>
          <p:nvPr/>
        </p:nvSpPr>
        <p:spPr>
          <a:xfrm>
            <a:off x="5321300" y="3200400"/>
            <a:ext cx="1574800" cy="495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200">
                <a:solidFill>
                  <a:srgbClr val="636D77"/>
                </a:solidFill>
                <a:latin typeface="Malgun Gothic" panose="020B0503020000020004" pitchFamily="50" charset="-127"/>
              </a:rPr>
              <a:t>정렬 계산 재사용</a:t>
            </a:r>
          </a:p>
          <a:p>
            <a:pPr algn="ctr"/>
            <a:r>
              <a:rPr lang="ko-KR" altLang="en-US" sz="1200">
                <a:solidFill>
                  <a:srgbClr val="636D77"/>
                </a:solidFill>
                <a:latin typeface="Malgun Gothic" panose="020B0503020000020004" pitchFamily="50" charset="-127"/>
              </a:rPr>
              <a:t>승인 표시는 아님</a:t>
            </a: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68DE97F7-8224-7CCA-E693-AC0C635B75BC}"/>
              </a:ext>
            </a:extLst>
          </p:cNvPr>
          <p:cNvCxnSpPr/>
          <p:nvPr/>
        </p:nvCxnSpPr>
        <p:spPr>
          <a:xfrm>
            <a:off x="9359900" y="2971800"/>
            <a:ext cx="355600" cy="0"/>
          </a:xfrm>
          <a:prstGeom prst="line">
            <a:avLst/>
          </a:prstGeom>
          <a:ln w="25400">
            <a:solidFill>
              <a:srgbClr val="CD5C4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D9CF3502-738C-C718-AA28-88B25D7595E5}"/>
              </a:ext>
            </a:extLst>
          </p:cNvPr>
          <p:cNvSpPr/>
          <p:nvPr/>
        </p:nvSpPr>
        <p:spPr>
          <a:xfrm>
            <a:off x="7480300" y="2133600"/>
            <a:ext cx="1879600" cy="1701800"/>
          </a:xfrm>
          <a:prstGeom prst="roundRect">
            <a:avLst/>
          </a:prstGeom>
          <a:solidFill>
            <a:srgbClr val="ECF2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6E28D8B4-DBAA-CC43-9522-3005230FE5A0}"/>
              </a:ext>
            </a:extLst>
          </p:cNvPr>
          <p:cNvSpPr/>
          <p:nvPr/>
        </p:nvSpPr>
        <p:spPr>
          <a:xfrm>
            <a:off x="7632700" y="2298700"/>
            <a:ext cx="355600" cy="355600"/>
          </a:xfrm>
          <a:prstGeom prst="roundRect">
            <a:avLst/>
          </a:prstGeom>
          <a:solidFill>
            <a:srgbClr val="1B7E8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14C2088-A7BD-9FCE-43F3-7AF40D79631D}"/>
              </a:ext>
            </a:extLst>
          </p:cNvPr>
          <p:cNvSpPr txBox="1"/>
          <p:nvPr/>
        </p:nvSpPr>
        <p:spPr>
          <a:xfrm>
            <a:off x="7632700" y="2311400"/>
            <a:ext cx="3556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ko-KR" sz="1300" b="1">
                <a:solidFill>
                  <a:srgbClr val="FFFFFF"/>
                </a:solidFill>
                <a:latin typeface="Malgun Gothic" panose="020B0503020000020004" pitchFamily="50" charset="-127"/>
              </a:rPr>
              <a:t>4</a:t>
            </a:r>
            <a:endParaRPr lang="ko-KR" altLang="en-US" sz="13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CFFA964-0708-F822-D5B2-A55C704D7F40}"/>
              </a:ext>
            </a:extLst>
          </p:cNvPr>
          <p:cNvSpPr txBox="1"/>
          <p:nvPr/>
        </p:nvSpPr>
        <p:spPr>
          <a:xfrm>
            <a:off x="7632700" y="2781300"/>
            <a:ext cx="15748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1500" b="1">
                <a:solidFill>
                  <a:srgbClr val="1B324D"/>
                </a:solidFill>
                <a:latin typeface="Malgun Gothic" panose="020B0503020000020004" pitchFamily="50" charset="-127"/>
              </a:rPr>
              <a:t>6-tier + </a:t>
            </a:r>
            <a:r>
              <a:rPr lang="ko-KR" altLang="en-US" sz="1500" b="1">
                <a:solidFill>
                  <a:srgbClr val="1B324D"/>
                </a:solidFill>
                <a:latin typeface="Malgun Gothic" panose="020B0503020000020004" pitchFamily="50" charset="-127"/>
              </a:rPr>
              <a:t>표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E901EF0-6495-47C0-13F3-38700A8DB069}"/>
              </a:ext>
            </a:extLst>
          </p:cNvPr>
          <p:cNvSpPr txBox="1"/>
          <p:nvPr/>
        </p:nvSpPr>
        <p:spPr>
          <a:xfrm>
            <a:off x="7632700" y="3200400"/>
            <a:ext cx="1574800" cy="495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1200">
                <a:solidFill>
                  <a:srgbClr val="636D77"/>
                </a:solidFill>
                <a:latin typeface="Malgun Gothic" panose="020B0503020000020004" pitchFamily="50" charset="-127"/>
              </a:rPr>
              <a:t>.partial </a:t>
            </a:r>
            <a:r>
              <a:rPr lang="ko-KR" altLang="en-US" sz="1200">
                <a:solidFill>
                  <a:srgbClr val="636D77"/>
                </a:solidFill>
                <a:latin typeface="Malgun Gothic" panose="020B0503020000020004" pitchFamily="50" charset="-127"/>
              </a:rPr>
              <a:t>생성</a:t>
            </a:r>
          </a:p>
          <a:p>
            <a:pPr algn="ctr"/>
            <a:r>
              <a:rPr lang="en-US" altLang="ko-KR" sz="1200">
                <a:solidFill>
                  <a:srgbClr val="636D77"/>
                </a:solidFill>
                <a:latin typeface="Malgun Gothic" panose="020B0503020000020004" pitchFamily="50" charset="-127"/>
              </a:rPr>
              <a:t>QC </a:t>
            </a:r>
            <a:r>
              <a:rPr lang="ko-KR" altLang="en-US" sz="1200">
                <a:solidFill>
                  <a:srgbClr val="636D77"/>
                </a:solidFill>
                <a:latin typeface="Malgun Gothic" panose="020B0503020000020004" pitchFamily="50" charset="-127"/>
              </a:rPr>
              <a:t>후에만 승격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048ED39A-B5DB-D89C-F780-BFC7D84D3A63}"/>
              </a:ext>
            </a:extLst>
          </p:cNvPr>
          <p:cNvSpPr/>
          <p:nvPr/>
        </p:nvSpPr>
        <p:spPr>
          <a:xfrm>
            <a:off x="9791700" y="2133600"/>
            <a:ext cx="1879600" cy="1701800"/>
          </a:xfrm>
          <a:prstGeom prst="roundRect">
            <a:avLst/>
          </a:prstGeom>
          <a:solidFill>
            <a:srgbClr val="ECF2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0A2A8499-2D09-8BFD-B072-940460776721}"/>
              </a:ext>
            </a:extLst>
          </p:cNvPr>
          <p:cNvSpPr/>
          <p:nvPr/>
        </p:nvSpPr>
        <p:spPr>
          <a:xfrm>
            <a:off x="9944100" y="2298700"/>
            <a:ext cx="355600" cy="355600"/>
          </a:xfrm>
          <a:prstGeom prst="roundRect">
            <a:avLst/>
          </a:prstGeom>
          <a:solidFill>
            <a:srgbClr val="1B7E8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0667611-0B24-E8D1-CB93-229085A78F18}"/>
              </a:ext>
            </a:extLst>
          </p:cNvPr>
          <p:cNvSpPr txBox="1"/>
          <p:nvPr/>
        </p:nvSpPr>
        <p:spPr>
          <a:xfrm>
            <a:off x="9944100" y="2311400"/>
            <a:ext cx="3556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ko-KR" sz="1300" b="1">
                <a:solidFill>
                  <a:srgbClr val="FFFFFF"/>
                </a:solidFill>
                <a:latin typeface="Malgun Gothic" panose="020B0503020000020004" pitchFamily="50" charset="-127"/>
              </a:rPr>
              <a:t>5</a:t>
            </a:r>
            <a:endParaRPr lang="ko-KR" altLang="en-US" sz="13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38DF96A-1935-7202-6998-FF85405E7B1F}"/>
              </a:ext>
            </a:extLst>
          </p:cNvPr>
          <p:cNvSpPr txBox="1"/>
          <p:nvPr/>
        </p:nvSpPr>
        <p:spPr>
          <a:xfrm>
            <a:off x="9944100" y="2781300"/>
            <a:ext cx="15748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500" b="1">
                <a:solidFill>
                  <a:srgbClr val="1B324D"/>
                </a:solidFill>
                <a:latin typeface="Malgun Gothic" panose="020B0503020000020004" pitchFamily="50" charset="-127"/>
              </a:rPr>
              <a:t>연도 </a:t>
            </a:r>
            <a:r>
              <a:rPr lang="en-US" altLang="ko-KR" sz="1500" b="1">
                <a:solidFill>
                  <a:srgbClr val="1B324D"/>
                </a:solidFill>
                <a:latin typeface="Malgun Gothic" panose="020B0503020000020004" pitchFamily="50" charset="-127"/>
              </a:rPr>
              <a:t>QC</a:t>
            </a:r>
            <a:endParaRPr lang="ko-KR" altLang="en-US" sz="1500" b="1">
              <a:solidFill>
                <a:srgbClr val="1B324D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81E3D01-3BE2-E9AE-1BBB-D021A20A957B}"/>
              </a:ext>
            </a:extLst>
          </p:cNvPr>
          <p:cNvSpPr txBox="1"/>
          <p:nvPr/>
        </p:nvSpPr>
        <p:spPr>
          <a:xfrm>
            <a:off x="9944100" y="3200400"/>
            <a:ext cx="1574800" cy="495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200">
                <a:solidFill>
                  <a:srgbClr val="636D77"/>
                </a:solidFill>
                <a:latin typeface="Malgun Gothic" panose="020B0503020000020004" pitchFamily="50" charset="-127"/>
              </a:rPr>
              <a:t>독립 감사 </a:t>
            </a:r>
            <a:r>
              <a:rPr lang="en-US" altLang="ko-KR" sz="1200">
                <a:solidFill>
                  <a:srgbClr val="636D77"/>
                </a:solidFill>
                <a:latin typeface="Malgun Gothic" panose="020B0503020000020004" pitchFamily="50" charset="-127"/>
              </a:rPr>
              <a:t>+ </a:t>
            </a:r>
            <a:r>
              <a:rPr lang="ko-KR" altLang="en-US" sz="1200">
                <a:solidFill>
                  <a:srgbClr val="636D77"/>
                </a:solidFill>
                <a:latin typeface="Malgun Gothic" panose="020B0503020000020004" pitchFamily="50" charset="-127"/>
              </a:rPr>
              <a:t>표본</a:t>
            </a:r>
          </a:p>
          <a:p>
            <a:pPr algn="ctr"/>
            <a:r>
              <a:rPr lang="ko-KR" altLang="en-US" sz="1200">
                <a:solidFill>
                  <a:srgbClr val="636D77"/>
                </a:solidFill>
                <a:latin typeface="Malgun Gothic" panose="020B0503020000020004" pitchFamily="50" charset="-127"/>
              </a:rPr>
              <a:t>수동 검토 대기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9042E2BA-90BD-D561-6F0D-0636C69840A0}"/>
              </a:ext>
            </a:extLst>
          </p:cNvPr>
          <p:cNvSpPr/>
          <p:nvPr/>
        </p:nvSpPr>
        <p:spPr>
          <a:xfrm>
            <a:off x="685800" y="4343400"/>
            <a:ext cx="10820400" cy="1206500"/>
          </a:xfrm>
          <a:prstGeom prst="roundRect">
            <a:avLst/>
          </a:prstGeom>
          <a:solidFill>
            <a:srgbClr val="1B324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054BE81-EEBF-DEB5-A3A8-DA3B3843E35D}"/>
              </a:ext>
            </a:extLst>
          </p:cNvPr>
          <p:cNvSpPr txBox="1"/>
          <p:nvPr/>
        </p:nvSpPr>
        <p:spPr>
          <a:xfrm>
            <a:off x="965200" y="4597400"/>
            <a:ext cx="17526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300" b="1">
                <a:solidFill>
                  <a:srgbClr val="48A5A5"/>
                </a:solidFill>
                <a:latin typeface="Malgun Gothic" panose="020B0503020000020004" pitchFamily="50" charset="-127"/>
              </a:rPr>
              <a:t>재실행 계약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DA0E4B0-8B5B-6E6C-5596-6725030E6AA0}"/>
              </a:ext>
            </a:extLst>
          </p:cNvPr>
          <p:cNvSpPr txBox="1"/>
          <p:nvPr/>
        </p:nvSpPr>
        <p:spPr>
          <a:xfrm>
            <a:off x="965200" y="4889500"/>
            <a:ext cx="100838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700" b="1">
                <a:solidFill>
                  <a:srgbClr val="FFFFFF"/>
                </a:solidFill>
                <a:latin typeface="Malgun Gothic" panose="020B0503020000020004" pitchFamily="50" charset="-127"/>
              </a:rPr>
              <a:t>temp</a:t>
            </a:r>
            <a:r>
              <a:rPr lang="ko-KR" altLang="en-US" sz="1700" b="1">
                <a:solidFill>
                  <a:srgbClr val="FFFFFF"/>
                </a:solidFill>
                <a:latin typeface="Malgun Gothic" panose="020B0503020000020004" pitchFamily="50" charset="-127"/>
              </a:rPr>
              <a:t>가 있으면 </a:t>
            </a:r>
            <a:r>
              <a:rPr lang="en-US" altLang="ko-KR" sz="1700" b="1">
                <a:solidFill>
                  <a:srgbClr val="FFFFFF"/>
                </a:solidFill>
                <a:latin typeface="Malgun Gothic" panose="020B0503020000020004" pitchFamily="50" charset="-127"/>
              </a:rPr>
              <a:t>resume 1</a:t>
            </a:r>
            <a:r>
              <a:rPr lang="ko-KR" altLang="en-US" sz="1700" b="1">
                <a:solidFill>
                  <a:srgbClr val="FFFFFF"/>
                </a:solidFill>
                <a:latin typeface="Malgun Gothic" panose="020B0503020000020004" pitchFamily="50" charset="-127"/>
              </a:rPr>
              <a:t>회 → 실패하면 체크포인트 보존</a:t>
            </a:r>
            <a:r>
              <a:rPr lang="en-US" altLang="ko-KR" sz="1700" b="1">
                <a:solidFill>
                  <a:srgbClr val="FFFFFF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1700" b="1">
                <a:solidFill>
                  <a:srgbClr val="FFFFFF"/>
                </a:solidFill>
                <a:latin typeface="Malgun Gothic" panose="020B0503020000020004" pitchFamily="50" charset="-127"/>
              </a:rPr>
              <a:t>중단 → 원인 수정 후 같은 지점 재개</a:t>
            </a:r>
            <a:r>
              <a:rPr lang="en-US" altLang="ko-KR" sz="1700" b="1">
                <a:solidFill>
                  <a:srgbClr val="FFFFFF"/>
                </a:solidFill>
                <a:latin typeface="Malgun Gothic" panose="020B0503020000020004" pitchFamily="50" charset="-127"/>
              </a:rPr>
              <a:t>. </a:t>
            </a:r>
            <a:r>
              <a:rPr lang="ko-KR" altLang="en-US" sz="1700" b="1">
                <a:solidFill>
                  <a:srgbClr val="FFFFFF"/>
                </a:solidFill>
                <a:latin typeface="Malgun Gothic" panose="020B0503020000020004" pitchFamily="50" charset="-127"/>
              </a:rPr>
              <a:t>전체 </a:t>
            </a:r>
            <a:r>
              <a:rPr lang="en-US" altLang="ko-KR" sz="1700" b="1">
                <a:solidFill>
                  <a:srgbClr val="FFFFFF"/>
                </a:solidFill>
                <a:latin typeface="Malgun Gothic" panose="020B0503020000020004" pitchFamily="50" charset="-127"/>
              </a:rPr>
              <a:t>clean</a:t>
            </a:r>
            <a:r>
              <a:rPr lang="ko-KR" altLang="en-US" sz="1700" b="1">
                <a:solidFill>
                  <a:srgbClr val="FFFFFF"/>
                </a:solidFill>
                <a:latin typeface="Malgun Gothic" panose="020B0503020000020004" pitchFamily="50" charset="-127"/>
              </a:rPr>
              <a:t>은 연구자 명시 승인만</a:t>
            </a:r>
            <a:r>
              <a:rPr lang="en-US" altLang="ko-KR" sz="1700" b="1">
                <a:solidFill>
                  <a:srgbClr val="FFFFFF"/>
                </a:solidFill>
                <a:latin typeface="Malgun Gothic" panose="020B0503020000020004" pitchFamily="50" charset="-127"/>
              </a:rPr>
              <a:t>.</a:t>
            </a:r>
            <a:endParaRPr lang="ko-KR" altLang="en-US" sz="17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22EA9275-D886-7964-8C50-BE6FBB13D12E}"/>
              </a:ext>
            </a:extLst>
          </p:cNvPr>
          <p:cNvCxnSpPr/>
          <p:nvPr/>
        </p:nvCxnSpPr>
        <p:spPr>
          <a:xfrm>
            <a:off x="685800" y="6451600"/>
            <a:ext cx="10820400" cy="0"/>
          </a:xfrm>
          <a:prstGeom prst="line">
            <a:avLst/>
          </a:prstGeom>
          <a:ln w="7620">
            <a:solidFill>
              <a:srgbClr val="B1BB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90E6C712-C1C7-77F4-C2F6-72D1826F02D0}"/>
              </a:ext>
            </a:extLst>
          </p:cNvPr>
          <p:cNvSpPr txBox="1"/>
          <p:nvPr/>
        </p:nvSpPr>
        <p:spPr>
          <a:xfrm>
            <a:off x="685800" y="6515100"/>
            <a:ext cx="6350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>
                <a:solidFill>
                  <a:srgbClr val="636D77"/>
                </a:solidFill>
                <a:latin typeface="Malgun Gothic" panose="020B0503020000020004" pitchFamily="50" charset="-127"/>
              </a:rPr>
              <a:t>2026 </a:t>
            </a:r>
            <a:r>
              <a:rPr lang="ko-KR" altLang="en-US" sz="900">
                <a:solidFill>
                  <a:srgbClr val="636D77"/>
                </a:solidFill>
                <a:latin typeface="Malgun Gothic" panose="020B0503020000020004" pitchFamily="50" charset="-127"/>
              </a:rPr>
              <a:t>여름 연구 </a:t>
            </a:r>
            <a:r>
              <a:rPr lang="en-US" altLang="ko-KR" sz="900">
                <a:solidFill>
                  <a:srgbClr val="636D77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900">
                <a:solidFill>
                  <a:srgbClr val="636D77"/>
                </a:solidFill>
                <a:latin typeface="Malgun Gothic" panose="020B0503020000020004" pitchFamily="50" charset="-127"/>
              </a:rPr>
              <a:t>전수 </a:t>
            </a:r>
            <a:r>
              <a:rPr lang="en-US" altLang="ko-KR" sz="900">
                <a:solidFill>
                  <a:srgbClr val="636D77"/>
                </a:solidFill>
                <a:latin typeface="Malgun Gothic" panose="020B0503020000020004" pitchFamily="50" charset="-127"/>
              </a:rPr>
              <a:t>MFA </a:t>
            </a:r>
            <a:r>
              <a:rPr lang="ko-KR" altLang="en-US" sz="900">
                <a:solidFill>
                  <a:srgbClr val="636D77"/>
                </a:solidFill>
                <a:latin typeface="Malgun Gothic" panose="020B0503020000020004" pitchFamily="50" charset="-127"/>
              </a:rPr>
              <a:t>인프라 최종 점검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89FC27E-96DA-1125-01ED-AC525DE88AA0}"/>
              </a:ext>
            </a:extLst>
          </p:cNvPr>
          <p:cNvSpPr txBox="1"/>
          <p:nvPr/>
        </p:nvSpPr>
        <p:spPr>
          <a:xfrm>
            <a:off x="10972800" y="6502400"/>
            <a:ext cx="5334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900" b="1">
                <a:solidFill>
                  <a:srgbClr val="636D77"/>
                </a:solidFill>
                <a:latin typeface="Malgun Gothic" panose="020B0503020000020004" pitchFamily="50" charset="-127"/>
              </a:rPr>
              <a:t>12</a:t>
            </a:r>
            <a:endParaRPr lang="ko-KR" altLang="en-US" sz="900" b="1">
              <a:solidFill>
                <a:srgbClr val="636D77"/>
              </a:solidFill>
              <a:latin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517706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D1ED6B8-F9B3-DB3E-7FC5-73473CE870EC}"/>
              </a:ext>
            </a:extLst>
          </p:cNvPr>
          <p:cNvSpPr txBox="1"/>
          <p:nvPr/>
        </p:nvSpPr>
        <p:spPr>
          <a:xfrm>
            <a:off x="685800" y="317500"/>
            <a:ext cx="3556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100" b="1">
                <a:solidFill>
                  <a:srgbClr val="1B7E84"/>
                </a:solidFill>
                <a:latin typeface="Malgun Gothic" panose="020B0503020000020004" pitchFamily="50" charset="-127"/>
              </a:rPr>
              <a:t>12 · </a:t>
            </a:r>
            <a:r>
              <a:rPr lang="ko-KR" altLang="en-US" sz="1100" b="1">
                <a:solidFill>
                  <a:srgbClr val="1B7E84"/>
                </a:solidFill>
                <a:latin typeface="Malgun Gothic" panose="020B0503020000020004" pitchFamily="50" charset="-127"/>
              </a:rPr>
              <a:t>전수 직전 상태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43EA3C-77AD-FF51-AAE3-A239D9B2B0AF}"/>
              </a:ext>
            </a:extLst>
          </p:cNvPr>
          <p:cNvSpPr txBox="1"/>
          <p:nvPr/>
        </p:nvSpPr>
        <p:spPr>
          <a:xfrm>
            <a:off x="685800" y="622300"/>
            <a:ext cx="108204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2900" b="1">
                <a:solidFill>
                  <a:srgbClr val="1B324D"/>
                </a:solidFill>
                <a:latin typeface="Malgun Gothic" panose="020B0503020000020004" pitchFamily="50" charset="-127"/>
              </a:rPr>
              <a:t>2026-08-01 </a:t>
            </a:r>
            <a:r>
              <a:rPr lang="ko-KR" altLang="en-US" sz="2900" b="1">
                <a:solidFill>
                  <a:srgbClr val="1B324D"/>
                </a:solidFill>
                <a:latin typeface="Malgun Gothic" panose="020B0503020000020004" pitchFamily="50" charset="-127"/>
              </a:rPr>
              <a:t>최종 </a:t>
            </a:r>
            <a:r>
              <a:rPr lang="en-US" altLang="ko-KR" sz="2900" b="1">
                <a:solidFill>
                  <a:srgbClr val="1B324D"/>
                </a:solidFill>
                <a:latin typeface="Malgun Gothic" panose="020B0503020000020004" pitchFamily="50" charset="-127"/>
              </a:rPr>
              <a:t>preflight: NO_GO — </a:t>
            </a:r>
            <a:r>
              <a:rPr lang="ko-KR" altLang="en-US" sz="2900" b="1">
                <a:solidFill>
                  <a:srgbClr val="1B324D"/>
                </a:solidFill>
                <a:latin typeface="Malgun Gothic" panose="020B0503020000020004" pitchFamily="50" charset="-127"/>
              </a:rPr>
              <a:t>고장이 아니라 승인 대기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34E4614-E745-2D12-7795-EA6E4F710A81}"/>
              </a:ext>
            </a:extLst>
          </p:cNvPr>
          <p:cNvSpPr/>
          <p:nvPr/>
        </p:nvSpPr>
        <p:spPr>
          <a:xfrm>
            <a:off x="685800" y="1282700"/>
            <a:ext cx="736600" cy="50800"/>
          </a:xfrm>
          <a:prstGeom prst="rect">
            <a:avLst/>
          </a:prstGeom>
          <a:solidFill>
            <a:srgbClr val="CD5C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5E169B2A-0803-FA4B-3CED-E05BFF453A44}"/>
              </a:ext>
            </a:extLst>
          </p:cNvPr>
          <p:cNvSpPr/>
          <p:nvPr/>
        </p:nvSpPr>
        <p:spPr>
          <a:xfrm>
            <a:off x="685800" y="1727200"/>
            <a:ext cx="1549400" cy="533400"/>
          </a:xfrm>
          <a:prstGeom prst="roundRect">
            <a:avLst/>
          </a:prstGeom>
          <a:solidFill>
            <a:srgbClr val="B63A3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09121B-89FF-AC1E-F9E4-8AF263481DF5}"/>
              </a:ext>
            </a:extLst>
          </p:cNvPr>
          <p:cNvSpPr txBox="1"/>
          <p:nvPr/>
        </p:nvSpPr>
        <p:spPr>
          <a:xfrm>
            <a:off x="685800" y="1739900"/>
            <a:ext cx="15494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ko-KR" b="1">
                <a:solidFill>
                  <a:srgbClr val="FFFFFF"/>
                </a:solidFill>
                <a:latin typeface="Malgun Gothic" panose="020B0503020000020004" pitchFamily="50" charset="-127"/>
              </a:rPr>
              <a:t>NO_GO</a:t>
            </a:r>
            <a:endParaRPr lang="ko-KR" altLang="en-US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B1196A-A131-786A-A431-CA6BE55BC42D}"/>
              </a:ext>
            </a:extLst>
          </p:cNvPr>
          <p:cNvSpPr txBox="1"/>
          <p:nvPr/>
        </p:nvSpPr>
        <p:spPr>
          <a:xfrm>
            <a:off x="2463800" y="1841500"/>
            <a:ext cx="5461000" cy="342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b="1">
                <a:solidFill>
                  <a:srgbClr val="1B324D"/>
                </a:solidFill>
                <a:latin typeface="Malgun Gothic" panose="020B0503020000020004" pitchFamily="50" charset="-127"/>
              </a:rPr>
              <a:t>자동 실행 금지 상태를 정확히 잡아냄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41807B-0C0C-CC79-D562-A179CCF743B2}"/>
              </a:ext>
            </a:extLst>
          </p:cNvPr>
          <p:cNvSpPr txBox="1"/>
          <p:nvPr/>
        </p:nvSpPr>
        <p:spPr>
          <a:xfrm>
            <a:off x="800100" y="2667000"/>
            <a:ext cx="1016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700" b="1">
                <a:solidFill>
                  <a:srgbClr val="4C8E5B"/>
                </a:solidFill>
                <a:latin typeface="Malgun Gothic" panose="020B0503020000020004" pitchFamily="50" charset="-127"/>
              </a:rPr>
              <a:t>통과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5E0F34-D323-C3AB-D262-F08948E4D304}"/>
              </a:ext>
            </a:extLst>
          </p:cNvPr>
          <p:cNvSpPr txBox="1"/>
          <p:nvPr/>
        </p:nvSpPr>
        <p:spPr>
          <a:xfrm>
            <a:off x="800100" y="3136900"/>
            <a:ext cx="3302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600" b="1">
                <a:solidFill>
                  <a:srgbClr val="4C8E5B"/>
                </a:solidFill>
                <a:latin typeface="Malgun Gothic" panose="020B0503020000020004" pitchFamily="50" charset="-127"/>
              </a:rPr>
              <a:t>✓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9E52D1-9ED2-1E00-FDFE-B28C5D608E58}"/>
              </a:ext>
            </a:extLst>
          </p:cNvPr>
          <p:cNvSpPr txBox="1"/>
          <p:nvPr/>
        </p:nvSpPr>
        <p:spPr>
          <a:xfrm>
            <a:off x="1219200" y="3124200"/>
            <a:ext cx="4699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400">
                <a:solidFill>
                  <a:srgbClr val="222A34"/>
                </a:solidFill>
                <a:latin typeface="Malgun Gothic" panose="020B0503020000020004" pitchFamily="50" charset="-127"/>
              </a:rPr>
              <a:t>공통 </a:t>
            </a:r>
            <a:r>
              <a:rPr lang="en-US" altLang="ko-KR" sz="1400">
                <a:solidFill>
                  <a:srgbClr val="222A34"/>
                </a:solidFill>
                <a:latin typeface="Malgun Gothic" panose="020B0503020000020004" pitchFamily="50" charset="-127"/>
              </a:rPr>
              <a:t>Jamo </a:t>
            </a:r>
            <a:r>
              <a:rPr lang="ko-KR" altLang="en-US" sz="1400">
                <a:solidFill>
                  <a:srgbClr val="222A34"/>
                </a:solidFill>
                <a:latin typeface="Malgun Gothic" panose="020B0503020000020004" pitchFamily="50" charset="-127"/>
              </a:rPr>
              <a:t>사전</a:t>
            </a:r>
            <a:r>
              <a:rPr lang="en-US" altLang="ko-KR" sz="1400">
                <a:solidFill>
                  <a:srgbClr val="222A34"/>
                </a:solidFill>
                <a:latin typeface="Malgun Gothic" panose="020B0503020000020004" pitchFamily="50" charset="-127"/>
              </a:rPr>
              <a:t>·adoption SHA </a:t>
            </a:r>
            <a:r>
              <a:rPr lang="ko-KR" altLang="en-US" sz="1400">
                <a:solidFill>
                  <a:srgbClr val="222A34"/>
                </a:solidFill>
                <a:latin typeface="Malgun Gothic" panose="020B0503020000020004" pitchFamily="50" charset="-127"/>
              </a:rPr>
              <a:t>검증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A6D8B9F-D470-DA63-3E48-B1816A8AF311}"/>
              </a:ext>
            </a:extLst>
          </p:cNvPr>
          <p:cNvSpPr txBox="1"/>
          <p:nvPr/>
        </p:nvSpPr>
        <p:spPr>
          <a:xfrm>
            <a:off x="800100" y="3556000"/>
            <a:ext cx="3302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600" b="1">
                <a:solidFill>
                  <a:srgbClr val="4C8E5B"/>
                </a:solidFill>
                <a:latin typeface="Malgun Gothic" panose="020B0503020000020004" pitchFamily="50" charset="-127"/>
              </a:rPr>
              <a:t>✓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B918F07-A7F8-0458-64D7-5E6A6571A81F}"/>
              </a:ext>
            </a:extLst>
          </p:cNvPr>
          <p:cNvSpPr txBox="1"/>
          <p:nvPr/>
        </p:nvSpPr>
        <p:spPr>
          <a:xfrm>
            <a:off x="1219200" y="3543300"/>
            <a:ext cx="4699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400">
                <a:solidFill>
                  <a:srgbClr val="222A34"/>
                </a:solidFill>
                <a:latin typeface="Malgun Gothic" panose="020B0503020000020004" pitchFamily="50" charset="-127"/>
              </a:rPr>
              <a:t>D: DATA_SSD · 318.5 GiB </a:t>
            </a:r>
            <a:r>
              <a:rPr lang="ko-KR" altLang="en-US" sz="1400">
                <a:solidFill>
                  <a:srgbClr val="222A34"/>
                </a:solidFill>
                <a:latin typeface="Malgun Gothic" panose="020B0503020000020004" pitchFamily="50" charset="-127"/>
              </a:rPr>
              <a:t>여유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1992B00-F9A1-8BA0-DF97-DB84199ABF75}"/>
              </a:ext>
            </a:extLst>
          </p:cNvPr>
          <p:cNvSpPr txBox="1"/>
          <p:nvPr/>
        </p:nvSpPr>
        <p:spPr>
          <a:xfrm>
            <a:off x="800100" y="3975100"/>
            <a:ext cx="3302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600" b="1">
                <a:solidFill>
                  <a:srgbClr val="4C8E5B"/>
                </a:solidFill>
                <a:latin typeface="Malgun Gothic" panose="020B0503020000020004" pitchFamily="50" charset="-127"/>
              </a:rPr>
              <a:t>✓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9ED674-DCE8-EABD-F417-ABD1F657290F}"/>
              </a:ext>
            </a:extLst>
          </p:cNvPr>
          <p:cNvSpPr txBox="1"/>
          <p:nvPr/>
        </p:nvSpPr>
        <p:spPr>
          <a:xfrm>
            <a:off x="1219200" y="3962400"/>
            <a:ext cx="4699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400">
                <a:solidFill>
                  <a:srgbClr val="222A34"/>
                </a:solidFill>
                <a:latin typeface="Malgun Gothic" panose="020B0503020000020004" pitchFamily="50" charset="-127"/>
              </a:rPr>
              <a:t>2020–2025 </a:t>
            </a:r>
            <a:r>
              <a:rPr lang="ko-KR" altLang="en-US" sz="1400">
                <a:solidFill>
                  <a:srgbClr val="222A34"/>
                </a:solidFill>
                <a:latin typeface="Malgun Gothic" panose="020B0503020000020004" pitchFamily="50" charset="-127"/>
              </a:rPr>
              <a:t>원 세션 </a:t>
            </a:r>
            <a:r>
              <a:rPr lang="en-US" altLang="ko-KR" sz="1400">
                <a:solidFill>
                  <a:srgbClr val="222A34"/>
                </a:solidFill>
                <a:latin typeface="Malgun Gothic" panose="020B0503020000020004" pitchFamily="50" charset="-127"/>
              </a:rPr>
              <a:t>coverage </a:t>
            </a:r>
            <a:r>
              <a:rPr lang="ko-KR" altLang="en-US" sz="1400">
                <a:solidFill>
                  <a:srgbClr val="222A34"/>
                </a:solidFill>
                <a:latin typeface="Malgun Gothic" panose="020B0503020000020004" pitchFamily="50" charset="-127"/>
              </a:rPr>
              <a:t>전수 통과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9E813C1-7C37-A708-D055-9DD06A8A3B7F}"/>
              </a:ext>
            </a:extLst>
          </p:cNvPr>
          <p:cNvSpPr txBox="1"/>
          <p:nvPr/>
        </p:nvSpPr>
        <p:spPr>
          <a:xfrm>
            <a:off x="800100" y="4394200"/>
            <a:ext cx="3302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600" b="1">
                <a:solidFill>
                  <a:srgbClr val="4C8E5B"/>
                </a:solidFill>
                <a:latin typeface="Malgun Gothic" panose="020B0503020000020004" pitchFamily="50" charset="-127"/>
              </a:rPr>
              <a:t>✓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11C759D-DEC1-32D2-E581-CF706543FFE2}"/>
              </a:ext>
            </a:extLst>
          </p:cNvPr>
          <p:cNvSpPr txBox="1"/>
          <p:nvPr/>
        </p:nvSpPr>
        <p:spPr>
          <a:xfrm>
            <a:off x="1219200" y="4381500"/>
            <a:ext cx="4699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400">
                <a:solidFill>
                  <a:srgbClr val="222A34"/>
                </a:solidFill>
                <a:latin typeface="Malgun Gothic" panose="020B0503020000020004" pitchFamily="50" charset="-127"/>
              </a:rPr>
              <a:t>Python 287/287 · PowerShell 20/20</a:t>
            </a:r>
            <a:endParaRPr lang="ko-KR" altLang="en-US" sz="1400">
              <a:solidFill>
                <a:srgbClr val="222A34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C7E907-CAC2-4C53-B9B8-0DE2F2382C43}"/>
              </a:ext>
            </a:extLst>
          </p:cNvPr>
          <p:cNvSpPr txBox="1"/>
          <p:nvPr/>
        </p:nvSpPr>
        <p:spPr>
          <a:xfrm>
            <a:off x="800100" y="4813300"/>
            <a:ext cx="3302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600" b="1">
                <a:solidFill>
                  <a:srgbClr val="4C8E5B"/>
                </a:solidFill>
                <a:latin typeface="Malgun Gothic" panose="020B0503020000020004" pitchFamily="50" charset="-127"/>
              </a:rPr>
              <a:t>✓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47864AF-3D94-4C99-A50C-4F0E8E3EFEBC}"/>
              </a:ext>
            </a:extLst>
          </p:cNvPr>
          <p:cNvSpPr txBox="1"/>
          <p:nvPr/>
        </p:nvSpPr>
        <p:spPr>
          <a:xfrm>
            <a:off x="1219200" y="4800600"/>
            <a:ext cx="4699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400">
                <a:solidFill>
                  <a:srgbClr val="222A34"/>
                </a:solidFill>
                <a:latin typeface="Malgun Gothic" panose="020B0503020000020004" pitchFamily="50" charset="-127"/>
              </a:rPr>
              <a:t>live lock·stale output </a:t>
            </a:r>
            <a:r>
              <a:rPr lang="ko-KR" altLang="en-US" sz="1400">
                <a:solidFill>
                  <a:srgbClr val="222A34"/>
                </a:solidFill>
                <a:latin typeface="Malgun Gothic" panose="020B0503020000020004" pitchFamily="50" charset="-127"/>
              </a:rPr>
              <a:t>충돌 없음</a:t>
            </a: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36CB822F-AFA9-5EB5-A4C9-0FFE06E1CFDB}"/>
              </a:ext>
            </a:extLst>
          </p:cNvPr>
          <p:cNvCxnSpPr/>
          <p:nvPr/>
        </p:nvCxnSpPr>
        <p:spPr>
          <a:xfrm>
            <a:off x="6184900" y="2641600"/>
            <a:ext cx="0" cy="2705100"/>
          </a:xfrm>
          <a:prstGeom prst="line">
            <a:avLst/>
          </a:prstGeom>
          <a:ln w="12700">
            <a:solidFill>
              <a:srgbClr val="B1BB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61F4C37-0236-4A06-6EED-1D6D2DE801C9}"/>
              </a:ext>
            </a:extLst>
          </p:cNvPr>
          <p:cNvSpPr txBox="1"/>
          <p:nvPr/>
        </p:nvSpPr>
        <p:spPr>
          <a:xfrm>
            <a:off x="6604000" y="2667000"/>
            <a:ext cx="2286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700" b="1">
                <a:solidFill>
                  <a:srgbClr val="CD5C46"/>
                </a:solidFill>
                <a:latin typeface="Malgun Gothic" panose="020B0503020000020004" pitchFamily="50" charset="-127"/>
              </a:rPr>
              <a:t>남은 필수 승인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C3913B2-BE88-B950-1207-103D2A048C97}"/>
              </a:ext>
            </a:extLst>
          </p:cNvPr>
          <p:cNvSpPr txBox="1"/>
          <p:nvPr/>
        </p:nvSpPr>
        <p:spPr>
          <a:xfrm>
            <a:off x="6604000" y="3162300"/>
            <a:ext cx="4038600" cy="1892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600">
                <a:solidFill>
                  <a:srgbClr val="222A34"/>
                </a:solidFill>
                <a:latin typeface="Malgun Gothic" panose="020B0503020000020004" pitchFamily="50" charset="-127"/>
              </a:rPr>
              <a:t>2020–2021</a:t>
            </a:r>
          </a:p>
          <a:p>
            <a:r>
              <a:rPr lang="ko-KR" altLang="en-US" sz="1600">
                <a:solidFill>
                  <a:srgbClr val="222A34"/>
                </a:solidFill>
                <a:latin typeface="Malgun Gothic" panose="020B0503020000020004" pitchFamily="50" charset="-127"/>
              </a:rPr>
              <a:t>승인 제외 계약 없음</a:t>
            </a:r>
          </a:p>
          <a:p>
            <a:endParaRPr lang="ko-KR" altLang="en-US" sz="1600">
              <a:solidFill>
                <a:srgbClr val="222A34"/>
              </a:solidFill>
              <a:latin typeface="Malgun Gothic" panose="020B0503020000020004" pitchFamily="50" charset="-127"/>
            </a:endParaRPr>
          </a:p>
          <a:p>
            <a:r>
              <a:rPr lang="en-US" altLang="ko-KR" sz="1600">
                <a:solidFill>
                  <a:srgbClr val="222A34"/>
                </a:solidFill>
                <a:latin typeface="Malgun Gothic" panose="020B0503020000020004" pitchFamily="50" charset="-127"/>
              </a:rPr>
              <a:t>2022–2025</a:t>
            </a:r>
          </a:p>
          <a:p>
            <a:r>
              <a:rPr lang="en-US" altLang="ko-KR" sz="1600">
                <a:solidFill>
                  <a:srgbClr val="222A34"/>
                </a:solidFill>
                <a:latin typeface="Malgun Gothic" panose="020B0503020000020004" pitchFamily="50" charset="-127"/>
              </a:rPr>
              <a:t>lab </a:t>
            </a:r>
            <a:r>
              <a:rPr lang="ko-KR" altLang="en-US" sz="1600">
                <a:solidFill>
                  <a:srgbClr val="222A34"/>
                </a:solidFill>
                <a:latin typeface="Malgun Gothic" panose="020B0503020000020004" pitchFamily="50" charset="-127"/>
              </a:rPr>
              <a:t>입력 계약 생성 전</a:t>
            </a:r>
          </a:p>
          <a:p>
            <a:r>
              <a:rPr lang="ko-KR" altLang="en-US" sz="1600">
                <a:solidFill>
                  <a:srgbClr val="222A34"/>
                </a:solidFill>
                <a:latin typeface="Malgun Gothic" panose="020B0503020000020004" pitchFamily="50" charset="-127"/>
              </a:rPr>
              <a:t>→ 따라서 승인 계약도 아직 없음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B762A00-45FB-F4B9-1738-20F0BCD45F81}"/>
              </a:ext>
            </a:extLst>
          </p:cNvPr>
          <p:cNvSpPr txBox="1"/>
          <p:nvPr/>
        </p:nvSpPr>
        <p:spPr>
          <a:xfrm>
            <a:off x="6604000" y="5130800"/>
            <a:ext cx="43180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600" b="1">
                <a:solidFill>
                  <a:srgbClr val="CD5C46"/>
                </a:solidFill>
                <a:latin typeface="Malgun Gothic" panose="020B0503020000020004" pitchFamily="50" charset="-127"/>
              </a:rPr>
              <a:t>다음 단계는 </a:t>
            </a:r>
            <a:r>
              <a:rPr lang="en-US" altLang="ko-KR" sz="1600" b="1">
                <a:solidFill>
                  <a:srgbClr val="CD5C46"/>
                </a:solidFill>
                <a:latin typeface="Malgun Gothic" panose="020B0503020000020004" pitchFamily="50" charset="-127"/>
              </a:rPr>
              <a:t>MFA</a:t>
            </a:r>
            <a:r>
              <a:rPr lang="ko-KR" altLang="en-US" sz="1600" b="1">
                <a:solidFill>
                  <a:srgbClr val="CD5C46"/>
                </a:solidFill>
                <a:latin typeface="Malgun Gothic" panose="020B0503020000020004" pitchFamily="50" charset="-127"/>
              </a:rPr>
              <a:t>가 아니라 승인자료 생성이다</a:t>
            </a:r>
            <a:r>
              <a:rPr lang="en-US" altLang="ko-KR" sz="1600" b="1">
                <a:solidFill>
                  <a:srgbClr val="CD5C46"/>
                </a:solidFill>
                <a:latin typeface="Malgun Gothic" panose="020B0503020000020004" pitchFamily="50" charset="-127"/>
              </a:rPr>
              <a:t>.</a:t>
            </a:r>
            <a:endParaRPr lang="ko-KR" altLang="en-US" sz="1600" b="1">
              <a:solidFill>
                <a:srgbClr val="CD5C46"/>
              </a:solidFill>
              <a:latin typeface="Malgun Gothic" panose="020B0503020000020004" pitchFamily="50" charset="-127"/>
            </a:endParaRP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F2B11F72-D44D-0564-9F38-B825BB7053C2}"/>
              </a:ext>
            </a:extLst>
          </p:cNvPr>
          <p:cNvCxnSpPr/>
          <p:nvPr/>
        </p:nvCxnSpPr>
        <p:spPr>
          <a:xfrm>
            <a:off x="685800" y="6451600"/>
            <a:ext cx="10820400" cy="0"/>
          </a:xfrm>
          <a:prstGeom prst="line">
            <a:avLst/>
          </a:prstGeom>
          <a:ln w="7620">
            <a:solidFill>
              <a:srgbClr val="B1BB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30F006A3-4395-3234-2C16-07D14E4E5C09}"/>
              </a:ext>
            </a:extLst>
          </p:cNvPr>
          <p:cNvSpPr txBox="1"/>
          <p:nvPr/>
        </p:nvSpPr>
        <p:spPr>
          <a:xfrm>
            <a:off x="685800" y="6515100"/>
            <a:ext cx="6350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>
                <a:solidFill>
                  <a:srgbClr val="636D77"/>
                </a:solidFill>
                <a:latin typeface="Malgun Gothic" panose="020B0503020000020004" pitchFamily="50" charset="-127"/>
              </a:rPr>
              <a:t>2026 </a:t>
            </a:r>
            <a:r>
              <a:rPr lang="ko-KR" altLang="en-US" sz="900">
                <a:solidFill>
                  <a:srgbClr val="636D77"/>
                </a:solidFill>
                <a:latin typeface="Malgun Gothic" panose="020B0503020000020004" pitchFamily="50" charset="-127"/>
              </a:rPr>
              <a:t>여름 연구 </a:t>
            </a:r>
            <a:r>
              <a:rPr lang="en-US" altLang="ko-KR" sz="900">
                <a:solidFill>
                  <a:srgbClr val="636D77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900">
                <a:solidFill>
                  <a:srgbClr val="636D77"/>
                </a:solidFill>
                <a:latin typeface="Malgun Gothic" panose="020B0503020000020004" pitchFamily="50" charset="-127"/>
              </a:rPr>
              <a:t>전수 </a:t>
            </a:r>
            <a:r>
              <a:rPr lang="en-US" altLang="ko-KR" sz="900">
                <a:solidFill>
                  <a:srgbClr val="636D77"/>
                </a:solidFill>
                <a:latin typeface="Malgun Gothic" panose="020B0503020000020004" pitchFamily="50" charset="-127"/>
              </a:rPr>
              <a:t>MFA </a:t>
            </a:r>
            <a:r>
              <a:rPr lang="ko-KR" altLang="en-US" sz="900">
                <a:solidFill>
                  <a:srgbClr val="636D77"/>
                </a:solidFill>
                <a:latin typeface="Malgun Gothic" panose="020B0503020000020004" pitchFamily="50" charset="-127"/>
              </a:rPr>
              <a:t>인프라 최종 점검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40C5144-179F-7C46-487C-37DAD832E052}"/>
              </a:ext>
            </a:extLst>
          </p:cNvPr>
          <p:cNvSpPr txBox="1"/>
          <p:nvPr/>
        </p:nvSpPr>
        <p:spPr>
          <a:xfrm>
            <a:off x="10972800" y="6502400"/>
            <a:ext cx="5334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900" b="1">
                <a:solidFill>
                  <a:srgbClr val="636D77"/>
                </a:solidFill>
                <a:latin typeface="Malgun Gothic" panose="020B0503020000020004" pitchFamily="50" charset="-127"/>
              </a:rPr>
              <a:t>13</a:t>
            </a:r>
            <a:endParaRPr lang="ko-KR" altLang="en-US" sz="900" b="1">
              <a:solidFill>
                <a:srgbClr val="636D77"/>
              </a:solidFill>
              <a:latin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429120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5E9CE1D-367D-4C12-03DC-68AE05B938F4}"/>
              </a:ext>
            </a:extLst>
          </p:cNvPr>
          <p:cNvSpPr txBox="1"/>
          <p:nvPr/>
        </p:nvSpPr>
        <p:spPr>
          <a:xfrm>
            <a:off x="685800" y="317500"/>
            <a:ext cx="3556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100" b="1">
                <a:solidFill>
                  <a:srgbClr val="1B7E84"/>
                </a:solidFill>
                <a:latin typeface="Malgun Gothic" panose="020B0503020000020004" pitchFamily="50" charset="-127"/>
              </a:rPr>
              <a:t>13 · </a:t>
            </a:r>
            <a:r>
              <a:rPr lang="ko-KR" altLang="en-US" sz="1100" b="1">
                <a:solidFill>
                  <a:srgbClr val="1B7E84"/>
                </a:solidFill>
                <a:latin typeface="Malgun Gothic" panose="020B0503020000020004" pitchFamily="50" charset="-127"/>
              </a:rPr>
              <a:t>지금부터의 순서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95E5DF-9B49-A1B2-CCD1-2EA2A045DFF3}"/>
              </a:ext>
            </a:extLst>
          </p:cNvPr>
          <p:cNvSpPr txBox="1"/>
          <p:nvPr/>
        </p:nvSpPr>
        <p:spPr>
          <a:xfrm>
            <a:off x="685800" y="622300"/>
            <a:ext cx="108204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2900" b="1">
                <a:solidFill>
                  <a:srgbClr val="1B324D"/>
                </a:solidFill>
                <a:latin typeface="Malgun Gothic" panose="020B0503020000020004" pitchFamily="50" charset="-127"/>
              </a:rPr>
              <a:t>승인자료 → 연구자 승인 → 재점검 </a:t>
            </a:r>
            <a:r>
              <a:rPr lang="en-US" altLang="ko-KR" sz="2900" b="1">
                <a:solidFill>
                  <a:srgbClr val="1B324D"/>
                </a:solidFill>
                <a:latin typeface="Malgun Gothic" panose="020B0503020000020004" pitchFamily="50" charset="-127"/>
              </a:rPr>
              <a:t>GO → </a:t>
            </a:r>
            <a:r>
              <a:rPr lang="ko-KR" altLang="en-US" sz="2900" b="1">
                <a:solidFill>
                  <a:srgbClr val="1B324D"/>
                </a:solidFill>
                <a:latin typeface="Malgun Gothic" panose="020B0503020000020004" pitchFamily="50" charset="-127"/>
              </a:rPr>
              <a:t>연도 큐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C3A8E31-415F-B5A7-CE02-129FD86965A7}"/>
              </a:ext>
            </a:extLst>
          </p:cNvPr>
          <p:cNvSpPr/>
          <p:nvPr/>
        </p:nvSpPr>
        <p:spPr>
          <a:xfrm>
            <a:off x="685800" y="1282700"/>
            <a:ext cx="736600" cy="50800"/>
          </a:xfrm>
          <a:prstGeom prst="rect">
            <a:avLst/>
          </a:prstGeom>
          <a:solidFill>
            <a:srgbClr val="CD5C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951974D2-852E-9763-634E-EB76EDDC40EC}"/>
              </a:ext>
            </a:extLst>
          </p:cNvPr>
          <p:cNvSpPr/>
          <p:nvPr/>
        </p:nvSpPr>
        <p:spPr>
          <a:xfrm>
            <a:off x="685800" y="1765300"/>
            <a:ext cx="2463800" cy="914400"/>
          </a:xfrm>
          <a:prstGeom prst="roundRect">
            <a:avLst/>
          </a:prstGeom>
          <a:solidFill>
            <a:srgbClr val="ECF2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001833-69C4-51EC-5FE8-A622145392FE}"/>
              </a:ext>
            </a:extLst>
          </p:cNvPr>
          <p:cNvSpPr txBox="1"/>
          <p:nvPr/>
        </p:nvSpPr>
        <p:spPr>
          <a:xfrm>
            <a:off x="838200" y="1917700"/>
            <a:ext cx="4318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ko-KR" b="1">
                <a:solidFill>
                  <a:srgbClr val="1B7E84"/>
                </a:solidFill>
                <a:latin typeface="Malgun Gothic" panose="020B0503020000020004" pitchFamily="50" charset="-127"/>
              </a:rPr>
              <a:t>1</a:t>
            </a:r>
            <a:endParaRPr lang="ko-KR" altLang="en-US" b="1">
              <a:solidFill>
                <a:srgbClr val="1B7E84"/>
              </a:solidFill>
              <a:latin typeface="Malgun Gothic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976F52-446A-8878-AE34-47E359593957}"/>
              </a:ext>
            </a:extLst>
          </p:cNvPr>
          <p:cNvSpPr txBox="1"/>
          <p:nvPr/>
        </p:nvSpPr>
        <p:spPr>
          <a:xfrm>
            <a:off x="1346200" y="1879600"/>
            <a:ext cx="1651000" cy="685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1300" b="1">
                <a:solidFill>
                  <a:srgbClr val="222A34"/>
                </a:solidFill>
                <a:latin typeface="Malgun Gothic" panose="020B0503020000020004" pitchFamily="50" charset="-127"/>
              </a:rPr>
              <a:t>승인 후보표 생성</a:t>
            </a:r>
          </a:p>
          <a:p>
            <a:r>
              <a:rPr lang="en-US" altLang="ko-KR" sz="1300" b="1">
                <a:solidFill>
                  <a:srgbClr val="222A34"/>
                </a:solidFill>
                <a:latin typeface="Malgun Gothic" panose="020B0503020000020004" pitchFamily="50" charset="-127"/>
              </a:rPr>
              <a:t>(MFA </a:t>
            </a:r>
            <a:r>
              <a:rPr lang="ko-KR" altLang="en-US" sz="1300" b="1">
                <a:solidFill>
                  <a:srgbClr val="222A34"/>
                </a:solidFill>
                <a:latin typeface="Malgun Gothic" panose="020B0503020000020004" pitchFamily="50" charset="-127"/>
              </a:rPr>
              <a:t>시작 안 함</a:t>
            </a:r>
            <a:r>
              <a:rPr lang="en-US" altLang="ko-KR" sz="1300" b="1">
                <a:solidFill>
                  <a:srgbClr val="222A34"/>
                </a:solidFill>
                <a:latin typeface="Malgun Gothic" panose="020B0503020000020004" pitchFamily="50" charset="-127"/>
              </a:rPr>
              <a:t>)</a:t>
            </a:r>
            <a:endParaRPr lang="ko-KR" altLang="en-US" sz="1300" b="1">
              <a:solidFill>
                <a:srgbClr val="222A34"/>
              </a:solidFill>
              <a:latin typeface="Malgun Gothic" panose="020B0503020000020004" pitchFamily="50" charset="-127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7D423FA9-CA57-21AE-5F87-5034DFF9D2AD}"/>
              </a:ext>
            </a:extLst>
          </p:cNvPr>
          <p:cNvSpPr/>
          <p:nvPr/>
        </p:nvSpPr>
        <p:spPr>
          <a:xfrm>
            <a:off x="3390900" y="1765300"/>
            <a:ext cx="2463800" cy="914400"/>
          </a:xfrm>
          <a:prstGeom prst="roundRect">
            <a:avLst/>
          </a:prstGeom>
          <a:solidFill>
            <a:srgbClr val="ECF2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944A6C-5655-B084-C4E4-0C7D06122308}"/>
              </a:ext>
            </a:extLst>
          </p:cNvPr>
          <p:cNvSpPr txBox="1"/>
          <p:nvPr/>
        </p:nvSpPr>
        <p:spPr>
          <a:xfrm>
            <a:off x="3543300" y="1917700"/>
            <a:ext cx="4318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ko-KR" b="1">
                <a:solidFill>
                  <a:srgbClr val="1B7E84"/>
                </a:solidFill>
                <a:latin typeface="Malgun Gothic" panose="020B0503020000020004" pitchFamily="50" charset="-127"/>
              </a:rPr>
              <a:t>2</a:t>
            </a:r>
            <a:endParaRPr lang="ko-KR" altLang="en-US" b="1">
              <a:solidFill>
                <a:srgbClr val="1B7E84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574B6CC-17A6-30BD-5B61-2879EA616C3A}"/>
              </a:ext>
            </a:extLst>
          </p:cNvPr>
          <p:cNvSpPr txBox="1"/>
          <p:nvPr/>
        </p:nvSpPr>
        <p:spPr>
          <a:xfrm>
            <a:off x="4051300" y="1879600"/>
            <a:ext cx="1651000" cy="685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1300" b="1">
                <a:solidFill>
                  <a:srgbClr val="222A34"/>
                </a:solidFill>
                <a:latin typeface="Malgun Gothic" panose="020B0503020000020004" pitchFamily="50" charset="-127"/>
              </a:rPr>
              <a:t>연도별 제외 후보</a:t>
            </a:r>
          </a:p>
          <a:p>
            <a:r>
              <a:rPr lang="ko-KR" altLang="en-US" sz="1300" b="1">
                <a:solidFill>
                  <a:srgbClr val="222A34"/>
                </a:solidFill>
                <a:latin typeface="Malgun Gothic" panose="020B0503020000020004" pitchFamily="50" charset="-127"/>
              </a:rPr>
              <a:t>연구자 확인</a:t>
            </a:r>
            <a:r>
              <a:rPr lang="en-US" altLang="ko-KR" sz="1300" b="1">
                <a:solidFill>
                  <a:srgbClr val="222A34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1300" b="1">
                <a:solidFill>
                  <a:srgbClr val="222A34"/>
                </a:solidFill>
                <a:latin typeface="Malgun Gothic" panose="020B0503020000020004" pitchFamily="50" charset="-127"/>
              </a:rPr>
              <a:t>승인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8799FCA3-6901-39B9-4E80-B3C44976CF71}"/>
              </a:ext>
            </a:extLst>
          </p:cNvPr>
          <p:cNvSpPr/>
          <p:nvPr/>
        </p:nvSpPr>
        <p:spPr>
          <a:xfrm>
            <a:off x="6096000" y="1765300"/>
            <a:ext cx="2463800" cy="914400"/>
          </a:xfrm>
          <a:prstGeom prst="roundRect">
            <a:avLst/>
          </a:prstGeom>
          <a:solidFill>
            <a:srgbClr val="ECF2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15B530E-07DB-ACF7-3D8C-F6C12480C3E6}"/>
              </a:ext>
            </a:extLst>
          </p:cNvPr>
          <p:cNvSpPr txBox="1"/>
          <p:nvPr/>
        </p:nvSpPr>
        <p:spPr>
          <a:xfrm>
            <a:off x="6248400" y="1917700"/>
            <a:ext cx="4318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ko-KR" b="1">
                <a:solidFill>
                  <a:srgbClr val="CD5C46"/>
                </a:solidFill>
                <a:latin typeface="Malgun Gothic" panose="020B0503020000020004" pitchFamily="50" charset="-127"/>
              </a:rPr>
              <a:t>3</a:t>
            </a:r>
            <a:endParaRPr lang="ko-KR" altLang="en-US" b="1">
              <a:solidFill>
                <a:srgbClr val="CD5C46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640A305-F6C0-EDFC-027F-B76FCEFC0151}"/>
              </a:ext>
            </a:extLst>
          </p:cNvPr>
          <p:cNvSpPr txBox="1"/>
          <p:nvPr/>
        </p:nvSpPr>
        <p:spPr>
          <a:xfrm>
            <a:off x="6756400" y="1879600"/>
            <a:ext cx="1651000" cy="685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1300" b="1">
                <a:solidFill>
                  <a:srgbClr val="222A34"/>
                </a:solidFill>
                <a:latin typeface="Malgun Gothic" panose="020B0503020000020004" pitchFamily="50" charset="-127"/>
              </a:rPr>
              <a:t>최종 </a:t>
            </a:r>
            <a:r>
              <a:rPr lang="en-US" altLang="ko-KR" sz="1300" b="1">
                <a:solidFill>
                  <a:srgbClr val="222A34"/>
                </a:solidFill>
                <a:latin typeface="Malgun Gothic" panose="020B0503020000020004" pitchFamily="50" charset="-127"/>
              </a:rPr>
              <a:t>preflight</a:t>
            </a:r>
          </a:p>
          <a:p>
            <a:r>
              <a:rPr lang="en-US" altLang="ko-KR" sz="1300" b="1">
                <a:solidFill>
                  <a:srgbClr val="222A34"/>
                </a:solidFill>
                <a:latin typeface="Malgun Gothic" panose="020B0503020000020004" pitchFamily="50" charset="-127"/>
              </a:rPr>
              <a:t>status=GO </a:t>
            </a:r>
            <a:r>
              <a:rPr lang="ko-KR" altLang="en-US" sz="1300" b="1">
                <a:solidFill>
                  <a:srgbClr val="222A34"/>
                </a:solidFill>
                <a:latin typeface="Malgun Gothic" panose="020B0503020000020004" pitchFamily="50" charset="-127"/>
              </a:rPr>
              <a:t>확인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BE6EFD3E-191C-BDA4-1DF5-ADE12BB437D0}"/>
              </a:ext>
            </a:extLst>
          </p:cNvPr>
          <p:cNvSpPr/>
          <p:nvPr/>
        </p:nvSpPr>
        <p:spPr>
          <a:xfrm>
            <a:off x="8801100" y="1765300"/>
            <a:ext cx="2705100" cy="914400"/>
          </a:xfrm>
          <a:prstGeom prst="roundRect">
            <a:avLst/>
          </a:prstGeom>
          <a:solidFill>
            <a:srgbClr val="ECF2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99355E8-D762-5520-59F2-4BEB8630AA79}"/>
              </a:ext>
            </a:extLst>
          </p:cNvPr>
          <p:cNvSpPr txBox="1"/>
          <p:nvPr/>
        </p:nvSpPr>
        <p:spPr>
          <a:xfrm>
            <a:off x="8953500" y="1917700"/>
            <a:ext cx="4318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ko-KR" b="1">
                <a:solidFill>
                  <a:srgbClr val="1B324D"/>
                </a:solidFill>
                <a:latin typeface="Malgun Gothic" panose="020B0503020000020004" pitchFamily="50" charset="-127"/>
              </a:rPr>
              <a:t>4</a:t>
            </a:r>
            <a:endParaRPr lang="ko-KR" altLang="en-US" b="1">
              <a:solidFill>
                <a:srgbClr val="1B324D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88E4DAB-F4C3-271D-2EB1-8FC84020D2E6}"/>
              </a:ext>
            </a:extLst>
          </p:cNvPr>
          <p:cNvSpPr txBox="1"/>
          <p:nvPr/>
        </p:nvSpPr>
        <p:spPr>
          <a:xfrm>
            <a:off x="9461500" y="1879600"/>
            <a:ext cx="1892300" cy="685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1300" b="1">
                <a:solidFill>
                  <a:srgbClr val="222A34"/>
                </a:solidFill>
                <a:latin typeface="Malgun Gothic" panose="020B0503020000020004" pitchFamily="50" charset="-127"/>
              </a:rPr>
              <a:t>무인 연도 큐 시작</a:t>
            </a:r>
          </a:p>
          <a:p>
            <a:r>
              <a:rPr lang="ko-KR" altLang="en-US" sz="1300" b="1">
                <a:solidFill>
                  <a:srgbClr val="222A34"/>
                </a:solidFill>
                <a:latin typeface="Malgun Gothic" panose="020B0503020000020004" pitchFamily="50" charset="-127"/>
              </a:rPr>
              <a:t>정본 자동승격 안 함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DFE407F-FB78-B538-944B-E75D812CF1BB}"/>
              </a:ext>
            </a:extLst>
          </p:cNvPr>
          <p:cNvSpPr txBox="1"/>
          <p:nvPr/>
        </p:nvSpPr>
        <p:spPr>
          <a:xfrm>
            <a:off x="685800" y="3149600"/>
            <a:ext cx="30480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300" b="1">
                <a:solidFill>
                  <a:srgbClr val="1B7E84"/>
                </a:solidFill>
                <a:latin typeface="Malgun Gothic" panose="020B0503020000020004" pitchFamily="50" charset="-127"/>
              </a:rPr>
              <a:t>① 승인자료 생성 명령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E3CEA2E9-AC44-D566-39CB-4A970037E1CF}"/>
              </a:ext>
            </a:extLst>
          </p:cNvPr>
          <p:cNvSpPr/>
          <p:nvPr/>
        </p:nvSpPr>
        <p:spPr>
          <a:xfrm>
            <a:off x="685800" y="3505200"/>
            <a:ext cx="10820400" cy="914400"/>
          </a:xfrm>
          <a:prstGeom prst="roundRect">
            <a:avLst/>
          </a:prstGeom>
          <a:solidFill>
            <a:srgbClr val="12171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9EF83D8-2E5D-F66F-24FD-763ED4309BA7}"/>
              </a:ext>
            </a:extLst>
          </p:cNvPr>
          <p:cNvSpPr txBox="1"/>
          <p:nvPr/>
        </p:nvSpPr>
        <p:spPr>
          <a:xfrm>
            <a:off x="889000" y="3657600"/>
            <a:ext cx="104140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000">
                <a:solidFill>
                  <a:srgbClr val="DEEBE9"/>
                </a:solidFill>
                <a:latin typeface="Consolas" panose="020B0609020204030204" pitchFamily="49" charset="0"/>
              </a:rPr>
              <a:t>&amp; .\scripts\run_mfa_year_queue_safe.ps1 -CommonPronManifest "D:\mfa_common_pron\releases\common_pron_mfa_r2_20260728\00_contract\release_manifest.json" -CommonPronAdoptionContract "D:\mfa_common_pron\releases\common_pron_mfa_r2_20260728\00_contract\adoption_contract.json" -PrepareMissingReviews</a:t>
            </a:r>
            <a:endParaRPr lang="ko-KR" altLang="en-US" sz="1000">
              <a:solidFill>
                <a:srgbClr val="DEEBE9"/>
              </a:solidFill>
              <a:latin typeface="Consolas" panose="020B0609020204030204" pitchFamily="49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7D34F4B-B561-B50A-8D18-24E52A86F5DA}"/>
              </a:ext>
            </a:extLst>
          </p:cNvPr>
          <p:cNvSpPr txBox="1"/>
          <p:nvPr/>
        </p:nvSpPr>
        <p:spPr>
          <a:xfrm>
            <a:off x="685800" y="4737100"/>
            <a:ext cx="10820400" cy="317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600" b="1">
                <a:solidFill>
                  <a:srgbClr val="1B324D"/>
                </a:solidFill>
                <a:latin typeface="Malgun Gothic" panose="020B0503020000020004" pitchFamily="50" charset="-127"/>
              </a:rPr>
              <a:t>② 연구자 승인 뒤 같은 계약으로 </a:t>
            </a:r>
            <a:r>
              <a:rPr lang="en-US" altLang="ko-KR" sz="1600" b="1">
                <a:solidFill>
                  <a:srgbClr val="1B324D"/>
                </a:solidFill>
                <a:latin typeface="Malgun Gothic" panose="020B0503020000020004" pitchFamily="50" charset="-127"/>
              </a:rPr>
              <a:t>preflight </a:t>
            </a:r>
            <a:r>
              <a:rPr lang="ko-KR" altLang="en-US" sz="1600" b="1">
                <a:solidFill>
                  <a:srgbClr val="1B324D"/>
                </a:solidFill>
                <a:latin typeface="Malgun Gothic" panose="020B0503020000020004" pitchFamily="50" charset="-127"/>
              </a:rPr>
              <a:t>재실행 → </a:t>
            </a:r>
            <a:r>
              <a:rPr lang="en-US" altLang="ko-KR" sz="1600" b="1">
                <a:solidFill>
                  <a:srgbClr val="1B324D"/>
                </a:solidFill>
                <a:latin typeface="Malgun Gothic" panose="020B0503020000020004" pitchFamily="50" charset="-127"/>
              </a:rPr>
              <a:t>JSON status=GO</a:t>
            </a:r>
            <a:r>
              <a:rPr lang="ko-KR" altLang="en-US" sz="1600" b="1">
                <a:solidFill>
                  <a:srgbClr val="1B324D"/>
                </a:solidFill>
                <a:latin typeface="Malgun Gothic" panose="020B0503020000020004" pitchFamily="50" charset="-127"/>
              </a:rPr>
              <a:t>일 때만 큐 재실행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612D84DC-A7B3-73F7-3097-AAD60CA30818}"/>
              </a:ext>
            </a:extLst>
          </p:cNvPr>
          <p:cNvSpPr/>
          <p:nvPr/>
        </p:nvSpPr>
        <p:spPr>
          <a:xfrm>
            <a:off x="685800" y="5257800"/>
            <a:ext cx="10820400" cy="673100"/>
          </a:xfrm>
          <a:prstGeom prst="roundRect">
            <a:avLst/>
          </a:prstGeom>
          <a:solidFill>
            <a:srgbClr val="F8E8E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E230E2D-A4EB-77FE-C23B-E86C2DFDBD0B}"/>
              </a:ext>
            </a:extLst>
          </p:cNvPr>
          <p:cNvSpPr txBox="1"/>
          <p:nvPr/>
        </p:nvSpPr>
        <p:spPr>
          <a:xfrm>
            <a:off x="889000" y="5461000"/>
            <a:ext cx="10414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400" b="1">
                <a:solidFill>
                  <a:srgbClr val="CD5C46"/>
                </a:solidFill>
                <a:latin typeface="Malgun Gothic" panose="020B0503020000020004" pitchFamily="50" charset="-127"/>
              </a:rPr>
              <a:t>오늘 전수 </a:t>
            </a:r>
            <a:r>
              <a:rPr lang="en-US" altLang="ko-KR" sz="1400" b="1">
                <a:solidFill>
                  <a:srgbClr val="CD5C46"/>
                </a:solidFill>
                <a:latin typeface="Malgun Gothic" panose="020B0503020000020004" pitchFamily="50" charset="-127"/>
              </a:rPr>
              <a:t>MFA</a:t>
            </a:r>
            <a:r>
              <a:rPr lang="ko-KR" altLang="en-US" sz="1400" b="1">
                <a:solidFill>
                  <a:srgbClr val="CD5C46"/>
                </a:solidFill>
                <a:latin typeface="Malgun Gothic" panose="020B0503020000020004" pitchFamily="50" charset="-127"/>
              </a:rPr>
              <a:t>를 바로 걸지 않는다</a:t>
            </a:r>
            <a:r>
              <a:rPr lang="en-US" altLang="ko-KR" sz="1400" b="1">
                <a:solidFill>
                  <a:srgbClr val="CD5C46"/>
                </a:solidFill>
                <a:latin typeface="Malgun Gothic" panose="020B0503020000020004" pitchFamily="50" charset="-127"/>
              </a:rPr>
              <a:t>. </a:t>
            </a:r>
            <a:r>
              <a:rPr lang="ko-KR" altLang="en-US" sz="1400" b="1">
                <a:solidFill>
                  <a:srgbClr val="CD5C46"/>
                </a:solidFill>
                <a:latin typeface="Malgun Gothic" panose="020B0503020000020004" pitchFamily="50" charset="-127"/>
              </a:rPr>
              <a:t>승인자료 생성은 안전하며 </a:t>
            </a:r>
            <a:r>
              <a:rPr lang="en-US" altLang="ko-KR" sz="1400" b="1">
                <a:solidFill>
                  <a:srgbClr val="CD5C46"/>
                </a:solidFill>
                <a:latin typeface="Malgun Gothic" panose="020B0503020000020004" pitchFamily="50" charset="-127"/>
              </a:rPr>
              <a:t>WAV </a:t>
            </a:r>
            <a:r>
              <a:rPr lang="ko-KR" altLang="en-US" sz="1400" b="1">
                <a:solidFill>
                  <a:srgbClr val="CD5C46"/>
                </a:solidFill>
                <a:latin typeface="Malgun Gothic" panose="020B0503020000020004" pitchFamily="50" charset="-127"/>
              </a:rPr>
              <a:t>이동</a:t>
            </a:r>
            <a:r>
              <a:rPr lang="en-US" altLang="ko-KR" sz="1400" b="1">
                <a:solidFill>
                  <a:srgbClr val="CD5C46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1400" b="1">
                <a:solidFill>
                  <a:srgbClr val="CD5C46"/>
                </a:solidFill>
                <a:latin typeface="Malgun Gothic" panose="020B0503020000020004" pitchFamily="50" charset="-127"/>
              </a:rPr>
              <a:t>정렬</a:t>
            </a:r>
            <a:r>
              <a:rPr lang="en-US" altLang="ko-KR" sz="1400" b="1">
                <a:solidFill>
                  <a:srgbClr val="CD5C46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1400" b="1">
                <a:solidFill>
                  <a:srgbClr val="CD5C46"/>
                </a:solidFill>
                <a:latin typeface="Malgun Gothic" panose="020B0503020000020004" pitchFamily="50" charset="-127"/>
              </a:rPr>
              <a:t>정본 승격을 하지 않는다</a:t>
            </a:r>
            <a:r>
              <a:rPr lang="en-US" altLang="ko-KR" sz="1400" b="1">
                <a:solidFill>
                  <a:srgbClr val="CD5C46"/>
                </a:solidFill>
                <a:latin typeface="Malgun Gothic" panose="020B0503020000020004" pitchFamily="50" charset="-127"/>
              </a:rPr>
              <a:t>.</a:t>
            </a:r>
            <a:endParaRPr lang="ko-KR" altLang="en-US" sz="1400" b="1">
              <a:solidFill>
                <a:srgbClr val="CD5C46"/>
              </a:solidFill>
              <a:latin typeface="Malgun Gothic" panose="020B0503020000020004" pitchFamily="50" charset="-127"/>
            </a:endParaRP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EB6471EB-4AF7-8045-AFCD-869DE8CE4798}"/>
              </a:ext>
            </a:extLst>
          </p:cNvPr>
          <p:cNvCxnSpPr/>
          <p:nvPr/>
        </p:nvCxnSpPr>
        <p:spPr>
          <a:xfrm>
            <a:off x="685800" y="6451600"/>
            <a:ext cx="10820400" cy="0"/>
          </a:xfrm>
          <a:prstGeom prst="line">
            <a:avLst/>
          </a:prstGeom>
          <a:ln w="7620">
            <a:solidFill>
              <a:srgbClr val="B1BB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A76DC5F3-FD93-AC86-ABE8-604E90401370}"/>
              </a:ext>
            </a:extLst>
          </p:cNvPr>
          <p:cNvSpPr txBox="1"/>
          <p:nvPr/>
        </p:nvSpPr>
        <p:spPr>
          <a:xfrm>
            <a:off x="685800" y="6515100"/>
            <a:ext cx="6350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>
                <a:solidFill>
                  <a:srgbClr val="636D77"/>
                </a:solidFill>
                <a:latin typeface="Malgun Gothic" panose="020B0503020000020004" pitchFamily="50" charset="-127"/>
              </a:rPr>
              <a:t>2026 </a:t>
            </a:r>
            <a:r>
              <a:rPr lang="ko-KR" altLang="en-US" sz="900">
                <a:solidFill>
                  <a:srgbClr val="636D77"/>
                </a:solidFill>
                <a:latin typeface="Malgun Gothic" panose="020B0503020000020004" pitchFamily="50" charset="-127"/>
              </a:rPr>
              <a:t>여름 연구 </a:t>
            </a:r>
            <a:r>
              <a:rPr lang="en-US" altLang="ko-KR" sz="900">
                <a:solidFill>
                  <a:srgbClr val="636D77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900">
                <a:solidFill>
                  <a:srgbClr val="636D77"/>
                </a:solidFill>
                <a:latin typeface="Malgun Gothic" panose="020B0503020000020004" pitchFamily="50" charset="-127"/>
              </a:rPr>
              <a:t>전수 </a:t>
            </a:r>
            <a:r>
              <a:rPr lang="en-US" altLang="ko-KR" sz="900">
                <a:solidFill>
                  <a:srgbClr val="636D77"/>
                </a:solidFill>
                <a:latin typeface="Malgun Gothic" panose="020B0503020000020004" pitchFamily="50" charset="-127"/>
              </a:rPr>
              <a:t>MFA </a:t>
            </a:r>
            <a:r>
              <a:rPr lang="ko-KR" altLang="en-US" sz="900">
                <a:solidFill>
                  <a:srgbClr val="636D77"/>
                </a:solidFill>
                <a:latin typeface="Malgun Gothic" panose="020B0503020000020004" pitchFamily="50" charset="-127"/>
              </a:rPr>
              <a:t>인프라 최종 점검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DAAB7E6-C1D6-4CE9-4840-A61DB6E39C64}"/>
              </a:ext>
            </a:extLst>
          </p:cNvPr>
          <p:cNvSpPr txBox="1"/>
          <p:nvPr/>
        </p:nvSpPr>
        <p:spPr>
          <a:xfrm>
            <a:off x="10972800" y="6502400"/>
            <a:ext cx="5334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900" b="1">
                <a:solidFill>
                  <a:srgbClr val="636D77"/>
                </a:solidFill>
                <a:latin typeface="Malgun Gothic" panose="020B0503020000020004" pitchFamily="50" charset="-127"/>
              </a:rPr>
              <a:t>14</a:t>
            </a:r>
            <a:endParaRPr lang="ko-KR" altLang="en-US" sz="900" b="1">
              <a:solidFill>
                <a:srgbClr val="636D77"/>
              </a:solidFill>
              <a:latin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903758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2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24996D4-C1A9-DC54-DE8D-D2C5ED26711C}"/>
              </a:ext>
            </a:extLst>
          </p:cNvPr>
          <p:cNvSpPr txBox="1"/>
          <p:nvPr/>
        </p:nvSpPr>
        <p:spPr>
          <a:xfrm>
            <a:off x="762000" y="571500"/>
            <a:ext cx="35560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200" b="1">
                <a:solidFill>
                  <a:srgbClr val="48A5A5"/>
                </a:solidFill>
                <a:latin typeface="Malgun Gothic" panose="020B0503020000020004" pitchFamily="50" charset="-127"/>
              </a:rPr>
              <a:t>METHODS-READY</a:t>
            </a:r>
            <a:endParaRPr lang="ko-KR" altLang="en-US" sz="1200" b="1">
              <a:solidFill>
                <a:srgbClr val="48A5A5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959762-9A91-CE97-9078-3C3EC3E8B8BA}"/>
              </a:ext>
            </a:extLst>
          </p:cNvPr>
          <p:cNvSpPr txBox="1"/>
          <p:nvPr/>
        </p:nvSpPr>
        <p:spPr>
          <a:xfrm>
            <a:off x="762000" y="1054100"/>
            <a:ext cx="10541000" cy="1168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3600" b="1">
                <a:solidFill>
                  <a:srgbClr val="FFFFFF"/>
                </a:solidFill>
                <a:latin typeface="Malgun Gothic" panose="020B0503020000020004" pitchFamily="50" charset="-127"/>
              </a:rPr>
              <a:t>같은 기준으로 정렬하고</a:t>
            </a:r>
            <a:r>
              <a:rPr lang="en-US" altLang="ko-KR" sz="3600" b="1">
                <a:solidFill>
                  <a:srgbClr val="FFFFFF"/>
                </a:solidFill>
                <a:latin typeface="Malgun Gothic" panose="020B0503020000020004" pitchFamily="50" charset="-127"/>
              </a:rPr>
              <a:t>,</a:t>
            </a:r>
          </a:p>
          <a:p>
            <a:r>
              <a:rPr lang="ko-KR" altLang="en-US" sz="3600" b="1">
                <a:solidFill>
                  <a:srgbClr val="FFFFFF"/>
                </a:solidFill>
                <a:latin typeface="Malgun Gothic" panose="020B0503020000020004" pitchFamily="50" charset="-127"/>
              </a:rPr>
              <a:t>다른 판단으로 남긴다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9BA894E-C297-A1B1-1946-3D596FB4955C}"/>
              </a:ext>
            </a:extLst>
          </p:cNvPr>
          <p:cNvSpPr/>
          <p:nvPr/>
        </p:nvSpPr>
        <p:spPr>
          <a:xfrm>
            <a:off x="762000" y="2679700"/>
            <a:ext cx="10668000" cy="25400"/>
          </a:xfrm>
          <a:prstGeom prst="rect">
            <a:avLst/>
          </a:prstGeom>
          <a:solidFill>
            <a:srgbClr val="CD5C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BC6148-55ED-F5BE-4FF2-F2501AE652C8}"/>
              </a:ext>
            </a:extLst>
          </p:cNvPr>
          <p:cNvSpPr txBox="1"/>
          <p:nvPr/>
        </p:nvSpPr>
        <p:spPr>
          <a:xfrm>
            <a:off x="762000" y="3086100"/>
            <a:ext cx="10668000" cy="1511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2000">
                <a:solidFill>
                  <a:srgbClr val="E0EAEB"/>
                </a:solidFill>
                <a:latin typeface="Malgun Gothic" panose="020B0503020000020004" pitchFamily="50" charset="-127"/>
              </a:rPr>
              <a:t>2020–2025 </a:t>
            </a:r>
            <a:r>
              <a:rPr lang="ko-KR" altLang="en-US" sz="2000">
                <a:solidFill>
                  <a:srgbClr val="E0EAEB"/>
                </a:solidFill>
                <a:latin typeface="Malgun Gothic" panose="020B0503020000020004" pitchFamily="50" charset="-127"/>
              </a:rPr>
              <a:t>자료에 동일한 </a:t>
            </a:r>
            <a:r>
              <a:rPr lang="en-US" altLang="ko-KR" sz="2000">
                <a:solidFill>
                  <a:srgbClr val="E0EAEB"/>
                </a:solidFill>
                <a:latin typeface="Malgun Gothic" panose="020B0503020000020004" pitchFamily="50" charset="-127"/>
              </a:rPr>
              <a:t>Korean MFA acoustic model, Jamo G2P, </a:t>
            </a:r>
            <a:r>
              <a:rPr lang="ko-KR" altLang="en-US" sz="2000">
                <a:solidFill>
                  <a:srgbClr val="E0EAEB"/>
                </a:solidFill>
                <a:latin typeface="Malgun Gothic" panose="020B0503020000020004" pitchFamily="50" charset="-127"/>
              </a:rPr>
              <a:t>공통 발음사전 및 </a:t>
            </a:r>
            <a:r>
              <a:rPr lang="en-US" altLang="ko-KR" sz="2000">
                <a:solidFill>
                  <a:srgbClr val="E0EAEB"/>
                </a:solidFill>
                <a:latin typeface="Malgun Gothic" panose="020B0503020000020004" pitchFamily="50" charset="-127"/>
              </a:rPr>
              <a:t>phone inventory</a:t>
            </a:r>
            <a:r>
              <a:rPr lang="ko-KR" altLang="en-US" sz="2000">
                <a:solidFill>
                  <a:srgbClr val="E0EAEB"/>
                </a:solidFill>
                <a:latin typeface="Malgun Gothic" panose="020B0503020000020004" pitchFamily="50" charset="-127"/>
              </a:rPr>
              <a:t>를 적용하였다</a:t>
            </a:r>
            <a:r>
              <a:rPr lang="en-US" altLang="ko-KR" sz="2000">
                <a:solidFill>
                  <a:srgbClr val="E0EAEB"/>
                </a:solidFill>
                <a:latin typeface="Malgun Gothic" panose="020B0503020000020004" pitchFamily="50" charset="-127"/>
              </a:rPr>
              <a:t>. </a:t>
            </a:r>
            <a:r>
              <a:rPr lang="ko-KR" altLang="en-US" sz="2000">
                <a:solidFill>
                  <a:srgbClr val="E0EAEB"/>
                </a:solidFill>
                <a:latin typeface="Malgun Gothic" panose="020B0503020000020004" pitchFamily="50" charset="-127"/>
              </a:rPr>
              <a:t>원 전사</a:t>
            </a:r>
            <a:r>
              <a:rPr lang="en-US" altLang="ko-KR" sz="2000">
                <a:solidFill>
                  <a:srgbClr val="E0EAEB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2000">
                <a:solidFill>
                  <a:srgbClr val="E0EAEB"/>
                </a:solidFill>
                <a:latin typeface="Malgun Gothic" panose="020B0503020000020004" pitchFamily="50" charset="-127"/>
              </a:rPr>
              <a:t>형태소 분석</a:t>
            </a:r>
            <a:r>
              <a:rPr lang="en-US" altLang="ko-KR" sz="2000">
                <a:solidFill>
                  <a:srgbClr val="E0EAEB"/>
                </a:solidFill>
                <a:latin typeface="Malgun Gothic" panose="020B0503020000020004" pitchFamily="50" charset="-127"/>
              </a:rPr>
              <a:t>, MFA </a:t>
            </a:r>
            <a:r>
              <a:rPr lang="ko-KR" altLang="en-US" sz="2000">
                <a:solidFill>
                  <a:srgbClr val="E0EAEB"/>
                </a:solidFill>
                <a:latin typeface="Malgun Gothic" panose="020B0503020000020004" pitchFamily="50" charset="-127"/>
              </a:rPr>
              <a:t>입력 </a:t>
            </a:r>
            <a:r>
              <a:rPr lang="en-US" altLang="ko-KR" sz="2000">
                <a:solidFill>
                  <a:srgbClr val="E0EAEB"/>
                </a:solidFill>
                <a:latin typeface="Malgun Gothic" panose="020B0503020000020004" pitchFamily="50" charset="-127"/>
              </a:rPr>
              <a:t>reference, </a:t>
            </a:r>
            <a:r>
              <a:rPr lang="ko-KR" altLang="en-US" sz="2000">
                <a:solidFill>
                  <a:srgbClr val="E0EAEB"/>
                </a:solidFill>
                <a:latin typeface="Malgun Gothic" panose="020B0503020000020004" pitchFamily="50" charset="-127"/>
              </a:rPr>
              <a:t>사전</a:t>
            </a:r>
            <a:r>
              <a:rPr lang="en-US" altLang="ko-KR" sz="2000">
                <a:solidFill>
                  <a:srgbClr val="E0EAEB"/>
                </a:solidFill>
                <a:latin typeface="Malgun Gothic" panose="020B0503020000020004" pitchFamily="50" charset="-127"/>
              </a:rPr>
              <a:t>/G2P phone, MFA </a:t>
            </a:r>
            <a:r>
              <a:rPr lang="ko-KR" altLang="en-US" sz="2000">
                <a:solidFill>
                  <a:srgbClr val="E0EAEB"/>
                </a:solidFill>
                <a:latin typeface="Malgun Gothic" panose="020B0503020000020004" pitchFamily="50" charset="-127"/>
              </a:rPr>
              <a:t>정렬 </a:t>
            </a:r>
            <a:r>
              <a:rPr lang="en-US" altLang="ko-KR" sz="2000">
                <a:solidFill>
                  <a:srgbClr val="E0EAEB"/>
                </a:solidFill>
                <a:latin typeface="Malgun Gothic" panose="020B0503020000020004" pitchFamily="50" charset="-127"/>
              </a:rPr>
              <a:t>phone, </a:t>
            </a:r>
            <a:r>
              <a:rPr lang="ko-KR" altLang="en-US" sz="2000">
                <a:solidFill>
                  <a:srgbClr val="E0EAEB"/>
                </a:solidFill>
                <a:latin typeface="Malgun Gothic" panose="020B0503020000020004" pitchFamily="50" charset="-127"/>
              </a:rPr>
              <a:t>자동 </a:t>
            </a:r>
            <a:r>
              <a:rPr lang="en-US" altLang="ko-KR" sz="2000">
                <a:solidFill>
                  <a:srgbClr val="E0EAEB"/>
                </a:solidFill>
                <a:latin typeface="Malgun Gothic" panose="020B0503020000020004" pitchFamily="50" charset="-127"/>
              </a:rPr>
              <a:t>Roman</a:t>
            </a:r>
            <a:r>
              <a:rPr lang="ko-KR" altLang="en-US" sz="2000">
                <a:solidFill>
                  <a:srgbClr val="E0EAEB"/>
                </a:solidFill>
                <a:latin typeface="Malgun Gothic" panose="020B0503020000020004" pitchFamily="50" charset="-127"/>
              </a:rPr>
              <a:t>을 별도 출처로 보존하였다</a:t>
            </a:r>
            <a:r>
              <a:rPr lang="en-US" altLang="ko-KR" sz="2000">
                <a:solidFill>
                  <a:srgbClr val="E0EAEB"/>
                </a:solidFill>
                <a:latin typeface="Malgun Gothic" panose="020B0503020000020004" pitchFamily="50" charset="-127"/>
              </a:rPr>
              <a:t>. MFA phone</a:t>
            </a:r>
            <a:r>
              <a:rPr lang="ko-KR" altLang="en-US" sz="2000">
                <a:solidFill>
                  <a:srgbClr val="E0EAEB"/>
                </a:solidFill>
                <a:latin typeface="Malgun Gothic" panose="020B0503020000020004" pitchFamily="50" charset="-127"/>
              </a:rPr>
              <a:t>은 청취 위치를 찾는 자동 강제정렬 보조값이며</a:t>
            </a:r>
            <a:r>
              <a:rPr lang="en-US" altLang="ko-KR" sz="2000">
                <a:solidFill>
                  <a:srgbClr val="E0EAEB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2000">
                <a:solidFill>
                  <a:srgbClr val="E0EAEB"/>
                </a:solidFill>
                <a:latin typeface="Malgun Gothic" panose="020B0503020000020004" pitchFamily="50" charset="-127"/>
              </a:rPr>
              <a:t>실제 음운 실현은 선별 발화의 </a:t>
            </a:r>
            <a:r>
              <a:rPr lang="en-US" altLang="ko-KR" sz="2000">
                <a:solidFill>
                  <a:srgbClr val="E0EAEB"/>
                </a:solidFill>
                <a:latin typeface="Malgun Gothic" panose="020B0503020000020004" pitchFamily="50" charset="-127"/>
              </a:rPr>
              <a:t>WAV</a:t>
            </a:r>
            <a:r>
              <a:rPr lang="ko-KR" altLang="en-US" sz="2000">
                <a:solidFill>
                  <a:srgbClr val="E0EAEB"/>
                </a:solidFill>
                <a:latin typeface="Malgun Gothic" panose="020B0503020000020004" pitchFamily="50" charset="-127"/>
              </a:rPr>
              <a:t>와 </a:t>
            </a:r>
            <a:r>
              <a:rPr lang="en-US" altLang="ko-KR" sz="2000">
                <a:solidFill>
                  <a:srgbClr val="E0EAEB"/>
                </a:solidFill>
                <a:latin typeface="Malgun Gothic" panose="020B0503020000020004" pitchFamily="50" charset="-127"/>
              </a:rPr>
              <a:t>TextGrid</a:t>
            </a:r>
            <a:r>
              <a:rPr lang="ko-KR" altLang="en-US" sz="2000">
                <a:solidFill>
                  <a:srgbClr val="E0EAEB"/>
                </a:solidFill>
                <a:latin typeface="Malgun Gothic" panose="020B0503020000020004" pitchFamily="50" charset="-127"/>
              </a:rPr>
              <a:t>를 연구자가 검토해 별도로 판정하였다</a:t>
            </a:r>
            <a:r>
              <a:rPr lang="en-US" altLang="ko-KR" sz="2000">
                <a:solidFill>
                  <a:srgbClr val="E0EAEB"/>
                </a:solidFill>
                <a:latin typeface="Malgun Gothic" panose="020B0503020000020004" pitchFamily="50" charset="-127"/>
              </a:rPr>
              <a:t>.</a:t>
            </a:r>
            <a:endParaRPr lang="ko-KR" altLang="en-US" sz="2000">
              <a:solidFill>
                <a:srgbClr val="E0EAE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3FEB70-8EC6-AC2C-097C-E1D237792046}"/>
              </a:ext>
            </a:extLst>
          </p:cNvPr>
          <p:cNvSpPr txBox="1"/>
          <p:nvPr/>
        </p:nvSpPr>
        <p:spPr>
          <a:xfrm>
            <a:off x="762000" y="5130800"/>
            <a:ext cx="3048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300" b="1">
                <a:solidFill>
                  <a:srgbClr val="48A5A5"/>
                </a:solidFill>
                <a:latin typeface="Malgun Gothic" panose="020B0503020000020004" pitchFamily="50" charset="-127"/>
              </a:rPr>
              <a:t>전수 실행 전 마지막 질문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64CC18-31CB-697B-11F2-2737CE75D54D}"/>
              </a:ext>
            </a:extLst>
          </p:cNvPr>
          <p:cNvSpPr txBox="1"/>
          <p:nvPr/>
        </p:nvSpPr>
        <p:spPr>
          <a:xfrm>
            <a:off x="762000" y="5562600"/>
            <a:ext cx="106680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900" b="1">
                <a:solidFill>
                  <a:srgbClr val="FFFFFF"/>
                </a:solidFill>
                <a:latin typeface="Malgun Gothic" panose="020B0503020000020004" pitchFamily="50" charset="-127"/>
              </a:rPr>
              <a:t>모든 승인 계약이 입력 계약 </a:t>
            </a:r>
            <a:r>
              <a:rPr lang="en-US" altLang="ko-KR" sz="1900" b="1">
                <a:solidFill>
                  <a:srgbClr val="FFFFFF"/>
                </a:solidFill>
                <a:latin typeface="Malgun Gothic" panose="020B0503020000020004" pitchFamily="50" charset="-127"/>
              </a:rPr>
              <a:t>ID</a:t>
            </a:r>
            <a:r>
              <a:rPr lang="ko-KR" altLang="en-US" sz="1900" b="1">
                <a:solidFill>
                  <a:srgbClr val="FFFFFF"/>
                </a:solidFill>
                <a:latin typeface="Malgun Gothic" panose="020B0503020000020004" pitchFamily="50" charset="-127"/>
              </a:rPr>
              <a:t>와 묶였는가</a:t>
            </a:r>
            <a:r>
              <a:rPr lang="en-US" altLang="ko-KR" sz="1900" b="1">
                <a:solidFill>
                  <a:srgbClr val="FFFFFF"/>
                </a:solidFill>
                <a:latin typeface="Malgun Gothic" panose="020B0503020000020004" pitchFamily="50" charset="-127"/>
              </a:rPr>
              <a:t>?  →  GO</a:t>
            </a:r>
            <a:r>
              <a:rPr lang="ko-KR" altLang="en-US" sz="1900" b="1">
                <a:solidFill>
                  <a:srgbClr val="FFFFFF"/>
                </a:solidFill>
                <a:latin typeface="Malgun Gothic" panose="020B0503020000020004" pitchFamily="50" charset="-127"/>
              </a:rPr>
              <a:t>일 때만 시작한다</a:t>
            </a:r>
            <a:r>
              <a:rPr lang="en-US" altLang="ko-KR" sz="1900" b="1">
                <a:solidFill>
                  <a:srgbClr val="FFFFFF"/>
                </a:solidFill>
                <a:latin typeface="Malgun Gothic" panose="020B0503020000020004" pitchFamily="50" charset="-127"/>
              </a:rPr>
              <a:t>.</a:t>
            </a:r>
            <a:endParaRPr lang="ko-KR" altLang="en-US" sz="19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158DE9-940A-1C68-8605-80A78B779F2B}"/>
              </a:ext>
            </a:extLst>
          </p:cNvPr>
          <p:cNvSpPr txBox="1"/>
          <p:nvPr/>
        </p:nvSpPr>
        <p:spPr>
          <a:xfrm>
            <a:off x="762000" y="6350000"/>
            <a:ext cx="1066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000">
                <a:solidFill>
                  <a:srgbClr val="B7CACF"/>
                </a:solidFill>
                <a:latin typeface="Malgun Gothic" panose="020B0503020000020004" pitchFamily="50" charset="-127"/>
              </a:rPr>
              <a:t>산출물</a:t>
            </a:r>
            <a:r>
              <a:rPr lang="en-US" altLang="ko-KR" sz="1000">
                <a:solidFill>
                  <a:srgbClr val="B7CACF"/>
                </a:solidFill>
                <a:latin typeface="Malgun Gothic" panose="020B0503020000020004" pitchFamily="50" charset="-127"/>
              </a:rPr>
              <a:t>: 6-tier TextGrid · </a:t>
            </a:r>
            <a:r>
              <a:rPr lang="ko-KR" altLang="en-US" sz="1000">
                <a:solidFill>
                  <a:srgbClr val="B7CACF"/>
                </a:solidFill>
                <a:latin typeface="Malgun Gothic" panose="020B0503020000020004" pitchFamily="50" charset="-127"/>
              </a:rPr>
              <a:t>연도별 </a:t>
            </a:r>
            <a:r>
              <a:rPr lang="en-US" altLang="ko-KR" sz="1000">
                <a:solidFill>
                  <a:srgbClr val="B7CACF"/>
                </a:solidFill>
                <a:latin typeface="Malgun Gothic" panose="020B0503020000020004" pitchFamily="50" charset="-127"/>
              </a:rPr>
              <a:t>gzip/Parquet · </a:t>
            </a:r>
            <a:r>
              <a:rPr lang="ko-KR" altLang="en-US" sz="1000">
                <a:solidFill>
                  <a:srgbClr val="B7CACF"/>
                </a:solidFill>
                <a:latin typeface="Malgun Gothic" panose="020B0503020000020004" pitchFamily="50" charset="-127"/>
              </a:rPr>
              <a:t>제외 </a:t>
            </a:r>
            <a:r>
              <a:rPr lang="en-US" altLang="ko-KR" sz="1000">
                <a:solidFill>
                  <a:srgbClr val="B7CACF"/>
                </a:solidFill>
                <a:latin typeface="Malgun Gothic" panose="020B0503020000020004" pitchFamily="50" charset="-127"/>
              </a:rPr>
              <a:t>inventory · </a:t>
            </a:r>
            <a:r>
              <a:rPr lang="ko-KR" altLang="en-US" sz="1000">
                <a:solidFill>
                  <a:srgbClr val="B7CACF"/>
                </a:solidFill>
                <a:latin typeface="Malgun Gothic" panose="020B0503020000020004" pitchFamily="50" charset="-127"/>
              </a:rPr>
              <a:t>실행 </a:t>
            </a:r>
            <a:r>
              <a:rPr lang="en-US" altLang="ko-KR" sz="1000">
                <a:solidFill>
                  <a:srgbClr val="B7CACF"/>
                </a:solidFill>
                <a:latin typeface="Malgun Gothic" panose="020B0503020000020004" pitchFamily="50" charset="-127"/>
              </a:rPr>
              <a:t>manifest · </a:t>
            </a:r>
            <a:r>
              <a:rPr lang="ko-KR" altLang="en-US" sz="1000">
                <a:solidFill>
                  <a:srgbClr val="B7CACF"/>
                </a:solidFill>
                <a:latin typeface="Malgun Gothic" panose="020B0503020000020004" pitchFamily="50" charset="-127"/>
              </a:rPr>
              <a:t>수동 판정표</a:t>
            </a:r>
          </a:p>
        </p:txBody>
      </p:sp>
    </p:spTree>
    <p:extLst>
      <p:ext uri="{BB962C8B-B14F-4D97-AF65-F5344CB8AC3E}">
        <p14:creationId xmlns:p14="http://schemas.microsoft.com/office/powerpoint/2010/main" val="33893682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2553</Words>
  <Application>Microsoft Office PowerPoint</Application>
  <PresentationFormat>사용자 지정</PresentationFormat>
  <Paragraphs>334</Paragraphs>
  <Slides>15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0" baseType="lpstr">
      <vt:lpstr>맑은 고딕</vt:lpstr>
      <vt:lpstr>맑은 고딕</vt:lpstr>
      <vt:lpstr>Arial</vt:lpstr>
      <vt:lpstr>Consolas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</dc:creator>
  <cp:lastModifiedBy>w</cp:lastModifiedBy>
  <cp:revision>1</cp:revision>
  <dcterms:created xsi:type="dcterms:W3CDTF">2026-08-01T05:13:22Z</dcterms:created>
  <dcterms:modified xsi:type="dcterms:W3CDTF">2026-08-01T05:13:22Z</dcterms:modified>
</cp:coreProperties>
</file>